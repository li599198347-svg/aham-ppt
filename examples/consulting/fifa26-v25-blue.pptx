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2452" y="570071"/>
            <a:ext cx="67472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9618" y="1494949"/>
            <a:ext cx="33312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FIFA WORLD CUP 26 - STRUCTURE REWRITE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" y="2708910"/>
            <a:ext cx="923569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2026 世界杯，换了操作系统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950" y="3686175"/>
            <a:ext cx="62275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48 队 · 104 场 · 3 国 16 城 · 39 天——一册看懂结构重写</a:t>
            </a:r>
          </a:p>
        </p:txBody>
      </p:sp>
      <p:sp>
        <p:nvSpPr>
          <p:cNvPr id="8" name="Rectangle 8"/>
          <p:cNvSpPr/>
          <p:nvPr/>
        </p:nvSpPr>
        <p:spPr>
          <a:xfrm>
            <a:off x="800100" y="4095750"/>
            <a:ext cx="1428750" cy="476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734300" y="914400"/>
            <a:ext cx="4076700" cy="50292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101012" y="1307306"/>
            <a:ext cx="7960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本册导览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05775" y="1557338"/>
            <a:ext cx="79983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IN THIS DECK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01965" y="1982152"/>
            <a:ext cx="2232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81060" y="1965960"/>
            <a:ext cx="19204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规模 · 七项指标换代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4870" y="2188845"/>
            <a:ext cx="18541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32 → 48 队 · 奖金 $8.71 亿</a:t>
            </a:r>
          </a:p>
        </p:txBody>
      </p:sp>
      <p:sp>
        <p:nvSpPr>
          <p:cNvPr id="15" name="Line 15"/>
          <p:cNvSpPr/>
          <p:nvPr/>
        </p:nvSpPr>
        <p:spPr>
          <a:xfrm>
            <a:off x="8115300" y="2533650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101965" y="272510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81060" y="2708910"/>
            <a:ext cx="21291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赛制 · 104 场怎么运转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84870" y="2931795"/>
            <a:ext cx="21551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12 组 · 新增 32 强轮 · 七段赛程</a:t>
            </a:r>
          </a:p>
        </p:txBody>
      </p:sp>
      <p:sp>
        <p:nvSpPr>
          <p:cNvPr id="19" name="Line 19"/>
          <p:cNvSpPr/>
          <p:nvPr/>
        </p:nvSpPr>
        <p:spPr>
          <a:xfrm>
            <a:off x="8115300" y="3276600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101965" y="34680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81060" y="3451860"/>
            <a:ext cx="23297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热度与地理 · 观众与主场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84870" y="3674745"/>
            <a:ext cx="24305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小组赛 4,644,549 人 · 78 场在美国</a:t>
            </a:r>
          </a:p>
        </p:txBody>
      </p:sp>
      <p:sp>
        <p:nvSpPr>
          <p:cNvPr id="23" name="Line 23"/>
          <p:cNvSpPr/>
          <p:nvPr/>
        </p:nvSpPr>
        <p:spPr>
          <a:xfrm>
            <a:off x="8115300" y="4019550"/>
            <a:ext cx="3314700" cy="9525"/>
          </a:xfrm>
          <a:custGeom>
            <a:avLst/>
            <a:gdLst/>
            <a:ahLst/>
            <a:cxnLst/>
            <a:rect l="l" t="t" r="r" b="b"/>
            <a:pathLst>
              <a:path w="3314700" h="9525">
                <a:moveTo>
                  <a:pt x="0" y="0"/>
                </a:moveTo>
                <a:lnTo>
                  <a:pt x="33147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101965" y="421100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81060" y="4194810"/>
            <a:ext cx="15111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收官 · 剩余赛程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84870" y="4417695"/>
            <a:ext cx="18797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07-04 十六强 → 07-19 决赛</a:t>
            </a:r>
          </a:p>
        </p:txBody>
      </p:sp>
      <p:sp>
        <p:nvSpPr>
          <p:cNvPr id="27" name="Line 27"/>
          <p:cNvSpPr/>
          <p:nvPr/>
        </p:nvSpPr>
        <p:spPr>
          <a:xfrm>
            <a:off x="762000" y="61722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49618" y="6390799"/>
            <a:ext cx="40079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公众号读者版 · 2026-07-02 · 数据截至 32 强轮进行中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29953" y="6390799"/>
            <a:ext cx="15934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aham-ppt v2.5 样张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4358" y="586264"/>
            <a:ext cx="6037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900" y="1276350"/>
            <a:ext cx="109945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9618" y="1856899"/>
            <a:ext cx="8183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CONTENTS</a:t>
            </a:r>
          </a:p>
        </p:txBody>
      </p:sp>
      <p:sp>
        <p:nvSpPr>
          <p:cNvPr id="7" name="Line 7"/>
          <p:cNvSpPr/>
          <p:nvPr/>
        </p:nvSpPr>
        <p:spPr>
          <a:xfrm>
            <a:off x="762000" y="2190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48665" y="2706052"/>
            <a:ext cx="2232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8245" y="2641282"/>
            <a:ext cx="26406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规模 · 七项指标换代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818" y="2980849"/>
            <a:ext cx="28422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队伍、场次、奖金全线扩容——对照 2022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00950" y="2666048"/>
            <a:ext cx="45381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21323" y="299704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参赛队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3333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8665" y="36585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8245" y="3593782"/>
            <a:ext cx="29275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赛制 · 104 场怎么运转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6818" y="3933349"/>
            <a:ext cx="28391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12 组新赛制、32 强晋级机制、席位来源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37932" y="3618548"/>
            <a:ext cx="6168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21323" y="394954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总场次</a:t>
            </a:r>
          </a:p>
        </p:txBody>
      </p:sp>
      <p:sp>
        <p:nvSpPr>
          <p:cNvPr id="19" name="Line 19"/>
          <p:cNvSpPr/>
          <p:nvPr/>
        </p:nvSpPr>
        <p:spPr>
          <a:xfrm>
            <a:off x="762000" y="4286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48665" y="46110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8245" y="4546282"/>
            <a:ext cx="32034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热度与地理 · 观众与主场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6818" y="4885849"/>
            <a:ext cx="28698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小组赛观众破全届纪录；3/4 场次在美国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64202" y="4571048"/>
            <a:ext cx="179056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4,644,549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55857" y="4902041"/>
            <a:ext cx="6846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小组赛观众</a:t>
            </a:r>
          </a:p>
        </p:txBody>
      </p:sp>
      <p:sp>
        <p:nvSpPr>
          <p:cNvPr id="25" name="Line 25"/>
          <p:cNvSpPr/>
          <p:nvPr/>
        </p:nvSpPr>
        <p:spPr>
          <a:xfrm>
            <a:off x="762000" y="5238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3A3A3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48665" y="5563552"/>
            <a:ext cx="2443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98245" y="5498782"/>
            <a:ext cx="20778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收官 · 剩余赛程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6818" y="5838349"/>
            <a:ext cx="28329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07-04 十六强到 07-19 决赛的观赛日历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40074" y="5523548"/>
            <a:ext cx="414691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950" b="1" dirty="0">
                <a:solidFill>
                  <a:srgbClr val="F2F2F2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88590" y="5854541"/>
            <a:ext cx="5518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87878"/>
                </a:solidFill>
                <a:latin typeface="Inter"/>
                <a:ea typeface="Microsoft YaHei"/>
                <a:cs typeface="Inter"/>
              </a:rPr>
              <a:t>剩余场次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4738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01 规模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6235" y="494348"/>
            <a:ext cx="670066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七项核心指标全线扩容：这不是加场，是换代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57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0546" y="1126093"/>
            <a:ext cx="301491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五项核心指标 · 2022 → 2026 · 每行独立比例尺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641" y="1709976"/>
            <a:ext cx="5437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参赛队</a:t>
            </a:r>
          </a:p>
        </p:txBody>
      </p:sp>
      <p:sp>
        <p:nvSpPr>
          <p:cNvPr id="11" name="Line 11"/>
          <p:cNvSpPr/>
          <p:nvPr/>
        </p:nvSpPr>
        <p:spPr>
          <a:xfrm>
            <a:off x="3455670" y="1771650"/>
            <a:ext cx="3402330" cy="9525"/>
          </a:xfrm>
          <a:custGeom>
            <a:avLst/>
            <a:gdLst/>
            <a:ahLst/>
            <a:cxnLst/>
            <a:rect l="l" t="t" r="r" b="b"/>
            <a:pathLst>
              <a:path w="3402330" h="9525">
                <a:moveTo>
                  <a:pt x="0" y="0"/>
                </a:moveTo>
                <a:lnTo>
                  <a:pt x="3402330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12" name="Line 12"/>
          <p:cNvSpPr/>
          <p:nvPr/>
        </p:nvSpPr>
        <p:spPr>
          <a:xfrm>
            <a:off x="3455670" y="1771650"/>
            <a:ext cx="3288030" cy="9525"/>
          </a:xfrm>
          <a:custGeom>
            <a:avLst/>
            <a:gdLst/>
            <a:ahLst/>
            <a:cxnLst/>
            <a:rect l="l" t="t" r="r" b="b"/>
            <a:pathLst>
              <a:path w="3288030" h="9525">
                <a:moveTo>
                  <a:pt x="0" y="0"/>
                </a:moveTo>
                <a:lnTo>
                  <a:pt x="3288030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6684645" y="17364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379470" y="16954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342216" y="1513999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32</a:t>
            </a:r>
          </a:p>
        </p:txBody>
      </p:sp>
      <p:sp>
        <p:nvSpPr>
          <p:cNvPr id="16" name="Ellipse 16"/>
          <p:cNvSpPr/>
          <p:nvPr/>
        </p:nvSpPr>
        <p:spPr>
          <a:xfrm>
            <a:off x="6772275" y="16859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727092" y="1478756"/>
            <a:ext cx="2618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83565" y="1600914"/>
            <a:ext cx="346540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+50%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8641" y="2433876"/>
            <a:ext cx="5437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总场次</a:t>
            </a:r>
          </a:p>
        </p:txBody>
      </p:sp>
      <p:sp>
        <p:nvSpPr>
          <p:cNvPr id="20" name="Line 20"/>
          <p:cNvSpPr/>
          <p:nvPr/>
        </p:nvSpPr>
        <p:spPr>
          <a:xfrm>
            <a:off x="3304149" y="2495550"/>
            <a:ext cx="3553851" cy="9525"/>
          </a:xfrm>
          <a:custGeom>
            <a:avLst/>
            <a:gdLst/>
            <a:ahLst/>
            <a:cxnLst/>
            <a:rect l="l" t="t" r="r" b="b"/>
            <a:pathLst>
              <a:path w="3553851" h="9525">
                <a:moveTo>
                  <a:pt x="0" y="0"/>
                </a:moveTo>
                <a:lnTo>
                  <a:pt x="3553851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21" name="Line 21"/>
          <p:cNvSpPr/>
          <p:nvPr/>
        </p:nvSpPr>
        <p:spPr>
          <a:xfrm>
            <a:off x="3304149" y="2495550"/>
            <a:ext cx="3439551" cy="9525"/>
          </a:xfrm>
          <a:custGeom>
            <a:avLst/>
            <a:gdLst/>
            <a:ahLst/>
            <a:cxnLst/>
            <a:rect l="l" t="t" r="r" b="b"/>
            <a:pathLst>
              <a:path w="3439551" h="9525">
                <a:moveTo>
                  <a:pt x="0" y="0"/>
                </a:moveTo>
                <a:lnTo>
                  <a:pt x="3439551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6684645" y="24603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3227949" y="24193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190696" y="2237899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64</a:t>
            </a:r>
          </a:p>
        </p:txBody>
      </p:sp>
      <p:sp>
        <p:nvSpPr>
          <p:cNvPr id="25" name="Ellipse 25"/>
          <p:cNvSpPr/>
          <p:nvPr/>
        </p:nvSpPr>
        <p:spPr>
          <a:xfrm>
            <a:off x="6772275" y="24098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80067" y="2202656"/>
            <a:ext cx="3558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07804" y="2324814"/>
            <a:ext cx="346540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+63%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8641" y="3157776"/>
            <a:ext cx="5437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小组数</a:t>
            </a:r>
          </a:p>
        </p:txBody>
      </p:sp>
      <p:sp>
        <p:nvSpPr>
          <p:cNvPr id="29" name="Line 29"/>
          <p:cNvSpPr/>
          <p:nvPr/>
        </p:nvSpPr>
        <p:spPr>
          <a:xfrm>
            <a:off x="3455670" y="3219450"/>
            <a:ext cx="3402330" cy="9525"/>
          </a:xfrm>
          <a:custGeom>
            <a:avLst/>
            <a:gdLst/>
            <a:ahLst/>
            <a:cxnLst/>
            <a:rect l="l" t="t" r="r" b="b"/>
            <a:pathLst>
              <a:path w="3402330" h="9525">
                <a:moveTo>
                  <a:pt x="0" y="0"/>
                </a:moveTo>
                <a:lnTo>
                  <a:pt x="3402330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30" name="Line 30"/>
          <p:cNvSpPr/>
          <p:nvPr/>
        </p:nvSpPr>
        <p:spPr>
          <a:xfrm>
            <a:off x="3455670" y="3219450"/>
            <a:ext cx="3288030" cy="9525"/>
          </a:xfrm>
          <a:custGeom>
            <a:avLst/>
            <a:gdLst/>
            <a:ahLst/>
            <a:cxnLst/>
            <a:rect l="l" t="t" r="r" b="b"/>
            <a:pathLst>
              <a:path w="3288030" h="9525">
                <a:moveTo>
                  <a:pt x="0" y="0"/>
                </a:moveTo>
                <a:lnTo>
                  <a:pt x="3288030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6684645" y="31842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3379470" y="31432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392752" y="2961799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34" name="Ellipse 34"/>
          <p:cNvSpPr/>
          <p:nvPr/>
        </p:nvSpPr>
        <p:spPr>
          <a:xfrm>
            <a:off x="6772275" y="31337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38378" y="2926556"/>
            <a:ext cx="239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76981" y="3048714"/>
            <a:ext cx="35970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+4 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8641" y="3881676"/>
            <a:ext cx="75365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赛期(天)</a:t>
            </a:r>
          </a:p>
        </p:txBody>
      </p:sp>
      <p:sp>
        <p:nvSpPr>
          <p:cNvPr id="38" name="Line 38"/>
          <p:cNvSpPr/>
          <p:nvPr/>
        </p:nvSpPr>
        <p:spPr>
          <a:xfrm>
            <a:off x="3682951" y="3943350"/>
            <a:ext cx="3175049" cy="9525"/>
          </a:xfrm>
          <a:custGeom>
            <a:avLst/>
            <a:gdLst/>
            <a:ahLst/>
            <a:cxnLst/>
            <a:rect l="l" t="t" r="r" b="b"/>
            <a:pathLst>
              <a:path w="3175049" h="9525">
                <a:moveTo>
                  <a:pt x="0" y="0"/>
                </a:moveTo>
                <a:lnTo>
                  <a:pt x="3175049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39" name="Line 39"/>
          <p:cNvSpPr/>
          <p:nvPr/>
        </p:nvSpPr>
        <p:spPr>
          <a:xfrm>
            <a:off x="3682951" y="3943350"/>
            <a:ext cx="3060749" cy="9525"/>
          </a:xfrm>
          <a:custGeom>
            <a:avLst/>
            <a:gdLst/>
            <a:ahLst/>
            <a:cxnLst/>
            <a:rect l="l" t="t" r="r" b="b"/>
            <a:pathLst>
              <a:path w="3060749" h="9525">
                <a:moveTo>
                  <a:pt x="0" y="0"/>
                </a:moveTo>
                <a:lnTo>
                  <a:pt x="3060749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6684645" y="39081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3606751" y="38671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569497" y="3685699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29</a:t>
            </a:r>
          </a:p>
        </p:txBody>
      </p:sp>
      <p:sp>
        <p:nvSpPr>
          <p:cNvPr id="43" name="Ellipse 43"/>
          <p:cNvSpPr/>
          <p:nvPr/>
        </p:nvSpPr>
        <p:spPr>
          <a:xfrm>
            <a:off x="6772275" y="3857625"/>
            <a:ext cx="171450" cy="17145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727092" y="3650456"/>
            <a:ext cx="2618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057705" y="3772614"/>
            <a:ext cx="425541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+10 天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58641" y="4605576"/>
            <a:ext cx="85861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奖金(亿$)</a:t>
            </a:r>
          </a:p>
        </p:txBody>
      </p:sp>
      <p:sp>
        <p:nvSpPr>
          <p:cNvPr id="47" name="Line 47"/>
          <p:cNvSpPr/>
          <p:nvPr/>
        </p:nvSpPr>
        <p:spPr>
          <a:xfrm>
            <a:off x="2978493" y="4667250"/>
            <a:ext cx="3879507" cy="9525"/>
          </a:xfrm>
          <a:custGeom>
            <a:avLst/>
            <a:gdLst/>
            <a:ahLst/>
            <a:cxnLst/>
            <a:rect l="l" t="t" r="r" b="b"/>
            <a:pathLst>
              <a:path w="3879507" h="9525">
                <a:moveTo>
                  <a:pt x="0" y="0"/>
                </a:moveTo>
                <a:lnTo>
                  <a:pt x="3879507" y="0"/>
                </a:lnTo>
              </a:path>
            </a:pathLst>
          </a:custGeom>
          <a:noFill/>
          <a:ln w="28575">
            <a:solidFill>
              <a:srgbClr val="E7E7E7"/>
            </a:solidFill>
          </a:ln>
        </p:spPr>
      </p:sp>
      <p:sp>
        <p:nvSpPr>
          <p:cNvPr id="48" name="Line 48"/>
          <p:cNvSpPr/>
          <p:nvPr/>
        </p:nvSpPr>
        <p:spPr>
          <a:xfrm>
            <a:off x="2978493" y="4667250"/>
            <a:ext cx="3765207" cy="9525"/>
          </a:xfrm>
          <a:custGeom>
            <a:avLst/>
            <a:gdLst/>
            <a:ahLst/>
            <a:cxnLst/>
            <a:rect l="l" t="t" r="r" b="b"/>
            <a:pathLst>
              <a:path w="3765207" h="9525">
                <a:moveTo>
                  <a:pt x="0" y="0"/>
                </a:moveTo>
                <a:lnTo>
                  <a:pt x="3765207" y="0"/>
                </a:lnTo>
              </a:path>
            </a:pathLst>
          </a:custGeom>
          <a:noFill/>
          <a:ln w="28575">
            <a:solidFill>
              <a:srgbClr val="9B9B9B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6684645" y="4632008"/>
            <a:ext cx="78105" cy="70485"/>
          </a:xfrm>
          <a:custGeom>
            <a:avLst/>
            <a:gdLst/>
            <a:ahLst/>
            <a:cxnLst/>
            <a:rect l="l" t="t" r="r" b="b"/>
            <a:pathLst>
              <a:path w="78105" h="70485">
                <a:moveTo>
                  <a:pt x="78105" y="35242"/>
                </a:moveTo>
                <a:lnTo>
                  <a:pt x="0" y="7048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2902293" y="4591050"/>
            <a:ext cx="152400" cy="152400"/>
          </a:xfrm>
          <a:prstGeom prst="ellipse">
            <a:avLst/>
          </a:prstGeom>
          <a:noFill/>
          <a:ln w="28575">
            <a:solidFill>
              <a:srgbClr val="C8C8C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2824284" y="4409599"/>
            <a:ext cx="3084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4.4</a:t>
            </a:r>
          </a:p>
        </p:txBody>
      </p:sp>
      <p:sp>
        <p:nvSpPr>
          <p:cNvPr id="52" name="Ellipse 52"/>
          <p:cNvSpPr/>
          <p:nvPr/>
        </p:nvSpPr>
        <p:spPr>
          <a:xfrm>
            <a:off x="6772275" y="4581525"/>
            <a:ext cx="171450" cy="171450"/>
          </a:xfrm>
          <a:prstGeom prst="ellipse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633043" y="4374356"/>
            <a:ext cx="449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8.71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752876" y="4496514"/>
            <a:ext cx="330740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x2.0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1022" y="5130641"/>
            <a:ext cx="250644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左端＝2022 卡塔尔 · 右端＝2026 美加墨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605712" y="1383506"/>
            <a:ext cx="12060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+40 场从哪来</a:t>
            </a:r>
          </a:p>
        </p:txBody>
      </p:sp>
      <p:sp>
        <p:nvSpPr>
          <p:cNvPr id="57" name="Line 57"/>
          <p:cNvSpPr/>
          <p:nvPr/>
        </p:nvSpPr>
        <p:spPr>
          <a:xfrm>
            <a:off x="7620000" y="16192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7620000" y="1866900"/>
            <a:ext cx="361950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1321415" y="1925002"/>
            <a:ext cx="3532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+24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608570" y="2188845"/>
            <a:ext cx="10336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小组赛 48 → 72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620000" y="2495550"/>
            <a:ext cx="2409825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10114915" y="2553652"/>
            <a:ext cx="3321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+16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608570" y="2817495"/>
            <a:ext cx="10165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淘汰赛 16 → 32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608570" y="3084195"/>
            <a:ext cx="30011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24 + 16 = 40，其中新增的 32 强轮贡献 16 场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605712" y="3650456"/>
            <a:ext cx="11797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榜外还有两项</a:t>
            </a:r>
          </a:p>
        </p:txBody>
      </p:sp>
      <p:sp>
        <p:nvSpPr>
          <p:cNvPr id="66" name="Line 66"/>
          <p:cNvSpPr/>
          <p:nvPr/>
        </p:nvSpPr>
        <p:spPr>
          <a:xfrm>
            <a:off x="7620000" y="38862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7608094" y="4108847"/>
            <a:ext cx="47631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场馆数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477250" y="4048125"/>
            <a:ext cx="9459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8 -&gt; 16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856470" y="4112895"/>
            <a:ext cx="6020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一城一馆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608094" y="4642247"/>
            <a:ext cx="47631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举办国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477250" y="4581525"/>
            <a:ext cx="7904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1 -&gt; 3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856470" y="4646295"/>
            <a:ext cx="8916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首次三国合办</a:t>
            </a:r>
          </a:p>
        </p:txBody>
      </p:sp>
      <p:sp>
        <p:nvSpPr>
          <p:cNvPr id="73" name="Line 73"/>
          <p:cNvSpPr/>
          <p:nvPr/>
        </p:nvSpPr>
        <p:spPr>
          <a:xfrm>
            <a:off x="7067550" y="2066446"/>
            <a:ext cx="429104" cy="429104"/>
          </a:xfrm>
          <a:custGeom>
            <a:avLst/>
            <a:gdLst/>
            <a:ahLst/>
            <a:cxnLst/>
            <a:rect l="l" t="t" r="r" b="b"/>
            <a:pathLst>
              <a:path w="429104" h="429104">
                <a:moveTo>
                  <a:pt x="0" y="429104"/>
                </a:moveTo>
                <a:lnTo>
                  <a:pt x="429104" y="0"/>
                </a:lnTo>
              </a:path>
            </a:pathLst>
          </a:custGeom>
          <a:noFill/>
          <a:ln w="13335">
            <a:solidFill>
              <a:srgbClr val="6E6E6E"/>
            </a:solidFill>
            <a:custDash>
              <a:ds d="285714" sp="214285"/>
            </a:custDash>
          </a:ln>
        </p:spPr>
      </p:sp>
      <p:sp>
        <p:nvSpPr>
          <p:cNvPr id="74" name="Polygon 74"/>
          <p:cNvSpPr/>
          <p:nvPr/>
        </p:nvSpPr>
        <p:spPr>
          <a:xfrm>
            <a:off x="7481888" y="2019300"/>
            <a:ext cx="61912" cy="61912"/>
          </a:xfrm>
          <a:custGeom>
            <a:avLst/>
            <a:gdLst/>
            <a:ahLst/>
            <a:cxnLst/>
            <a:rect l="l" t="t" r="r" b="b"/>
            <a:pathLst>
              <a:path w="61912" h="61912">
                <a:moveTo>
                  <a:pt x="61912" y="0"/>
                </a:moveTo>
                <a:lnTo>
                  <a:pt x="38100" y="61912"/>
                </a:lnTo>
                <a:lnTo>
                  <a:pt x="0" y="23812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75" name="Ellipse 75"/>
          <p:cNvSpPr/>
          <p:nvPr/>
        </p:nvSpPr>
        <p:spPr>
          <a:xfrm>
            <a:off x="6343650" y="4191000"/>
            <a:ext cx="1028700" cy="495300"/>
          </a:xfrm>
          <a:prstGeom prst="ellipse">
            <a:avLst/>
          </a:prstGeom>
          <a:noFill/>
          <a:ln w="19050">
            <a:solidFill>
              <a:srgbClr val="262626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283018" y="6228874"/>
            <a:ext cx="5392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五项全升级、涨最多的是钱——扩容不只是加场，是一次商业与赛制的整体换代</a:t>
            </a:r>
          </a:p>
        </p:txBody>
      </p:sp>
      <p:sp>
        <p:nvSpPr>
          <p:cNvPr id="79" name="Line 7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370522" y="6664166"/>
            <a:ext cx="6589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来源：FIFA.com（赛制公告）· Fortune 2026-06-21（奖金）· Wikipedia 2022/2026 FIFA World Cup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489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02 赛制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6235" y="494348"/>
            <a:ext cx="612684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104 场分七段：72 场小组赛只是前 17 天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57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537348" y="2047875"/>
            <a:ext cx="7117303" cy="457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0" b="1" dirty="0">
                <a:solidFill>
                  <a:srgbClr val="262626">
                    <a:alpha val="3500"/>
                  </a:srgbClr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546" y="1126093"/>
            <a:ext cx="376860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七段赛程 · 段内数字＝场次 · 白底段＝当前阶段（32 强轮）</a:t>
            </a:r>
          </a:p>
        </p:txBody>
      </p:sp>
      <p:sp>
        <p:nvSpPr>
          <p:cNvPr id="11" name="Polygon 11"/>
          <p:cNvSpPr/>
          <p:nvPr/>
        </p:nvSpPr>
        <p:spPr>
          <a:xfrm>
            <a:off x="3810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96833" y="1889665"/>
            <a:ext cx="523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145" y="2171128"/>
            <a:ext cx="774976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72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2044" y="2759774"/>
            <a:ext cx="8731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06-11 - 06-27</a:t>
            </a:r>
          </a:p>
        </p:txBody>
      </p:sp>
      <p:sp>
        <p:nvSpPr>
          <p:cNvPr id="15" name="Polygon 15"/>
          <p:cNvSpPr/>
          <p:nvPr/>
        </p:nvSpPr>
        <p:spPr>
          <a:xfrm>
            <a:off x="20193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FFFFFF"/>
          </a:solidFill>
          <a:ln w="23812">
            <a:solidFill>
              <a:srgbClr val="262626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674258" y="1889665"/>
            <a:ext cx="4453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32 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2852" y="2171128"/>
            <a:ext cx="708164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46148" y="2759774"/>
            <a:ext cx="9015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06-28 - 07-03</a:t>
            </a:r>
          </a:p>
        </p:txBody>
      </p:sp>
      <p:sp>
        <p:nvSpPr>
          <p:cNvPr id="19" name="Polygon 19"/>
          <p:cNvSpPr/>
          <p:nvPr/>
        </p:nvSpPr>
        <p:spPr>
          <a:xfrm>
            <a:off x="36576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322339" y="1889665"/>
            <a:ext cx="4257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16 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20344" y="2171128"/>
            <a:ext cx="429779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84448" y="2759774"/>
            <a:ext cx="90157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07-04 - 07-07</a:t>
            </a:r>
          </a:p>
        </p:txBody>
      </p:sp>
      <p:sp>
        <p:nvSpPr>
          <p:cNvPr id="23" name="Polygon 23"/>
          <p:cNvSpPr/>
          <p:nvPr/>
        </p:nvSpPr>
        <p:spPr>
          <a:xfrm>
            <a:off x="52959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26964" y="1889665"/>
            <a:ext cx="693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1/4 决赛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58644" y="2171128"/>
            <a:ext cx="429779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36944" y="2759774"/>
            <a:ext cx="8731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07-09 - 07-11</a:t>
            </a:r>
          </a:p>
        </p:txBody>
      </p:sp>
      <p:sp>
        <p:nvSpPr>
          <p:cNvPr id="27" name="Polygon 27"/>
          <p:cNvSpPr/>
          <p:nvPr/>
        </p:nvSpPr>
        <p:spPr>
          <a:xfrm>
            <a:off x="69342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550033" y="1889665"/>
            <a:ext cx="523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半决赛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96944" y="2171128"/>
            <a:ext cx="429779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75244" y="2759774"/>
            <a:ext cx="87318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07-14 - 07-15</a:t>
            </a:r>
          </a:p>
        </p:txBody>
      </p:sp>
      <p:sp>
        <p:nvSpPr>
          <p:cNvPr id="31" name="Polygon 31"/>
          <p:cNvSpPr/>
          <p:nvPr/>
        </p:nvSpPr>
        <p:spPr>
          <a:xfrm>
            <a:off x="85725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188333" y="1889665"/>
            <a:ext cx="5236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季军战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68650" y="2171128"/>
            <a:ext cx="362967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64341" y="2759774"/>
            <a:ext cx="3715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07-18</a:t>
            </a:r>
          </a:p>
        </p:txBody>
      </p:sp>
      <p:sp>
        <p:nvSpPr>
          <p:cNvPr id="35" name="Polygon 35"/>
          <p:cNvSpPr/>
          <p:nvPr/>
        </p:nvSpPr>
        <p:spPr>
          <a:xfrm>
            <a:off x="10210800" y="1600200"/>
            <a:ext cx="1600200" cy="1409700"/>
          </a:xfrm>
          <a:custGeom>
            <a:avLst/>
            <a:gdLst/>
            <a:ahLst/>
            <a:cxnLst/>
            <a:rect l="l" t="t" r="r" b="b"/>
            <a:pathLst>
              <a:path w="1600200" h="1409700">
                <a:moveTo>
                  <a:pt x="0" y="0"/>
                </a:moveTo>
                <a:lnTo>
                  <a:pt x="1290066" y="0"/>
                </a:lnTo>
                <a:lnTo>
                  <a:pt x="1600200" y="704850"/>
                </a:lnTo>
                <a:lnTo>
                  <a:pt x="1290066" y="1409700"/>
                </a:lnTo>
                <a:lnTo>
                  <a:pt x="0" y="1409700"/>
                </a:lnTo>
                <a:lnTo>
                  <a:pt x="310134" y="70485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909773" y="1889665"/>
            <a:ext cx="3573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决赛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06950" y="2171128"/>
            <a:ext cx="362967" cy="676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30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02641" y="2759774"/>
            <a:ext cx="3715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07-19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9094" y="3537347"/>
            <a:ext cx="150351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104 场构成 · 按阶段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81000" y="3771900"/>
            <a:ext cx="791337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993464" y="3850243"/>
            <a:ext cx="68815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 72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294370" y="3771900"/>
            <a:ext cx="1758315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895569" y="3850243"/>
            <a:ext cx="555478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32强 16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052685" y="3771900"/>
            <a:ext cx="879158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259119" y="3850243"/>
            <a:ext cx="466069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16强 8</a:t>
            </a:r>
          </a:p>
        </p:txBody>
      </p:sp>
      <p:sp>
        <p:nvSpPr>
          <p:cNvPr id="46" name="Rectangle 46"/>
          <p:cNvSpPr/>
          <p:nvPr/>
        </p:nvSpPr>
        <p:spPr>
          <a:xfrm>
            <a:off x="10931842" y="3771900"/>
            <a:ext cx="440055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11370945" y="3771900"/>
            <a:ext cx="220028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11590972" y="3771900"/>
            <a:ext cx="109538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11701462" y="3771900"/>
            <a:ext cx="109538" cy="2476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50" name="Line 50"/>
          <p:cNvSpPr/>
          <p:nvPr/>
        </p:nvSpPr>
        <p:spPr>
          <a:xfrm>
            <a:off x="11371385" y="3724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124079" y="3618786"/>
            <a:ext cx="494612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决赛轮 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68618" y="4104799"/>
            <a:ext cx="1861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72+16+8+4+2+1+1 = 104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370546" y="4116943"/>
            <a:ext cx="171975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小组赛占 69.2%（计算值）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9094" y="4527947"/>
            <a:ext cx="203959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赛程密度（场/天，计算值）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0046" y="4859893"/>
            <a:ext cx="816414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小组赛 17 天</a:t>
            </a:r>
          </a:p>
        </p:txBody>
      </p:sp>
      <p:sp>
        <p:nvSpPr>
          <p:cNvPr id="56" name="Rectangle 56"/>
          <p:cNvSpPr/>
          <p:nvPr/>
        </p:nvSpPr>
        <p:spPr>
          <a:xfrm>
            <a:off x="1428750" y="4819650"/>
            <a:ext cx="3048000" cy="1714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541520" y="4855845"/>
            <a:ext cx="284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4.2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0046" y="5183743"/>
            <a:ext cx="832739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淘汰赛 22 天</a:t>
            </a:r>
          </a:p>
        </p:txBody>
      </p:sp>
      <p:sp>
        <p:nvSpPr>
          <p:cNvPr id="59" name="Rectangle 59"/>
          <p:cNvSpPr/>
          <p:nvPr/>
        </p:nvSpPr>
        <p:spPr>
          <a:xfrm>
            <a:off x="1428750" y="5143500"/>
            <a:ext cx="1085850" cy="1714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2579370" y="5179695"/>
            <a:ext cx="2666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1.5</a:t>
            </a:r>
          </a:p>
        </p:txBody>
      </p:sp>
      <p:sp>
        <p:nvSpPr>
          <p:cNvPr id="61" name="Rectangle 61"/>
          <p:cNvSpPr/>
          <p:nvPr/>
        </p:nvSpPr>
        <p:spPr>
          <a:xfrm>
            <a:off x="7810500" y="4629150"/>
            <a:ext cx="4000500" cy="6858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007191" y="4786551"/>
            <a:ext cx="281558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今天 2026-07-02 · 32 强轮进行中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008144" y="5042297"/>
            <a:ext cx="285415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本轮 16 场（06-28 - 07-03）决出 16 强</a:t>
            </a:r>
          </a:p>
        </p:txBody>
      </p:sp>
      <p:sp>
        <p:nvSpPr>
          <p:cNvPr id="64" name="Line 64"/>
          <p:cNvSpPr/>
          <p:nvPr/>
        </p:nvSpPr>
        <p:spPr>
          <a:xfrm>
            <a:off x="2857500" y="3067050"/>
            <a:ext cx="4851870" cy="1673707"/>
          </a:xfrm>
          <a:custGeom>
            <a:avLst/>
            <a:gdLst/>
            <a:ahLst/>
            <a:cxnLst/>
            <a:rect l="l" t="t" r="r" b="b"/>
            <a:pathLst>
              <a:path w="4851870" h="1673707">
                <a:moveTo>
                  <a:pt x="0" y="0"/>
                </a:moveTo>
                <a:lnTo>
                  <a:pt x="4851870" y="1673707"/>
                </a:lnTo>
              </a:path>
            </a:pathLst>
          </a:custGeom>
          <a:noFill/>
          <a:ln w="13335">
            <a:solidFill>
              <a:srgbClr val="6E6E6E"/>
            </a:solidFill>
            <a:custDash>
              <a:ds d="285714" sp="214285"/>
            </a:custDash>
          </a:ln>
        </p:spPr>
      </p:sp>
      <p:sp>
        <p:nvSpPr>
          <p:cNvPr id="65" name="Polygon 65"/>
          <p:cNvSpPr/>
          <p:nvPr/>
        </p:nvSpPr>
        <p:spPr>
          <a:xfrm>
            <a:off x="7705725" y="4716780"/>
            <a:ext cx="66675" cy="51435"/>
          </a:xfrm>
          <a:custGeom>
            <a:avLst/>
            <a:gdLst/>
            <a:ahLst/>
            <a:cxnLst/>
            <a:rect l="l" t="t" r="r" b="b"/>
            <a:pathLst>
              <a:path w="66675" h="51435">
                <a:moveTo>
                  <a:pt x="66675" y="45720"/>
                </a:moveTo>
                <a:lnTo>
                  <a:pt x="0" y="51435"/>
                </a:lnTo>
                <a:lnTo>
                  <a:pt x="18097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83018" y="6228874"/>
            <a:ext cx="55089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小组赛管量、淘汰赛管命——真正决定冠军的 32 场，全部压在 06-28 到 07-19</a:t>
            </a:r>
          </a:p>
        </p:txBody>
      </p:sp>
      <p:sp>
        <p:nvSpPr>
          <p:cNvPr id="69" name="Line 6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370522" y="6664166"/>
            <a:ext cx="39951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来源：FIFA.com（赛制公告）· ESPN / Olympics.com（赛程）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489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02 赛制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6235" y="494348"/>
            <a:ext cx="689629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12 组只淘汰 16 队：第三名也有 2/3 概率晋级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57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0546" y="1126093"/>
            <a:ext cx="307749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12 组 x 4 队 = 48；每组循环 6 场 = 72 场小组赛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27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66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304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543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781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020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F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258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6497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80719" y="1656636"/>
            <a:ext cx="77662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974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J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2127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45121" y="1656636"/>
            <a:ext cx="91957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2293" y="1819989"/>
            <a:ext cx="415008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1 名</a:t>
            </a:r>
          </a:p>
        </p:txBody>
      </p:sp>
      <p:sp>
        <p:nvSpPr>
          <p:cNvPr id="23" name="Ellipse 23"/>
          <p:cNvSpPr/>
          <p:nvPr/>
        </p:nvSpPr>
        <p:spPr>
          <a:xfrm>
            <a:off x="13335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16573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19812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23050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7" name="Ellipse 27"/>
          <p:cNvSpPr/>
          <p:nvPr/>
        </p:nvSpPr>
        <p:spPr>
          <a:xfrm>
            <a:off x="26289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29527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32766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36004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39243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42481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3" name="Ellipse 33"/>
          <p:cNvSpPr/>
          <p:nvPr/>
        </p:nvSpPr>
        <p:spPr>
          <a:xfrm>
            <a:off x="457200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4" name="Ellipse 34"/>
          <p:cNvSpPr/>
          <p:nvPr/>
        </p:nvSpPr>
        <p:spPr>
          <a:xfrm>
            <a:off x="4895850" y="177165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7388" y="2143839"/>
            <a:ext cx="429914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2 名</a:t>
            </a:r>
          </a:p>
        </p:txBody>
      </p:sp>
      <p:sp>
        <p:nvSpPr>
          <p:cNvPr id="36" name="Ellipse 36"/>
          <p:cNvSpPr/>
          <p:nvPr/>
        </p:nvSpPr>
        <p:spPr>
          <a:xfrm>
            <a:off x="13335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16573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19812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23050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26289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29527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32766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3" name="Ellipse 43"/>
          <p:cNvSpPr/>
          <p:nvPr/>
        </p:nvSpPr>
        <p:spPr>
          <a:xfrm>
            <a:off x="36004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39243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42481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457200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4895850" y="2095500"/>
            <a:ext cx="190500" cy="19050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37388" y="2467689"/>
            <a:ext cx="429914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3 名</a:t>
            </a:r>
          </a:p>
        </p:txBody>
      </p:sp>
      <p:sp>
        <p:nvSpPr>
          <p:cNvPr id="49" name="Arc 49"/>
          <p:cNvSpPr/>
          <p:nvPr/>
        </p:nvSpPr>
        <p:spPr>
          <a:xfrm>
            <a:off x="14287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0" name="Arc 50"/>
          <p:cNvSpPr/>
          <p:nvPr/>
        </p:nvSpPr>
        <p:spPr>
          <a:xfrm>
            <a:off x="17526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1" name="Arc 51"/>
          <p:cNvSpPr/>
          <p:nvPr/>
        </p:nvSpPr>
        <p:spPr>
          <a:xfrm>
            <a:off x="20764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2" name="Arc 52"/>
          <p:cNvSpPr/>
          <p:nvPr/>
        </p:nvSpPr>
        <p:spPr>
          <a:xfrm>
            <a:off x="24003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3" name="Arc 53"/>
          <p:cNvSpPr/>
          <p:nvPr/>
        </p:nvSpPr>
        <p:spPr>
          <a:xfrm>
            <a:off x="27241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4" name="Arc 54"/>
          <p:cNvSpPr/>
          <p:nvPr/>
        </p:nvSpPr>
        <p:spPr>
          <a:xfrm>
            <a:off x="30480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5" name="Arc 55"/>
          <p:cNvSpPr/>
          <p:nvPr/>
        </p:nvSpPr>
        <p:spPr>
          <a:xfrm>
            <a:off x="33718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6" name="Arc 56"/>
          <p:cNvSpPr/>
          <p:nvPr/>
        </p:nvSpPr>
        <p:spPr>
          <a:xfrm>
            <a:off x="36957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7" name="Arc 57"/>
          <p:cNvSpPr/>
          <p:nvPr/>
        </p:nvSpPr>
        <p:spPr>
          <a:xfrm>
            <a:off x="40195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8" name="Arc 58"/>
          <p:cNvSpPr/>
          <p:nvPr/>
        </p:nvSpPr>
        <p:spPr>
          <a:xfrm>
            <a:off x="43434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9" name="Arc 59"/>
          <p:cNvSpPr/>
          <p:nvPr/>
        </p:nvSpPr>
        <p:spPr>
          <a:xfrm>
            <a:off x="466725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0" name="Arc 60"/>
          <p:cNvSpPr/>
          <p:nvPr/>
        </p:nvSpPr>
        <p:spPr>
          <a:xfrm>
            <a:off x="4991100" y="2408872"/>
            <a:ext cx="31245" cy="24741"/>
          </a:xfrm>
          <a:custGeom>
            <a:avLst/>
            <a:gdLst/>
            <a:ahLst/>
            <a:cxnLst/>
            <a:rect l="l" t="t" r="r" b="b"/>
            <a:pathLst>
              <a:path w="31245" h="24741">
                <a:moveTo>
                  <a:pt x="0" y="0"/>
                </a:moveTo>
                <a:lnTo>
                  <a:pt x="1982" y="19"/>
                </a:lnTo>
                <a:lnTo>
                  <a:pt x="3964" y="74"/>
                </a:lnTo>
                <a:lnTo>
                  <a:pt x="5944" y="167"/>
                </a:lnTo>
                <a:lnTo>
                  <a:pt x="7922" y="297"/>
                </a:lnTo>
                <a:lnTo>
                  <a:pt x="9897" y="464"/>
                </a:lnTo>
                <a:lnTo>
                  <a:pt x="11869" y="668"/>
                </a:lnTo>
                <a:lnTo>
                  <a:pt x="13837" y="909"/>
                </a:lnTo>
                <a:lnTo>
                  <a:pt x="15800" y="1187"/>
                </a:lnTo>
                <a:lnTo>
                  <a:pt x="17757" y="1502"/>
                </a:lnTo>
                <a:lnTo>
                  <a:pt x="19708" y="1853"/>
                </a:lnTo>
                <a:lnTo>
                  <a:pt x="21652" y="2241"/>
                </a:lnTo>
                <a:lnTo>
                  <a:pt x="23588" y="2665"/>
                </a:lnTo>
                <a:lnTo>
                  <a:pt x="25517" y="3125"/>
                </a:lnTo>
                <a:lnTo>
                  <a:pt x="27436" y="3622"/>
                </a:lnTo>
                <a:lnTo>
                  <a:pt x="29345" y="4154"/>
                </a:lnTo>
                <a:lnTo>
                  <a:pt x="31245" y="4722"/>
                </a:lnTo>
                <a:lnTo>
                  <a:pt x="25052" y="24741"/>
                </a:lnTo>
                <a:lnTo>
                  <a:pt x="23529" y="24286"/>
                </a:lnTo>
                <a:lnTo>
                  <a:pt x="21998" y="23859"/>
                </a:lnTo>
                <a:lnTo>
                  <a:pt x="20459" y="23461"/>
                </a:lnTo>
                <a:lnTo>
                  <a:pt x="18913" y="23092"/>
                </a:lnTo>
                <a:lnTo>
                  <a:pt x="17361" y="22752"/>
                </a:lnTo>
                <a:lnTo>
                  <a:pt x="15802" y="22441"/>
                </a:lnTo>
                <a:lnTo>
                  <a:pt x="14238" y="22159"/>
                </a:lnTo>
                <a:lnTo>
                  <a:pt x="12668" y="21907"/>
                </a:lnTo>
                <a:lnTo>
                  <a:pt x="11094" y="21684"/>
                </a:lnTo>
                <a:lnTo>
                  <a:pt x="9517" y="21491"/>
                </a:lnTo>
                <a:lnTo>
                  <a:pt x="7936" y="21327"/>
                </a:lnTo>
                <a:lnTo>
                  <a:pt x="6352" y="21193"/>
                </a:lnTo>
                <a:lnTo>
                  <a:pt x="4766" y="21089"/>
                </a:lnTo>
                <a:lnTo>
                  <a:pt x="3178" y="21015"/>
                </a:lnTo>
                <a:lnTo>
                  <a:pt x="1589" y="20970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37388" y="2791539"/>
            <a:ext cx="429914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8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 4 名</a:t>
            </a:r>
          </a:p>
        </p:txBody>
      </p:sp>
      <p:sp>
        <p:nvSpPr>
          <p:cNvPr id="62" name="Ellipse 62"/>
          <p:cNvSpPr/>
          <p:nvPr/>
        </p:nvSpPr>
        <p:spPr>
          <a:xfrm>
            <a:off x="13335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63" name="Ellipse 63"/>
          <p:cNvSpPr/>
          <p:nvPr/>
        </p:nvSpPr>
        <p:spPr>
          <a:xfrm>
            <a:off x="16573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9812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65" name="Ellipse 65"/>
          <p:cNvSpPr/>
          <p:nvPr/>
        </p:nvSpPr>
        <p:spPr>
          <a:xfrm>
            <a:off x="23050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26289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67" name="Ellipse 67"/>
          <p:cNvSpPr/>
          <p:nvPr/>
        </p:nvSpPr>
        <p:spPr>
          <a:xfrm>
            <a:off x="29527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68" name="Ellipse 68"/>
          <p:cNvSpPr/>
          <p:nvPr/>
        </p:nvSpPr>
        <p:spPr>
          <a:xfrm>
            <a:off x="32766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69" name="Ellipse 69"/>
          <p:cNvSpPr/>
          <p:nvPr/>
        </p:nvSpPr>
        <p:spPr>
          <a:xfrm>
            <a:off x="36004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39243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42481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2" name="Ellipse 72"/>
          <p:cNvSpPr/>
          <p:nvPr/>
        </p:nvSpPr>
        <p:spPr>
          <a:xfrm>
            <a:off x="457200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3" name="Ellipse 73"/>
          <p:cNvSpPr/>
          <p:nvPr/>
        </p:nvSpPr>
        <p:spPr>
          <a:xfrm>
            <a:off x="4895850" y="2743200"/>
            <a:ext cx="190500" cy="19050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4" name="Ellipse 74"/>
          <p:cNvSpPr/>
          <p:nvPr/>
        </p:nvSpPr>
        <p:spPr>
          <a:xfrm>
            <a:off x="1419225" y="3248025"/>
            <a:ext cx="133350" cy="1333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1626870" y="3255645"/>
            <a:ext cx="18484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前二 · 直通 32 强（24 队）</a:t>
            </a:r>
          </a:p>
        </p:txBody>
      </p:sp>
      <p:sp>
        <p:nvSpPr>
          <p:cNvPr id="76" name="Arc 76"/>
          <p:cNvSpPr/>
          <p:nvPr/>
        </p:nvSpPr>
        <p:spPr>
          <a:xfrm>
            <a:off x="1485900" y="3494722"/>
            <a:ext cx="32062" cy="26037"/>
          </a:xfrm>
          <a:custGeom>
            <a:avLst/>
            <a:gdLst/>
            <a:ahLst/>
            <a:cxnLst/>
            <a:rect l="l" t="t" r="r" b="b"/>
            <a:pathLst>
              <a:path w="32062" h="26037">
                <a:moveTo>
                  <a:pt x="0" y="0"/>
                </a:moveTo>
                <a:lnTo>
                  <a:pt x="2066" y="28"/>
                </a:lnTo>
                <a:lnTo>
                  <a:pt x="4131" y="111"/>
                </a:lnTo>
                <a:lnTo>
                  <a:pt x="6193" y="249"/>
                </a:lnTo>
                <a:lnTo>
                  <a:pt x="8251" y="442"/>
                </a:lnTo>
                <a:lnTo>
                  <a:pt x="10302" y="691"/>
                </a:lnTo>
                <a:lnTo>
                  <a:pt x="12346" y="994"/>
                </a:lnTo>
                <a:lnTo>
                  <a:pt x="14381" y="1352"/>
                </a:lnTo>
                <a:lnTo>
                  <a:pt x="16406" y="1765"/>
                </a:lnTo>
                <a:lnTo>
                  <a:pt x="18420" y="2231"/>
                </a:lnTo>
                <a:lnTo>
                  <a:pt x="20420" y="2751"/>
                </a:lnTo>
                <a:lnTo>
                  <a:pt x="22405" y="3325"/>
                </a:lnTo>
                <a:lnTo>
                  <a:pt x="24374" y="3951"/>
                </a:lnTo>
                <a:lnTo>
                  <a:pt x="26326" y="4630"/>
                </a:lnTo>
                <a:lnTo>
                  <a:pt x="28259" y="5362"/>
                </a:lnTo>
                <a:lnTo>
                  <a:pt x="30171" y="6144"/>
                </a:lnTo>
                <a:lnTo>
                  <a:pt x="32062" y="6978"/>
                </a:lnTo>
                <a:lnTo>
                  <a:pt x="23354" y="26037"/>
                </a:lnTo>
                <a:lnTo>
                  <a:pt x="21977" y="25430"/>
                </a:lnTo>
                <a:lnTo>
                  <a:pt x="20584" y="24860"/>
                </a:lnTo>
                <a:lnTo>
                  <a:pt x="19176" y="24328"/>
                </a:lnTo>
                <a:lnTo>
                  <a:pt x="17754" y="23833"/>
                </a:lnTo>
                <a:lnTo>
                  <a:pt x="16320" y="23377"/>
                </a:lnTo>
                <a:lnTo>
                  <a:pt x="14874" y="22959"/>
                </a:lnTo>
                <a:lnTo>
                  <a:pt x="13417" y="22580"/>
                </a:lnTo>
                <a:lnTo>
                  <a:pt x="11950" y="22240"/>
                </a:lnTo>
                <a:lnTo>
                  <a:pt x="10475" y="21940"/>
                </a:lnTo>
                <a:lnTo>
                  <a:pt x="8993" y="21679"/>
                </a:lnTo>
                <a:lnTo>
                  <a:pt x="7504" y="21458"/>
                </a:lnTo>
                <a:lnTo>
                  <a:pt x="6010" y="21277"/>
                </a:lnTo>
                <a:lnTo>
                  <a:pt x="4511" y="21136"/>
                </a:lnTo>
                <a:lnTo>
                  <a:pt x="3009" y="21036"/>
                </a:lnTo>
                <a:lnTo>
                  <a:pt x="1505" y="20975"/>
                </a:lnTo>
                <a:lnTo>
                  <a:pt x="0" y="20955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1626870" y="3512820"/>
            <a:ext cx="15986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第三名 · 12 个里选 8 个</a:t>
            </a:r>
          </a:p>
        </p:txBody>
      </p:sp>
      <p:sp>
        <p:nvSpPr>
          <p:cNvPr id="78" name="Ellipse 78"/>
          <p:cNvSpPr/>
          <p:nvPr/>
        </p:nvSpPr>
        <p:spPr>
          <a:xfrm>
            <a:off x="1419225" y="3762375"/>
            <a:ext cx="133350" cy="133350"/>
          </a:xfrm>
          <a:prstGeom prst="ellipse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1626870" y="3769995"/>
            <a:ext cx="18541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第四名 · 直接出局（12 队）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16844" y="4451747"/>
            <a:ext cx="2077213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小组赛出局率：上届 vs 本届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417796" y="4783693"/>
            <a:ext cx="35930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2022</a:t>
            </a:r>
          </a:p>
        </p:txBody>
      </p:sp>
      <p:sp>
        <p:nvSpPr>
          <p:cNvPr id="82" name="Rectangle 82"/>
          <p:cNvSpPr/>
          <p:nvPr/>
        </p:nvSpPr>
        <p:spPr>
          <a:xfrm>
            <a:off x="1866900" y="4743450"/>
            <a:ext cx="2000250" cy="1714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3931920" y="4779645"/>
            <a:ext cx="4712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50.0%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17796" y="5107543"/>
            <a:ext cx="35930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2026</a:t>
            </a:r>
          </a:p>
        </p:txBody>
      </p:sp>
      <p:sp>
        <p:nvSpPr>
          <p:cNvPr id="85" name="Rectangle 85"/>
          <p:cNvSpPr/>
          <p:nvPr/>
        </p:nvSpPr>
        <p:spPr>
          <a:xfrm>
            <a:off x="1866900" y="5067300"/>
            <a:ext cx="1333500" cy="1714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3265170" y="5103495"/>
            <a:ext cx="4712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33.3%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418272" y="5435441"/>
            <a:ext cx="20249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同样淘汰 16 队，分母从 32 变 48</a:t>
            </a:r>
          </a:p>
        </p:txBody>
      </p:sp>
      <p:sp>
        <p:nvSpPr>
          <p:cNvPr id="88" name="Rectangle 88"/>
          <p:cNvSpPr/>
          <p:nvPr/>
        </p:nvSpPr>
        <p:spPr>
          <a:xfrm>
            <a:off x="7429500" y="1600200"/>
            <a:ext cx="1619250" cy="87630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7901906" y="1706461"/>
            <a:ext cx="674439" cy="588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98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32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856014" y="2204085"/>
            <a:ext cx="7662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晋级 32 强</a:t>
            </a:r>
          </a:p>
        </p:txBody>
      </p:sp>
      <p:sp>
        <p:nvSpPr>
          <p:cNvPr id="91" name="Rectangle 91"/>
          <p:cNvSpPr/>
          <p:nvPr/>
        </p:nvSpPr>
        <p:spPr>
          <a:xfrm>
            <a:off x="9620250" y="1600200"/>
            <a:ext cx="1619250" cy="87630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92" name="TextBox 92"/>
          <p:cNvSpPr txBox="1"/>
          <p:nvPr/>
        </p:nvSpPr>
        <p:spPr>
          <a:xfrm>
            <a:off x="10165749" y="1751152"/>
            <a:ext cx="528252" cy="504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84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051190" y="2208133"/>
            <a:ext cx="75737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止步小组赛</a:t>
            </a:r>
          </a:p>
        </p:txBody>
      </p:sp>
      <p:sp>
        <p:nvSpPr>
          <p:cNvPr id="94" name="Line 94"/>
          <p:cNvSpPr/>
          <p:nvPr/>
        </p:nvSpPr>
        <p:spPr>
          <a:xfrm>
            <a:off x="5105400" y="1908915"/>
            <a:ext cx="2200390" cy="129435"/>
          </a:xfrm>
          <a:custGeom>
            <a:avLst/>
            <a:gdLst/>
            <a:ahLst/>
            <a:cxnLst/>
            <a:rect l="l" t="t" r="r" b="b"/>
            <a:pathLst>
              <a:path w="2200390" h="129435">
                <a:moveTo>
                  <a:pt x="0" y="129435"/>
                </a:moveTo>
                <a:lnTo>
                  <a:pt x="2200390" y="0"/>
                </a:lnTo>
              </a:path>
            </a:pathLst>
          </a:custGeom>
          <a:noFill/>
          <a:ln w="13335">
            <a:solidFill>
              <a:srgbClr val="6E6E6E"/>
            </a:solidFill>
          </a:ln>
        </p:spPr>
      </p:sp>
      <p:sp>
        <p:nvSpPr>
          <p:cNvPr id="95" name="Polygon 95"/>
          <p:cNvSpPr/>
          <p:nvPr/>
        </p:nvSpPr>
        <p:spPr>
          <a:xfrm>
            <a:off x="7310438" y="1881188"/>
            <a:ext cx="61912" cy="54292"/>
          </a:xfrm>
          <a:custGeom>
            <a:avLst/>
            <a:gdLst/>
            <a:ahLst/>
            <a:cxnLst/>
            <a:rect l="l" t="t" r="r" b="b"/>
            <a:pathLst>
              <a:path w="61912" h="54292">
                <a:moveTo>
                  <a:pt x="61912" y="23812"/>
                </a:moveTo>
                <a:lnTo>
                  <a:pt x="2857" y="54292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96" name="TextBox 96"/>
          <p:cNvSpPr txBox="1"/>
          <p:nvPr/>
        </p:nvSpPr>
        <p:spPr>
          <a:xfrm>
            <a:off x="5944246" y="1743789"/>
            <a:ext cx="494009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前二 24</a:t>
            </a:r>
          </a:p>
        </p:txBody>
      </p:sp>
      <p:sp>
        <p:nvSpPr>
          <p:cNvPr id="97" name="Line 97"/>
          <p:cNvSpPr/>
          <p:nvPr/>
        </p:nvSpPr>
        <p:spPr>
          <a:xfrm>
            <a:off x="5105400" y="2255690"/>
            <a:ext cx="2200732" cy="258910"/>
          </a:xfrm>
          <a:custGeom>
            <a:avLst/>
            <a:gdLst/>
            <a:ahLst/>
            <a:cxnLst/>
            <a:rect l="l" t="t" r="r" b="b"/>
            <a:pathLst>
              <a:path w="2200732" h="258910">
                <a:moveTo>
                  <a:pt x="0" y="258910"/>
                </a:moveTo>
                <a:lnTo>
                  <a:pt x="2200732" y="0"/>
                </a:lnTo>
              </a:path>
            </a:pathLst>
          </a:custGeom>
          <a:noFill/>
          <a:ln w="13335">
            <a:solidFill>
              <a:srgbClr val="6E6E6E"/>
            </a:solidFill>
            <a:custDash>
              <a:ds d="285714" sp="214285"/>
            </a:custDash>
          </a:ln>
        </p:spPr>
      </p:sp>
      <p:sp>
        <p:nvSpPr>
          <p:cNvPr id="98" name="Polygon 98"/>
          <p:cNvSpPr/>
          <p:nvPr/>
        </p:nvSpPr>
        <p:spPr>
          <a:xfrm>
            <a:off x="7308532" y="2227898"/>
            <a:ext cx="63818" cy="54292"/>
          </a:xfrm>
          <a:custGeom>
            <a:avLst/>
            <a:gdLst/>
            <a:ahLst/>
            <a:cxnLst/>
            <a:rect l="l" t="t" r="r" b="b"/>
            <a:pathLst>
              <a:path w="63818" h="54292">
                <a:moveTo>
                  <a:pt x="63818" y="20002"/>
                </a:moveTo>
                <a:lnTo>
                  <a:pt x="6668" y="54292"/>
                </a:lnTo>
                <a:lnTo>
                  <a:pt x="0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5802044" y="2410539"/>
            <a:ext cx="778413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88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佳三 12 选 8</a:t>
            </a:r>
          </a:p>
        </p:txBody>
      </p:sp>
      <p:sp>
        <p:nvSpPr>
          <p:cNvPr id="100" name="Line 100"/>
          <p:cNvSpPr/>
          <p:nvPr/>
        </p:nvSpPr>
        <p:spPr>
          <a:xfrm>
            <a:off x="9048750" y="2038350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C4C4C4"/>
            </a:solidFill>
          </a:ln>
        </p:spPr>
      </p:sp>
      <p:sp>
        <p:nvSpPr>
          <p:cNvPr id="101" name="Line 101"/>
          <p:cNvSpPr/>
          <p:nvPr/>
        </p:nvSpPr>
        <p:spPr>
          <a:xfrm>
            <a:off x="9315450" y="2038350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3335">
            <a:solidFill>
              <a:srgbClr val="C4C4C4"/>
            </a:solidFill>
          </a:ln>
        </p:spPr>
      </p:sp>
      <p:sp>
        <p:nvSpPr>
          <p:cNvPr id="102" name="Line 102"/>
          <p:cNvSpPr/>
          <p:nvPr/>
        </p:nvSpPr>
        <p:spPr>
          <a:xfrm>
            <a:off x="9315450" y="2038350"/>
            <a:ext cx="266700" cy="9525"/>
          </a:xfrm>
          <a:custGeom>
            <a:avLst/>
            <a:gdLst/>
            <a:ahLst/>
            <a:cxnLst/>
            <a:rect l="l" t="t" r="r" b="b"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C4C4C4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7417594" y="2927747"/>
            <a:ext cx="174490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48 队去向 · 按小组名次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7429500" y="3143250"/>
            <a:ext cx="200025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8320535" y="3213497"/>
            <a:ext cx="21818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24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9429750" y="3143250"/>
            <a:ext cx="666750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107" name="Rectangle 107"/>
          <p:cNvSpPr/>
          <p:nvPr/>
        </p:nvSpPr>
        <p:spPr>
          <a:xfrm>
            <a:off x="10096500" y="3143250"/>
            <a:ext cx="1333500" cy="247650"/>
          </a:xfrm>
          <a:prstGeom prst="rect">
            <a:avLst/>
          </a:prstGeom>
          <a:solidFill>
            <a:srgbClr val="C4C4C4"/>
          </a:solidFill>
          <a:ln>
            <a:noFill/>
          </a:ln>
        </p:spPr>
      </p:sp>
      <p:sp>
        <p:nvSpPr>
          <p:cNvPr id="108" name="TextBox 108"/>
          <p:cNvSpPr txBox="1"/>
          <p:nvPr/>
        </p:nvSpPr>
        <p:spPr>
          <a:xfrm>
            <a:off x="10663565" y="3213497"/>
            <a:ext cx="19937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109" name="Line 109"/>
          <p:cNvSpPr/>
          <p:nvPr/>
        </p:nvSpPr>
        <p:spPr>
          <a:xfrm>
            <a:off x="9763125" y="296227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110" name="TextBox 110"/>
          <p:cNvSpPr txBox="1"/>
          <p:nvPr/>
        </p:nvSpPr>
        <p:spPr>
          <a:xfrm>
            <a:off x="9576575" y="2856786"/>
            <a:ext cx="373101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佳三 8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7418546" y="3469243"/>
            <a:ext cx="3861114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晋级 32 = 前二 24 + 最佳第三 8；出局 16 = 第四 12 + 第三 4</a:t>
            </a:r>
          </a:p>
        </p:txBody>
      </p:sp>
      <p:sp>
        <p:nvSpPr>
          <p:cNvPr id="112" name="Ellipse 112"/>
          <p:cNvSpPr/>
          <p:nvPr/>
        </p:nvSpPr>
        <p:spPr>
          <a:xfrm>
            <a:off x="9401175" y="3095625"/>
            <a:ext cx="723900" cy="342900"/>
          </a:xfrm>
          <a:prstGeom prst="ellipse">
            <a:avLst/>
          </a:prstGeom>
          <a:noFill/>
          <a:ln w="19050">
            <a:solidFill>
              <a:srgbClr val="262626"/>
            </a:solidFill>
          </a:ln>
        </p:spPr>
      </p:sp>
      <p:sp>
        <p:nvSpPr>
          <p:cNvPr id="113" name="Rectangle 113"/>
          <p:cNvSpPr/>
          <p:nvPr/>
        </p:nvSpPr>
        <p:spPr>
          <a:xfrm>
            <a:off x="7429500" y="4552950"/>
            <a:ext cx="4381500" cy="91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14" name="Rectangle 114"/>
          <p:cNvSpPr/>
          <p:nvPr/>
        </p:nvSpPr>
        <p:spPr>
          <a:xfrm>
            <a:off x="7429500" y="4552950"/>
            <a:ext cx="28575" cy="9144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115" name="TextBox 115"/>
          <p:cNvSpPr txBox="1"/>
          <p:nvPr/>
        </p:nvSpPr>
        <p:spPr>
          <a:xfrm>
            <a:off x="7626191" y="4729401"/>
            <a:ext cx="12344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最佳第三怎么选</a:t>
            </a:r>
          </a:p>
        </p:txBody>
      </p:sp>
      <p:sp>
        <p:nvSpPr>
          <p:cNvPr id="116" name="Ellipse 116"/>
          <p:cNvSpPr/>
          <p:nvPr/>
        </p:nvSpPr>
        <p:spPr>
          <a:xfrm>
            <a:off x="7677150" y="50577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117" name="TextBox 117"/>
          <p:cNvSpPr txBox="1"/>
          <p:nvPr/>
        </p:nvSpPr>
        <p:spPr>
          <a:xfrm>
            <a:off x="7817644" y="5023247"/>
            <a:ext cx="253474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12 个小组第三横向排名，取前 8 晋级</a:t>
            </a:r>
          </a:p>
        </p:txBody>
      </p:sp>
      <p:sp>
        <p:nvSpPr>
          <p:cNvPr id="118" name="Ellipse 118"/>
          <p:cNvSpPr/>
          <p:nvPr/>
        </p:nvSpPr>
        <p:spPr>
          <a:xfrm>
            <a:off x="7677150" y="5286375"/>
            <a:ext cx="57150" cy="57150"/>
          </a:xfrm>
          <a:prstGeom prst="ellipse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119" name="TextBox 119"/>
          <p:cNvSpPr txBox="1"/>
          <p:nvPr/>
        </p:nvSpPr>
        <p:spPr>
          <a:xfrm>
            <a:off x="7817644" y="5251847"/>
            <a:ext cx="299907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第三名的命运，要等 12 个组全部收官才揭晓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121" name="TextBox 121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283018" y="6228874"/>
            <a:ext cx="5078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小组赛只淘汰 1/3——2026 的悬念被后移：算分留给末轮，生死留给 7 月</a:t>
            </a:r>
          </a:p>
        </p:txBody>
      </p:sp>
      <p:sp>
        <p:nvSpPr>
          <p:cNvPr id="123" name="Line 123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124" name="TextBox 124"/>
          <p:cNvSpPr txBox="1"/>
          <p:nvPr/>
        </p:nvSpPr>
        <p:spPr>
          <a:xfrm>
            <a:off x="370522" y="6664166"/>
            <a:ext cx="23242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来源：FIFA.com（48 队新赛制说明）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489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02 赛制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6235" y="494348"/>
            <a:ext cx="651808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48 个席位来自 6 条通道：46 直通 + 2 附加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57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0546" y="1126093"/>
            <a:ext cx="23782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带宽∝席位数 · 46 直通 + 2 附加 = 48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763000" y="1948815"/>
            <a:ext cx="1428750" cy="267462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180650" y="2972752"/>
            <a:ext cx="5934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88888" y="3402568"/>
            <a:ext cx="57697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参赛席位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143250" y="1428750"/>
            <a:ext cx="1143000" cy="10858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339078" y="1916668"/>
            <a:ext cx="71987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欧洲 UEFA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23040" y="1916668"/>
            <a:ext cx="18342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16" name="Polygon 16"/>
          <p:cNvSpPr/>
          <p:nvPr/>
        </p:nvSpPr>
        <p:spPr>
          <a:xfrm>
            <a:off x="4286250" y="1428750"/>
            <a:ext cx="4476750" cy="1430655"/>
          </a:xfrm>
          <a:custGeom>
            <a:avLst/>
            <a:gdLst/>
            <a:ahLst/>
            <a:cxnLst/>
            <a:rect l="l" t="t" r="r" b="b"/>
            <a:pathLst>
              <a:path w="4476750" h="1430655">
                <a:moveTo>
                  <a:pt x="0" y="0"/>
                </a:moveTo>
                <a:lnTo>
                  <a:pt x="4476750" y="577215"/>
                </a:lnTo>
                <a:lnTo>
                  <a:pt x="4476750" y="1430655"/>
                </a:lnTo>
                <a:lnTo>
                  <a:pt x="0" y="1085850"/>
                </a:lnTo>
                <a:close/>
              </a:path>
            </a:pathLst>
          </a:custGeom>
          <a:solidFill>
            <a:srgbClr val="9B9B9B">
              <a:alpha val="2800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3143250" y="2590800"/>
            <a:ext cx="1143000" cy="610791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428487" y="2841188"/>
            <a:ext cx="63046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非洲 CAF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659092" y="2841188"/>
            <a:ext cx="1113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9</a:t>
            </a:r>
          </a:p>
        </p:txBody>
      </p:sp>
      <p:sp>
        <p:nvSpPr>
          <p:cNvPr id="20" name="Polygon 20"/>
          <p:cNvSpPr/>
          <p:nvPr/>
        </p:nvSpPr>
        <p:spPr>
          <a:xfrm>
            <a:off x="4286250" y="2590800"/>
            <a:ext cx="4476750" cy="748665"/>
          </a:xfrm>
          <a:custGeom>
            <a:avLst/>
            <a:gdLst/>
            <a:ahLst/>
            <a:cxnLst/>
            <a:rect l="l" t="t" r="r" b="b"/>
            <a:pathLst>
              <a:path w="4476750" h="748665">
                <a:moveTo>
                  <a:pt x="0" y="0"/>
                </a:moveTo>
                <a:lnTo>
                  <a:pt x="4476750" y="268605"/>
                </a:lnTo>
                <a:lnTo>
                  <a:pt x="4476750" y="748665"/>
                </a:lnTo>
                <a:lnTo>
                  <a:pt x="0" y="610791"/>
                </a:lnTo>
                <a:close/>
              </a:path>
            </a:pathLst>
          </a:custGeom>
          <a:solidFill>
            <a:srgbClr val="C8C8C8">
              <a:alpha val="28000"/>
            </a:srgbClr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143250" y="3277791"/>
            <a:ext cx="1143000" cy="542925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428487" y="3494246"/>
            <a:ext cx="63046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亚洲 AFC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59092" y="3494246"/>
            <a:ext cx="1113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24" name="Polygon 24"/>
          <p:cNvSpPr/>
          <p:nvPr/>
        </p:nvSpPr>
        <p:spPr>
          <a:xfrm>
            <a:off x="4286250" y="3277791"/>
            <a:ext cx="4476750" cy="542925"/>
          </a:xfrm>
          <a:custGeom>
            <a:avLst/>
            <a:gdLst/>
            <a:ahLst/>
            <a:cxnLst/>
            <a:rect l="l" t="t" r="r" b="b"/>
            <a:pathLst>
              <a:path w="4476750" h="542925">
                <a:moveTo>
                  <a:pt x="0" y="0"/>
                </a:moveTo>
                <a:lnTo>
                  <a:pt x="4476750" y="61674"/>
                </a:lnTo>
                <a:lnTo>
                  <a:pt x="4476750" y="488394"/>
                </a:lnTo>
                <a:lnTo>
                  <a:pt x="0" y="542925"/>
                </a:lnTo>
                <a:close/>
              </a:path>
            </a:pathLst>
          </a:custGeom>
          <a:solidFill>
            <a:srgbClr val="9B9B9B">
              <a:alpha val="28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3143250" y="3896916"/>
            <a:ext cx="1143000" cy="407194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894916" y="4045506"/>
            <a:ext cx="116403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南美 CONMEBOL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659092" y="4045506"/>
            <a:ext cx="1113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6</a:t>
            </a:r>
          </a:p>
        </p:txBody>
      </p:sp>
      <p:sp>
        <p:nvSpPr>
          <p:cNvPr id="28" name="Polygon 28"/>
          <p:cNvSpPr/>
          <p:nvPr/>
        </p:nvSpPr>
        <p:spPr>
          <a:xfrm>
            <a:off x="4286250" y="3766185"/>
            <a:ext cx="4476750" cy="537924"/>
          </a:xfrm>
          <a:custGeom>
            <a:avLst/>
            <a:gdLst/>
            <a:ahLst/>
            <a:cxnLst/>
            <a:rect l="l" t="t" r="r" b="b"/>
            <a:pathLst>
              <a:path w="4476750" h="537924">
                <a:moveTo>
                  <a:pt x="0" y="130731"/>
                </a:moveTo>
                <a:lnTo>
                  <a:pt x="4476750" y="0"/>
                </a:lnTo>
                <a:lnTo>
                  <a:pt x="4476750" y="320040"/>
                </a:lnTo>
                <a:lnTo>
                  <a:pt x="0" y="537924"/>
                </a:lnTo>
                <a:close/>
              </a:path>
            </a:pathLst>
          </a:custGeom>
          <a:solidFill>
            <a:srgbClr val="C8C8C8">
              <a:alpha val="28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143250" y="4380309"/>
            <a:ext cx="1143000" cy="407194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805507" y="4528899"/>
            <a:ext cx="125344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中北美 CONCACAF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59092" y="4528899"/>
            <a:ext cx="11131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6</a:t>
            </a:r>
          </a:p>
        </p:txBody>
      </p:sp>
      <p:sp>
        <p:nvSpPr>
          <p:cNvPr id="32" name="Polygon 32"/>
          <p:cNvSpPr/>
          <p:nvPr/>
        </p:nvSpPr>
        <p:spPr>
          <a:xfrm>
            <a:off x="4286250" y="4086225"/>
            <a:ext cx="4476750" cy="701278"/>
          </a:xfrm>
          <a:custGeom>
            <a:avLst/>
            <a:gdLst/>
            <a:ahLst/>
            <a:cxnLst/>
            <a:rect l="l" t="t" r="r" b="b"/>
            <a:pathLst>
              <a:path w="4476750" h="701278">
                <a:moveTo>
                  <a:pt x="0" y="294084"/>
                </a:moveTo>
                <a:lnTo>
                  <a:pt x="4476750" y="0"/>
                </a:lnTo>
                <a:lnTo>
                  <a:pt x="4476750" y="320040"/>
                </a:lnTo>
                <a:lnTo>
                  <a:pt x="0" y="701278"/>
                </a:lnTo>
                <a:close/>
              </a:path>
            </a:pathLst>
          </a:custGeom>
          <a:solidFill>
            <a:srgbClr val="9B9B9B">
              <a:alpha val="28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143250" y="4863703"/>
            <a:ext cx="1143000" cy="67866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252553" y="4842629"/>
            <a:ext cx="806401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大洋洲 OFC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52449" y="4850725"/>
            <a:ext cx="8583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8" b="1" dirty="0">
                <a:solidFill>
                  <a:srgbClr val="C8C8C8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36" name="Polygon 36"/>
          <p:cNvSpPr/>
          <p:nvPr/>
        </p:nvSpPr>
        <p:spPr>
          <a:xfrm>
            <a:off x="4286250" y="4406265"/>
            <a:ext cx="4476750" cy="525304"/>
          </a:xfrm>
          <a:custGeom>
            <a:avLst/>
            <a:gdLst/>
            <a:ahLst/>
            <a:cxnLst/>
            <a:rect l="l" t="t" r="r" b="b"/>
            <a:pathLst>
              <a:path w="4476750" h="525304">
                <a:moveTo>
                  <a:pt x="0" y="457438"/>
                </a:moveTo>
                <a:lnTo>
                  <a:pt x="4476750" y="0"/>
                </a:lnTo>
                <a:lnTo>
                  <a:pt x="4476750" y="53340"/>
                </a:lnTo>
                <a:lnTo>
                  <a:pt x="0" y="525304"/>
                </a:lnTo>
                <a:close/>
              </a:path>
            </a:pathLst>
          </a:custGeom>
          <a:solidFill>
            <a:srgbClr val="C8C8C8">
              <a:alpha val="28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143250" y="5007769"/>
            <a:ext cx="1143000" cy="135731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2301584" y="5020628"/>
            <a:ext cx="75737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洲际附加赛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352449" y="5028724"/>
            <a:ext cx="101637" cy="160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88" b="1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40" name="Polygon 40"/>
          <p:cNvSpPr/>
          <p:nvPr/>
        </p:nvSpPr>
        <p:spPr>
          <a:xfrm>
            <a:off x="4286250" y="4459605"/>
            <a:ext cx="4476750" cy="683895"/>
          </a:xfrm>
          <a:custGeom>
            <a:avLst/>
            <a:gdLst/>
            <a:ahLst/>
            <a:cxnLst/>
            <a:rect l="l" t="t" r="r" b="b"/>
            <a:pathLst>
              <a:path w="4476750" h="683895">
                <a:moveTo>
                  <a:pt x="0" y="548164"/>
                </a:moveTo>
                <a:lnTo>
                  <a:pt x="4476750" y="0"/>
                </a:lnTo>
                <a:lnTo>
                  <a:pt x="4476750" y="106680"/>
                </a:lnTo>
                <a:lnTo>
                  <a:pt x="0" y="683895"/>
                </a:lnTo>
                <a:close/>
              </a:path>
            </a:pathLst>
          </a:custGeom>
          <a:solidFill>
            <a:srgbClr val="9B9B9B">
              <a:alpha val="28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466546" y="2859643"/>
            <a:ext cx="57697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欧洲占比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52735" y="3047048"/>
            <a:ext cx="102111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33.3%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66070" y="3369945"/>
            <a:ext cx="9172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16 席 / 48 席</a:t>
            </a:r>
          </a:p>
        </p:txBody>
      </p:sp>
      <p:sp>
        <p:nvSpPr>
          <p:cNvPr id="44" name="Rectangle 44"/>
          <p:cNvSpPr/>
          <p:nvPr/>
        </p:nvSpPr>
        <p:spPr>
          <a:xfrm>
            <a:off x="3143250" y="5334000"/>
            <a:ext cx="3619500" cy="6858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321368" y="5476399"/>
            <a:ext cx="22515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洲际附加赛 · 6 队争最后 2 席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22320" y="5732145"/>
            <a:ext cx="29444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非洲/亚洲/南美/大洋洲各 1 队＋中北美 2 队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048500" y="5334000"/>
            <a:ext cx="3619500" cy="6858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226618" y="5476399"/>
            <a:ext cx="18929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东道主美墨加 · 免预选赛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227570" y="5732145"/>
            <a:ext cx="192797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3 个席位计入中北美 6 席之内</a:t>
            </a:r>
          </a:p>
        </p:txBody>
      </p:sp>
      <p:sp>
        <p:nvSpPr>
          <p:cNvPr id="50" name="Line 50"/>
          <p:cNvSpPr/>
          <p:nvPr/>
        </p:nvSpPr>
        <p:spPr>
          <a:xfrm>
            <a:off x="4305300" y="5086350"/>
            <a:ext cx="9525" cy="142875"/>
          </a:xfrm>
          <a:custGeom>
            <a:avLst/>
            <a:gdLst/>
            <a:ahLst/>
            <a:cxnLst/>
            <a:rect l="l" t="t" r="r" b="b"/>
            <a:pathLst>
              <a:path w="952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3335">
            <a:solidFill>
              <a:srgbClr val="6E6E6E"/>
            </a:solidFill>
          </a:ln>
        </p:spPr>
      </p:sp>
      <p:sp>
        <p:nvSpPr>
          <p:cNvPr id="51" name="Polygon 51"/>
          <p:cNvSpPr/>
          <p:nvPr/>
        </p:nvSpPr>
        <p:spPr>
          <a:xfrm>
            <a:off x="4277678" y="5234940"/>
            <a:ext cx="55245" cy="60960"/>
          </a:xfrm>
          <a:custGeom>
            <a:avLst/>
            <a:gdLst/>
            <a:ahLst/>
            <a:cxnLst/>
            <a:rect l="l" t="t" r="r" b="b"/>
            <a:pathLst>
              <a:path w="55245" h="60960">
                <a:moveTo>
                  <a:pt x="27622" y="60960"/>
                </a:moveTo>
                <a:lnTo>
                  <a:pt x="0" y="0"/>
                </a:lnTo>
                <a:lnTo>
                  <a:pt x="55245" y="0"/>
                </a:lnTo>
                <a:close/>
              </a:path>
            </a:pathLst>
          </a:custGeom>
          <a:solidFill>
            <a:srgbClr val="6E6E6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368141" y="5281851"/>
            <a:ext cx="80782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46 席直通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8141" y="5510451"/>
            <a:ext cx="10346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+ 2 席附加赛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8141" y="5739051"/>
            <a:ext cx="394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= 48</a:t>
            </a:r>
          </a:p>
        </p:txBody>
      </p:sp>
      <p:sp>
        <p:nvSpPr>
          <p:cNvPr id="55" name="Rectangle 55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83018" y="6228874"/>
            <a:ext cx="53305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48 席里 45 席是打出来的——除 3 个东道主，每张门票都过了预选赛或附加赛</a:t>
            </a:r>
          </a:p>
        </p:txBody>
      </p:sp>
      <p:sp>
        <p:nvSpPr>
          <p:cNvPr id="58" name="Line 5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70522" y="6664166"/>
            <a:ext cx="40758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来源：FIFA.com（名额分配）· Wikipedia 2026 qualification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571500"/>
            <a:ext cx="114300" cy="1143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4358" y="586264"/>
            <a:ext cx="6037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6775" y="1481138"/>
            <a:ext cx="1645551" cy="259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0" b="1" dirty="0">
                <a:solidFill>
                  <a:srgbClr val="333333"/>
                </a:solidFill>
                <a:latin typeface="Inter"/>
                <a:ea typeface="Microsoft YaHei"/>
                <a:cs typeface="Inter"/>
              </a:rPr>
              <a:t>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9700" y="2476500"/>
            <a:ext cx="393847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4,644,549 人，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9700" y="3105150"/>
            <a:ext cx="427955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只看完了小组赛——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9700" y="3733800"/>
            <a:ext cx="516236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2F2"/>
                </a:solidFill>
                <a:latin typeface="Inter"/>
                <a:ea typeface="Microsoft YaHei"/>
                <a:cs typeface="Inter"/>
              </a:rPr>
              <a:t>已超 1994 年整届纪录</a:t>
            </a:r>
          </a:p>
        </p:txBody>
      </p:sp>
      <p:sp>
        <p:nvSpPr>
          <p:cNvPr id="9" name="Rectangle 9"/>
          <p:cNvSpPr/>
          <p:nvPr/>
        </p:nvSpPr>
        <p:spPr>
          <a:xfrm>
            <a:off x="1466850" y="4457700"/>
            <a:ext cx="1143000" cy="3810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450658" y="4739164"/>
            <a:ext cx="811704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A8A8"/>
                </a:solidFill>
                <a:latin typeface="Inter"/>
                <a:ea typeface="Microsoft YaHei"/>
                <a:cs typeface="Inter"/>
              </a:rPr>
              <a:t>—— FIFA 官方统计 · 小组赛 72 场 · 场均 64,508 · 上座率 99.7% · 截至 2026-06-27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8876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03 热度与地理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6235" y="494348"/>
            <a:ext cx="588557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78 场在美国：1/4 决赛起再未离开美国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57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573587" y="4095750"/>
            <a:ext cx="5045825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0" b="1" dirty="0">
                <a:solidFill>
                  <a:srgbClr val="262626">
                    <a:alpha val="3500"/>
                  </a:srgbClr>
                </a:solidFill>
                <a:latin typeface="JetBrains Mono"/>
                <a:ea typeface="Microsoft YaHei"/>
                <a:cs typeface="JetBrains Mono"/>
              </a:rPr>
              <a:t>75%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546" y="1126093"/>
            <a:ext cx="4111437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三级分解：总场次 → 国家 → 关键事实；框下＝场次占比（计算值）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3143250"/>
            <a:ext cx="1809750" cy="10477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28343" y="3274028"/>
            <a:ext cx="109606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46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4824" y="3884295"/>
            <a:ext cx="1043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总场次 · 16 城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238500" y="1428750"/>
            <a:ext cx="1905000" cy="81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920806" y="1568615"/>
            <a:ext cx="540389" cy="471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32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73379" y="1990963"/>
            <a:ext cx="83524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美国 · 11 城</a:t>
            </a:r>
          </a:p>
        </p:txBody>
      </p:sp>
      <p:sp>
        <p:nvSpPr>
          <p:cNvPr id="17" name="Line 17"/>
          <p:cNvSpPr/>
          <p:nvPr/>
        </p:nvSpPr>
        <p:spPr>
          <a:xfrm>
            <a:off x="2381250" y="36671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18" name="Line 18"/>
          <p:cNvSpPr/>
          <p:nvPr/>
        </p:nvSpPr>
        <p:spPr>
          <a:xfrm>
            <a:off x="2790825" y="1838325"/>
            <a:ext cx="9525" cy="1828800"/>
          </a:xfrm>
          <a:custGeom>
            <a:avLst/>
            <a:gdLst/>
            <a:ahLst/>
            <a:cxnLst/>
            <a:rect l="l" t="t" r="r" b="b"/>
            <a:pathLst>
              <a:path w="9525" h="1828800">
                <a:moveTo>
                  <a:pt x="0" y="182880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19" name="Line 19"/>
          <p:cNvSpPr/>
          <p:nvPr/>
        </p:nvSpPr>
        <p:spPr>
          <a:xfrm>
            <a:off x="2790825" y="18383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3238500" y="3048000"/>
            <a:ext cx="1905000" cy="81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944100" y="3187865"/>
            <a:ext cx="493801" cy="471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32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27232" y="3610213"/>
            <a:ext cx="92753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墨西哥 · 3 城</a:t>
            </a:r>
          </a:p>
        </p:txBody>
      </p:sp>
      <p:sp>
        <p:nvSpPr>
          <p:cNvPr id="23" name="Line 23"/>
          <p:cNvSpPr/>
          <p:nvPr/>
        </p:nvSpPr>
        <p:spPr>
          <a:xfrm>
            <a:off x="2381250" y="36671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24" name="Line 24"/>
          <p:cNvSpPr/>
          <p:nvPr/>
        </p:nvSpPr>
        <p:spPr>
          <a:xfrm>
            <a:off x="2790825" y="3457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25" name="Line 25"/>
          <p:cNvSpPr/>
          <p:nvPr/>
        </p:nvSpPr>
        <p:spPr>
          <a:xfrm>
            <a:off x="2790825" y="345757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238500" y="4381500"/>
            <a:ext cx="1905000" cy="819150"/>
          </a:xfrm>
          <a:prstGeom prst="rect">
            <a:avLst/>
          </a:prstGeom>
          <a:solidFill>
            <a:srgbClr val="FFFFFF"/>
          </a:solidFill>
          <a:ln w="15240">
            <a:solidFill>
              <a:srgbClr val="262626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944100" y="4521365"/>
            <a:ext cx="493801" cy="4718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322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13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27232" y="4943713"/>
            <a:ext cx="927536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加拿大 · 2 城</a:t>
            </a:r>
          </a:p>
        </p:txBody>
      </p:sp>
      <p:sp>
        <p:nvSpPr>
          <p:cNvPr id="29" name="Line 29"/>
          <p:cNvSpPr/>
          <p:nvPr/>
        </p:nvSpPr>
        <p:spPr>
          <a:xfrm>
            <a:off x="2381250" y="366712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30" name="Line 30"/>
          <p:cNvSpPr/>
          <p:nvPr/>
        </p:nvSpPr>
        <p:spPr>
          <a:xfrm>
            <a:off x="2790825" y="3667125"/>
            <a:ext cx="9525" cy="1123950"/>
          </a:xfrm>
          <a:custGeom>
            <a:avLst/>
            <a:gdLst/>
            <a:ahLst/>
            <a:cxnLst/>
            <a:rect l="l" t="t" r="r" b="b"/>
            <a:pathLst>
              <a:path w="9525" h="1123950">
                <a:moveTo>
                  <a:pt x="0" y="0"/>
                </a:moveTo>
                <a:lnTo>
                  <a:pt x="0" y="112395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31" name="Line 31"/>
          <p:cNvSpPr/>
          <p:nvPr/>
        </p:nvSpPr>
        <p:spPr>
          <a:xfrm>
            <a:off x="2790825" y="4791075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96447" y="2297906"/>
            <a:ext cx="589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336EE8"/>
                </a:solidFill>
                <a:latin typeface="JetBrains Mono"/>
                <a:ea typeface="Microsoft YaHei"/>
                <a:cs typeface="JetBrains Mono"/>
              </a:rPr>
              <a:t>75.0%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907733" y="3917156"/>
            <a:ext cx="5665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12.5%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07733" y="5250656"/>
            <a:ext cx="56653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12.5%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0" y="1333500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888966" y="1541145"/>
            <a:ext cx="16525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决赛起 8 场全在美国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286500" y="2000250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609304" y="2207895"/>
            <a:ext cx="2211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 07-19 · MetLife 东卢瑟福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190875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569555" y="3398520"/>
            <a:ext cx="22913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揭幕战 06-11 · 阿兹特克 墨西哥城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4524375"/>
            <a:ext cx="2857500" cy="533400"/>
          </a:xfrm>
          <a:prstGeom prst="rect">
            <a:avLst/>
          </a:prstGeom>
          <a:solidFill>
            <a:srgbClr val="FFFFFF"/>
          </a:solidFill>
          <a:ln w="13335">
            <a:solidFill>
              <a:srgbClr val="E7E7E7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179985" y="4732020"/>
            <a:ext cx="10705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温哥华 · 多伦多</a:t>
            </a:r>
          </a:p>
        </p:txBody>
      </p:sp>
      <p:sp>
        <p:nvSpPr>
          <p:cNvPr id="43" name="Line 43"/>
          <p:cNvSpPr/>
          <p:nvPr/>
        </p:nvSpPr>
        <p:spPr>
          <a:xfrm>
            <a:off x="5143500" y="18383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4" name="Line 44"/>
          <p:cNvSpPr/>
          <p:nvPr/>
        </p:nvSpPr>
        <p:spPr>
          <a:xfrm>
            <a:off x="5695950" y="160020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5" name="Line 45"/>
          <p:cNvSpPr/>
          <p:nvPr/>
        </p:nvSpPr>
        <p:spPr>
          <a:xfrm>
            <a:off x="5695950" y="16002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6" name="Line 46"/>
          <p:cNvSpPr/>
          <p:nvPr/>
        </p:nvSpPr>
        <p:spPr>
          <a:xfrm>
            <a:off x="5143500" y="183832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7" name="Line 47"/>
          <p:cNvSpPr/>
          <p:nvPr/>
        </p:nvSpPr>
        <p:spPr>
          <a:xfrm>
            <a:off x="5695950" y="1838325"/>
            <a:ext cx="9525" cy="428625"/>
          </a:xfrm>
          <a:custGeom>
            <a:avLst/>
            <a:gdLst/>
            <a:ahLst/>
            <a:cxnLst/>
            <a:rect l="l" t="t" r="r" b="b"/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8" name="Line 48"/>
          <p:cNvSpPr/>
          <p:nvPr/>
        </p:nvSpPr>
        <p:spPr>
          <a:xfrm>
            <a:off x="5695950" y="22669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49" name="Line 49"/>
          <p:cNvSpPr/>
          <p:nvPr/>
        </p:nvSpPr>
        <p:spPr>
          <a:xfrm>
            <a:off x="5143500" y="34575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0" name="Line 50"/>
          <p:cNvSpPr/>
          <p:nvPr/>
        </p:nvSpPr>
        <p:spPr>
          <a:xfrm>
            <a:off x="5695950" y="34575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1" name="Line 51"/>
          <p:cNvSpPr/>
          <p:nvPr/>
        </p:nvSpPr>
        <p:spPr>
          <a:xfrm>
            <a:off x="5695950" y="34575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2" name="Line 52"/>
          <p:cNvSpPr/>
          <p:nvPr/>
        </p:nvSpPr>
        <p:spPr>
          <a:xfrm>
            <a:off x="5143500" y="47910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3" name="Line 53"/>
          <p:cNvSpPr/>
          <p:nvPr/>
        </p:nvSpPr>
        <p:spPr>
          <a:xfrm>
            <a:off x="5695950" y="4791075"/>
            <a:ext cx="9525" cy="9525"/>
          </a:xfrm>
          <a:custGeom>
            <a:avLst/>
            <a:gdLst/>
            <a:ahLst/>
            <a:cxnLst/>
            <a:rect l="l" t="t" r="r" b="b"/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4" name="Line 54"/>
          <p:cNvSpPr/>
          <p:nvPr/>
        </p:nvSpPr>
        <p:spPr>
          <a:xfrm>
            <a:off x="5695950" y="4791075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5240">
            <a:solidFill>
              <a:srgbClr val="262626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3714750" y="1571625"/>
            <a:ext cx="952500" cy="361950"/>
          </a:xfrm>
          <a:prstGeom prst="ellipse">
            <a:avLst/>
          </a:prstGeom>
          <a:noFill/>
          <a:ln w="19050">
            <a:solidFill>
              <a:srgbClr val="262626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381000" y="5486400"/>
            <a:ext cx="5334000" cy="723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579120" y="5617845"/>
            <a:ext cx="6368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自洽校验</a:t>
            </a:r>
          </a:p>
        </p:txBody>
      </p:sp>
      <p:sp>
        <p:nvSpPr>
          <p:cNvPr id="58" name="Line 58"/>
          <p:cNvSpPr/>
          <p:nvPr/>
        </p:nvSpPr>
        <p:spPr>
          <a:xfrm>
            <a:off x="657225" y="5944076"/>
            <a:ext cx="66675" cy="56674"/>
          </a:xfrm>
          <a:custGeom>
            <a:avLst/>
            <a:gdLst/>
            <a:ahLst/>
            <a:cxnLst/>
            <a:rect l="l" t="t" r="r" b="b"/>
            <a:pathLst>
              <a:path w="66675" h="56674">
                <a:moveTo>
                  <a:pt x="0" y="0"/>
                </a:moveTo>
                <a:lnTo>
                  <a:pt x="66675" y="56674"/>
                </a:lnTo>
              </a:path>
            </a:pathLst>
          </a:custGeom>
          <a:noFill/>
          <a:ln w="22860">
            <a:solidFill>
              <a:srgbClr val="262626"/>
            </a:solidFill>
          </a:ln>
        </p:spPr>
      </p:sp>
      <p:sp>
        <p:nvSpPr>
          <p:cNvPr id="59" name="Line 59"/>
          <p:cNvSpPr/>
          <p:nvPr/>
        </p:nvSpPr>
        <p:spPr>
          <a:xfrm>
            <a:off x="723900" y="5858351"/>
            <a:ext cx="123825" cy="142399"/>
          </a:xfrm>
          <a:custGeom>
            <a:avLst/>
            <a:gdLst/>
            <a:ahLst/>
            <a:cxnLst/>
            <a:rect l="l" t="t" r="r" b="b"/>
            <a:pathLst>
              <a:path w="123825" h="142399">
                <a:moveTo>
                  <a:pt x="0" y="142399"/>
                </a:moveTo>
                <a:lnTo>
                  <a:pt x="123825" y="0"/>
                </a:lnTo>
              </a:path>
            </a:pathLst>
          </a:custGeom>
          <a:noFill/>
          <a:ln w="22860">
            <a:solidFill>
              <a:srgbClr val="262626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933450" y="5876925"/>
            <a:ext cx="22952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78 + 13 + 13 = 104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225165" y="5925502"/>
            <a:ext cx="12092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11 + 3 + 2 = 16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513094" y="1327547"/>
            <a:ext cx="1079644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美国场次含全部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513094" y="1518047"/>
            <a:ext cx="138426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决赛、半决赛、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513094" y="1708547"/>
            <a:ext cx="928811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季军战与决赛</a:t>
            </a:r>
          </a:p>
        </p:txBody>
      </p:sp>
      <p:sp>
        <p:nvSpPr>
          <p:cNvPr id="65" name="Rectangle 65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83018" y="6228874"/>
            <a:ext cx="49429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名义三国合办，实为美国主场——3/4 的比赛与整个决赛周都在美国时区</a:t>
            </a:r>
          </a:p>
        </p:txBody>
      </p:sp>
      <p:sp>
        <p:nvSpPr>
          <p:cNvPr id="68" name="Line 68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70522" y="6664166"/>
            <a:ext cx="35995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来源：FIFA.com（主办城市）· Wikipedia · Al Jazeera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489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04 收官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6235" y="494348"/>
            <a:ext cx="585949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淘汰赛加了一整轮：夺冠从 7 场变 8 场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57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788012" y="2171700"/>
            <a:ext cx="2615976" cy="487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0" b="1" dirty="0">
                <a:solidFill>
                  <a:srgbClr val="262626">
                    <a:alpha val="3500"/>
                  </a:srgbClr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0546" y="1126093"/>
            <a:ext cx="349107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节点＝存活球队数 · 箭上＝该轮淘汰数 · 蓝圈＝起点 48</a:t>
            </a:r>
          </a:p>
        </p:txBody>
      </p:sp>
      <p:sp>
        <p:nvSpPr>
          <p:cNvPr id="11" name="Ellipse 11"/>
          <p:cNvSpPr/>
          <p:nvPr/>
        </p:nvSpPr>
        <p:spPr>
          <a:xfrm>
            <a:off x="552450" y="1790700"/>
            <a:ext cx="419100" cy="419100"/>
          </a:xfrm>
          <a:prstGeom prst="ellipse">
            <a:avLst/>
          </a:prstGeom>
          <a:solidFill>
            <a:srgbClr val="FFFFFF"/>
          </a:solidFill>
          <a:ln w="24765">
            <a:solidFill>
              <a:srgbClr val="336EE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8546" y="1942624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48</a:t>
            </a:r>
          </a:p>
        </p:txBody>
      </p:sp>
      <p:sp>
        <p:nvSpPr>
          <p:cNvPr id="13" name="Line 13"/>
          <p:cNvSpPr/>
          <p:nvPr/>
        </p:nvSpPr>
        <p:spPr>
          <a:xfrm>
            <a:off x="100965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1930718" y="1968818"/>
            <a:ext cx="69533" cy="62865"/>
          </a:xfrm>
          <a:custGeom>
            <a:avLst/>
            <a:gdLst/>
            <a:ahLst/>
            <a:cxnLst/>
            <a:rect l="l" t="t" r="r" b="b"/>
            <a:pathLst>
              <a:path w="69533" h="62865">
                <a:moveTo>
                  <a:pt x="69533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414903" y="1804988"/>
            <a:ext cx="2372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-16</a:t>
            </a:r>
          </a:p>
        </p:txBody>
      </p:sp>
      <p:sp>
        <p:nvSpPr>
          <p:cNvPr id="16" name="Ellipse 16"/>
          <p:cNvSpPr/>
          <p:nvPr/>
        </p:nvSpPr>
        <p:spPr>
          <a:xfrm>
            <a:off x="209550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191596" y="1942624"/>
            <a:ext cx="2269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32</a:t>
            </a:r>
          </a:p>
        </p:txBody>
      </p:sp>
      <p:sp>
        <p:nvSpPr>
          <p:cNvPr id="18" name="Line 18"/>
          <p:cNvSpPr/>
          <p:nvPr/>
        </p:nvSpPr>
        <p:spPr>
          <a:xfrm>
            <a:off x="255270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19" name="Polygon 19"/>
          <p:cNvSpPr/>
          <p:nvPr/>
        </p:nvSpPr>
        <p:spPr>
          <a:xfrm>
            <a:off x="3473768" y="1968818"/>
            <a:ext cx="69533" cy="62865"/>
          </a:xfrm>
          <a:custGeom>
            <a:avLst/>
            <a:gdLst/>
            <a:ahLst/>
            <a:cxnLst/>
            <a:rect l="l" t="t" r="r" b="b"/>
            <a:pathLst>
              <a:path w="69533" h="62865">
                <a:moveTo>
                  <a:pt x="69533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957953" y="1804988"/>
            <a:ext cx="23724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-16</a:t>
            </a:r>
          </a:p>
        </p:txBody>
      </p:sp>
      <p:sp>
        <p:nvSpPr>
          <p:cNvPr id="21" name="Ellipse 21"/>
          <p:cNvSpPr/>
          <p:nvPr/>
        </p:nvSpPr>
        <p:spPr>
          <a:xfrm>
            <a:off x="363855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744427" y="1942624"/>
            <a:ext cx="2073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23" name="Line 23"/>
          <p:cNvSpPr/>
          <p:nvPr/>
        </p:nvSpPr>
        <p:spPr>
          <a:xfrm>
            <a:off x="409575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501681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532353" y="1804988"/>
            <a:ext cx="1745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-8</a:t>
            </a:r>
          </a:p>
        </p:txBody>
      </p:sp>
      <p:sp>
        <p:nvSpPr>
          <p:cNvPr id="26" name="Ellipse 26"/>
          <p:cNvSpPr/>
          <p:nvPr/>
        </p:nvSpPr>
        <p:spPr>
          <a:xfrm>
            <a:off x="518160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328232" y="1942624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28" name="Line 28"/>
          <p:cNvSpPr/>
          <p:nvPr/>
        </p:nvSpPr>
        <p:spPr>
          <a:xfrm>
            <a:off x="563880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655986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075403" y="1804988"/>
            <a:ext cx="1745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-4</a:t>
            </a:r>
          </a:p>
        </p:txBody>
      </p:sp>
      <p:sp>
        <p:nvSpPr>
          <p:cNvPr id="31" name="Ellipse 31"/>
          <p:cNvSpPr/>
          <p:nvPr/>
        </p:nvSpPr>
        <p:spPr>
          <a:xfrm>
            <a:off x="672465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71282" y="1942624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33" name="Line 33"/>
          <p:cNvSpPr/>
          <p:nvPr/>
        </p:nvSpPr>
        <p:spPr>
          <a:xfrm>
            <a:off x="718185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810291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618453" y="1804988"/>
            <a:ext cx="1745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-2</a:t>
            </a:r>
          </a:p>
        </p:txBody>
      </p:sp>
      <p:sp>
        <p:nvSpPr>
          <p:cNvPr id="36" name="Ellipse 36"/>
          <p:cNvSpPr/>
          <p:nvPr/>
        </p:nvSpPr>
        <p:spPr>
          <a:xfrm>
            <a:off x="826770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14332" y="1942624"/>
            <a:ext cx="125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38" name="Line 38"/>
          <p:cNvSpPr/>
          <p:nvPr/>
        </p:nvSpPr>
        <p:spPr>
          <a:xfrm>
            <a:off x="8724900" y="2000250"/>
            <a:ext cx="971550" cy="9525"/>
          </a:xfrm>
          <a:custGeom>
            <a:avLst/>
            <a:gdLst/>
            <a:ahLst/>
            <a:cxnLst/>
            <a:rect l="l" t="t" r="r" b="b"/>
            <a:pathLst>
              <a:path w="971550" h="9525">
                <a:moveTo>
                  <a:pt x="0" y="0"/>
                </a:moveTo>
                <a:lnTo>
                  <a:pt x="971550" y="0"/>
                </a:lnTo>
              </a:path>
            </a:pathLst>
          </a:custGeom>
          <a:noFill/>
          <a:ln w="20955">
            <a:solidFill>
              <a:srgbClr val="9B9B9B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9645968" y="1968818"/>
            <a:ext cx="69532" cy="62865"/>
          </a:xfrm>
          <a:custGeom>
            <a:avLst/>
            <a:gdLst/>
            <a:ahLst/>
            <a:cxnLst/>
            <a:rect l="l" t="t" r="r" b="b"/>
            <a:pathLst>
              <a:path w="69532" h="62865">
                <a:moveTo>
                  <a:pt x="69532" y="31433"/>
                </a:move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169027" y="1804988"/>
            <a:ext cx="1594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-1</a:t>
            </a:r>
          </a:p>
        </p:txBody>
      </p:sp>
      <p:sp>
        <p:nvSpPr>
          <p:cNvPr id="41" name="Ellipse 41"/>
          <p:cNvSpPr/>
          <p:nvPr/>
        </p:nvSpPr>
        <p:spPr>
          <a:xfrm>
            <a:off x="9810750" y="1790700"/>
            <a:ext cx="419100" cy="419100"/>
          </a:xfrm>
          <a:prstGeom prst="ellipse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967163" y="1942624"/>
            <a:ext cx="10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401300" y="1838325"/>
            <a:ext cx="990600" cy="3238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472446" y="1946672"/>
            <a:ext cx="848308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冠军 · 8 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2423" y="236839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小组赛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126704" y="2368391"/>
            <a:ext cx="356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32 强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677562" y="2368391"/>
            <a:ext cx="3410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16 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13905" y="2368391"/>
            <a:ext cx="5544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24623" y="2368391"/>
            <a:ext cx="419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半决赛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34039" y="2368391"/>
            <a:ext cx="2864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77089" y="2368391"/>
            <a:ext cx="28642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冠军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69094" y="3156347"/>
            <a:ext cx="263523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48 队的终点 · 47 队止步 + 1 队夺冠</a:t>
            </a:r>
          </a:p>
        </p:txBody>
      </p:sp>
      <p:sp>
        <p:nvSpPr>
          <p:cNvPr id="53" name="Rectangle 53"/>
          <p:cNvSpPr/>
          <p:nvPr/>
        </p:nvSpPr>
        <p:spPr>
          <a:xfrm>
            <a:off x="381000" y="3390900"/>
            <a:ext cx="381000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950578" y="3469243"/>
            <a:ext cx="670845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小组赛 16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191000" y="3390900"/>
            <a:ext cx="3810000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818261" y="3469243"/>
            <a:ext cx="555478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32强 16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001000" y="3390900"/>
            <a:ext cx="190500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720465" y="3469243"/>
            <a:ext cx="466069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62" b="1" dirty="0">
                <a:solidFill>
                  <a:srgbClr val="FFFFFF"/>
                </a:solidFill>
                <a:latin typeface="Inter"/>
                <a:ea typeface="Microsoft YaHei"/>
                <a:cs typeface="Inter"/>
              </a:rPr>
              <a:t>16强 8</a:t>
            </a:r>
          </a:p>
        </p:txBody>
      </p:sp>
      <p:sp>
        <p:nvSpPr>
          <p:cNvPr id="59" name="Rectangle 59"/>
          <p:cNvSpPr/>
          <p:nvPr/>
        </p:nvSpPr>
        <p:spPr>
          <a:xfrm>
            <a:off x="9906000" y="3390900"/>
            <a:ext cx="952500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0" name="Line 60"/>
          <p:cNvSpPr/>
          <p:nvPr/>
        </p:nvSpPr>
        <p:spPr>
          <a:xfrm>
            <a:off x="10382250" y="3343275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072997" y="3237786"/>
            <a:ext cx="61850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 4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858500" y="3390900"/>
            <a:ext cx="476250" cy="2476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63" name="Line 63"/>
          <p:cNvSpPr/>
          <p:nvPr/>
        </p:nvSpPr>
        <p:spPr>
          <a:xfrm>
            <a:off x="11096625" y="32099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1714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C4C4C4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10849319" y="3104436"/>
            <a:ext cx="494612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半决赛 2</a:t>
            </a:r>
          </a:p>
        </p:txBody>
      </p:sp>
      <p:sp>
        <p:nvSpPr>
          <p:cNvPr id="65" name="Rectangle 65"/>
          <p:cNvSpPr/>
          <p:nvPr/>
        </p:nvSpPr>
        <p:spPr>
          <a:xfrm>
            <a:off x="11334750" y="3390900"/>
            <a:ext cx="238125" cy="247650"/>
          </a:xfrm>
          <a:prstGeom prst="rect">
            <a:avLst/>
          </a:prstGeom>
          <a:solidFill>
            <a:srgbClr val="C8C8C8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11572875" y="3390900"/>
            <a:ext cx="238125" cy="247650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368618" y="3723799"/>
            <a:ext cx="1765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E6E6E"/>
                </a:solidFill>
                <a:latin typeface="JetBrains Mono"/>
                <a:ea typeface="Microsoft YaHei"/>
                <a:cs typeface="JetBrains Mono"/>
              </a:rPr>
              <a:t>16+16+8+4+2+1+1 = 48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400915" y="3739991"/>
            <a:ext cx="2420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右端两细段 = 决赛负者 1 · 冠军 1（黑）</a:t>
            </a:r>
          </a:p>
        </p:txBody>
      </p:sp>
      <p:sp>
        <p:nvSpPr>
          <p:cNvPr id="69" name="Rectangle 69"/>
          <p:cNvSpPr/>
          <p:nvPr/>
        </p:nvSpPr>
        <p:spPr>
          <a:xfrm>
            <a:off x="381000" y="4533900"/>
            <a:ext cx="5334000" cy="102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77691" y="4710351"/>
            <a:ext cx="106176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多出来的一轮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4" y="4985147"/>
            <a:ext cx="234250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2022 · 淘汰赛 4 轮 · 冠军踢 7 场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4" y="5232797"/>
            <a:ext cx="3525507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2026 · 淘汰赛 5 轮 · 冠军踢 8 场（新增 32 强轮）</a:t>
            </a:r>
          </a:p>
        </p:txBody>
      </p:sp>
      <p:sp>
        <p:nvSpPr>
          <p:cNvPr id="73" name="Rectangle 73"/>
          <p:cNvSpPr/>
          <p:nvPr/>
        </p:nvSpPr>
        <p:spPr>
          <a:xfrm>
            <a:off x="6096000" y="4533900"/>
            <a:ext cx="5715000" cy="10287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6292691" y="4710351"/>
            <a:ext cx="20537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输赢都有价（2026 奖金）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284595" y="5003482"/>
            <a:ext cx="10571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$12.5M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294596" y="5317093"/>
            <a:ext cx="576973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每队保底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094345" y="5003482"/>
            <a:ext cx="7812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$33M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104346" y="5317093"/>
            <a:ext cx="29944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亚军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904095" y="5003482"/>
            <a:ext cx="7812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$50M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914096" y="5317093"/>
            <a:ext cx="299440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冠军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513012" y="5317093"/>
            <a:ext cx="1080342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62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保底到冠军 x4.0</a:t>
            </a:r>
          </a:p>
        </p:txBody>
      </p:sp>
      <p:sp>
        <p:nvSpPr>
          <p:cNvPr id="82" name="Rectangle 82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83018" y="6228874"/>
            <a:ext cx="47184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47 队的终点都是失利，但没人空手——从保底 $12.5M 到冠军 $50M</a:t>
            </a:r>
          </a:p>
        </p:txBody>
      </p:sp>
      <p:sp>
        <p:nvSpPr>
          <p:cNvPr id="85" name="Line 8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370522" y="6664166"/>
            <a:ext cx="3815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来源：FIFA.com（赛制）· Fortune / SI（奖金，2026-06）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410131" y="6664166"/>
            <a:ext cx="4113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39541"/>
            <a:ext cx="4894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04 收官</a:t>
            </a:r>
          </a:p>
        </p:txBody>
      </p:sp>
      <p:sp>
        <p:nvSpPr>
          <p:cNvPr id="4" name="Rectangle 4"/>
          <p:cNvSpPr/>
          <p:nvPr/>
        </p:nvSpPr>
        <p:spPr>
          <a:xfrm>
            <a:off x="11315700" y="152400"/>
            <a:ext cx="85725" cy="85725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396288" y="131445"/>
            <a:ext cx="426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Aham</a:t>
            </a:r>
          </a:p>
        </p:txBody>
      </p:sp>
      <p:sp>
        <p:nvSpPr>
          <p:cNvPr id="6" name="Line 6"/>
          <p:cNvSpPr/>
          <p:nvPr/>
        </p:nvSpPr>
        <p:spPr>
          <a:xfrm>
            <a:off x="381000" y="3048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56235" y="494348"/>
            <a:ext cx="694845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16 强起只剩 16 场：决赛 7 月 19 日 MetLife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57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370046" y="1126093"/>
            <a:ext cx="4492365" cy="1752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62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淘汰赛 22 天 · 横轴＝距 06-28 天数 · 条末数字＝该轮天数 · 蓝＝决赛</a:t>
            </a:r>
          </a:p>
        </p:txBody>
      </p:sp>
      <p:sp>
        <p:nvSpPr>
          <p:cNvPr id="10" name="Line 10"/>
          <p:cNvSpPr/>
          <p:nvPr/>
        </p:nvSpPr>
        <p:spPr>
          <a:xfrm>
            <a:off x="1809750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1" name="TextBox 11"/>
          <p:cNvSpPr txBox="1"/>
          <p:nvPr/>
        </p:nvSpPr>
        <p:spPr>
          <a:xfrm>
            <a:off x="1765862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0</a:t>
            </a:r>
          </a:p>
        </p:txBody>
      </p:sp>
      <p:sp>
        <p:nvSpPr>
          <p:cNvPr id="12" name="Line 12"/>
          <p:cNvSpPr/>
          <p:nvPr/>
        </p:nvSpPr>
        <p:spPr>
          <a:xfrm>
            <a:off x="2873086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3" name="TextBox 13"/>
          <p:cNvSpPr txBox="1"/>
          <p:nvPr/>
        </p:nvSpPr>
        <p:spPr>
          <a:xfrm>
            <a:off x="2829198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14" name="Line 14"/>
          <p:cNvSpPr/>
          <p:nvPr/>
        </p:nvSpPr>
        <p:spPr>
          <a:xfrm>
            <a:off x="3936423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5" name="TextBox 15"/>
          <p:cNvSpPr txBox="1"/>
          <p:nvPr/>
        </p:nvSpPr>
        <p:spPr>
          <a:xfrm>
            <a:off x="3892534" y="1351836"/>
            <a:ext cx="87776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8</a:t>
            </a:r>
          </a:p>
        </p:txBody>
      </p:sp>
      <p:sp>
        <p:nvSpPr>
          <p:cNvPr id="16" name="Line 16"/>
          <p:cNvSpPr/>
          <p:nvPr/>
        </p:nvSpPr>
        <p:spPr>
          <a:xfrm>
            <a:off x="4999759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7" name="TextBox 17"/>
          <p:cNvSpPr txBox="1"/>
          <p:nvPr/>
        </p:nvSpPr>
        <p:spPr>
          <a:xfrm>
            <a:off x="4927774" y="1351836"/>
            <a:ext cx="143969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12</a:t>
            </a:r>
          </a:p>
        </p:txBody>
      </p:sp>
      <p:sp>
        <p:nvSpPr>
          <p:cNvPr id="18" name="Line 18"/>
          <p:cNvSpPr/>
          <p:nvPr/>
        </p:nvSpPr>
        <p:spPr>
          <a:xfrm>
            <a:off x="6063095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19" name="TextBox 19"/>
          <p:cNvSpPr txBox="1"/>
          <p:nvPr/>
        </p:nvSpPr>
        <p:spPr>
          <a:xfrm>
            <a:off x="5991111" y="1351836"/>
            <a:ext cx="143969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16</a:t>
            </a:r>
          </a:p>
        </p:txBody>
      </p:sp>
      <p:sp>
        <p:nvSpPr>
          <p:cNvPr id="20" name="Line 20"/>
          <p:cNvSpPr/>
          <p:nvPr/>
        </p:nvSpPr>
        <p:spPr>
          <a:xfrm>
            <a:off x="7126432" y="1466850"/>
            <a:ext cx="9525" cy="2590800"/>
          </a:xfrm>
          <a:custGeom>
            <a:avLst/>
            <a:gdLst/>
            <a:ahLst/>
            <a:cxnLst/>
            <a:rect l="l" t="t" r="r" b="b"/>
            <a:pathLst>
              <a:path w="9525" h="2590800">
                <a:moveTo>
                  <a:pt x="0" y="0"/>
                </a:moveTo>
                <a:lnTo>
                  <a:pt x="0" y="2590800"/>
                </a:lnTo>
              </a:path>
            </a:pathLst>
          </a:custGeom>
          <a:noFill/>
          <a:ln w="4762">
            <a:solidFill>
              <a:srgbClr val="E7E7E7"/>
            </a:solidFill>
            <a:prstDash val="sysDot"/>
          </a:ln>
        </p:spPr>
      </p:sp>
      <p:sp>
        <p:nvSpPr>
          <p:cNvPr id="21" name="TextBox 21"/>
          <p:cNvSpPr txBox="1"/>
          <p:nvPr/>
        </p:nvSpPr>
        <p:spPr>
          <a:xfrm>
            <a:off x="7047704" y="1351836"/>
            <a:ext cx="157455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2962" y="1658620"/>
            <a:ext cx="5339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32 强轮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809750" y="1612582"/>
            <a:ext cx="1595438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452380" y="167481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9997" y="2084070"/>
            <a:ext cx="51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16 强轮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405188" y="2038350"/>
            <a:ext cx="1062990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15716" y="210026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1982" y="2509520"/>
            <a:ext cx="6048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1/4 决赛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733925" y="2464118"/>
            <a:ext cx="797242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579052" y="252571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9621" y="2934970"/>
            <a:ext cx="4572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半决赛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62662" y="2888932"/>
            <a:ext cx="531495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42389" y="2951162"/>
            <a:ext cx="923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9621" y="3360420"/>
            <a:ext cx="4572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季军战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126605" y="3314700"/>
            <a:ext cx="265748" cy="209550"/>
          </a:xfrm>
          <a:prstGeom prst="rect">
            <a:avLst/>
          </a:prstGeom>
          <a:solidFill>
            <a:srgbClr val="9B9B9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439891" y="3376612"/>
            <a:ext cx="78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4420" y="3785870"/>
            <a:ext cx="3124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决赛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392352" y="3740468"/>
            <a:ext cx="265748" cy="209550"/>
          </a:xfrm>
          <a:prstGeom prst="rect">
            <a:avLst/>
          </a:prstGeom>
          <a:solidFill>
            <a:srgbClr val="336EE8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705725" y="3802062"/>
            <a:ext cx="78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</a:t>
            </a:r>
          </a:p>
        </p:txBody>
      </p:sp>
      <p:sp>
        <p:nvSpPr>
          <p:cNvPr id="40" name="Line 40"/>
          <p:cNvSpPr/>
          <p:nvPr/>
        </p:nvSpPr>
        <p:spPr>
          <a:xfrm>
            <a:off x="2979420" y="1447800"/>
            <a:ext cx="9525" cy="2609850"/>
          </a:xfrm>
          <a:custGeom>
            <a:avLst/>
            <a:gdLst/>
            <a:ahLst/>
            <a:cxnLst/>
            <a:rect l="l" t="t" r="r" b="b"/>
            <a:pathLst>
              <a:path w="9525" h="2609850">
                <a:moveTo>
                  <a:pt x="0" y="0"/>
                </a:moveTo>
                <a:lnTo>
                  <a:pt x="0" y="2609850"/>
                </a:lnTo>
              </a:path>
            </a:pathLst>
          </a:custGeom>
          <a:noFill/>
          <a:ln w="11430">
            <a:solidFill>
              <a:srgbClr val="262626"/>
            </a:solidFill>
            <a:custDash>
              <a:ds d="333333" sp="166666"/>
            </a:custDash>
          </a:ln>
        </p:spPr>
      </p:sp>
      <p:sp>
        <p:nvSpPr>
          <p:cNvPr id="41" name="TextBox 41"/>
          <p:cNvSpPr txBox="1"/>
          <p:nvPr/>
        </p:nvSpPr>
        <p:spPr>
          <a:xfrm>
            <a:off x="2848860" y="4114086"/>
            <a:ext cx="261120" cy="144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12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今日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0522" y="4540091"/>
            <a:ext cx="444279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0=06-28 · 6=07-04 · 11=07-09 · 16=07-14 · 20=07-18 · 21=07-19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9094" y="5042297"/>
            <a:ext cx="2236032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自 07-04 十六强起，剩余场次：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19450" y="5000625"/>
            <a:ext cx="197425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8+4+2+1+1 = 16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67712" y="1307306"/>
            <a:ext cx="98787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收官三看点</a:t>
            </a:r>
          </a:p>
        </p:txBody>
      </p:sp>
      <p:sp>
        <p:nvSpPr>
          <p:cNvPr id="46" name="Line 46"/>
          <p:cNvSpPr/>
          <p:nvPr/>
        </p:nvSpPr>
        <p:spPr>
          <a:xfrm>
            <a:off x="8382000" y="15621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362950" y="1838325"/>
            <a:ext cx="31899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01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87289" y="1882854"/>
            <a:ext cx="1747714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07-04 · 十六强开打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789670" y="2131695"/>
            <a:ext cx="16554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8 场单败淘汰，至 07-07</a:t>
            </a:r>
          </a:p>
        </p:txBody>
      </p:sp>
      <p:sp>
        <p:nvSpPr>
          <p:cNvPr id="50" name="Line 50"/>
          <p:cNvSpPr/>
          <p:nvPr/>
        </p:nvSpPr>
        <p:spPr>
          <a:xfrm>
            <a:off x="8382000" y="23050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362950" y="2466975"/>
            <a:ext cx="3490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02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787289" y="2511504"/>
            <a:ext cx="167134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07-14/15 · 半决赛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789670" y="2760345"/>
            <a:ext cx="12153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阿灵顿 · 亚特兰大</a:t>
            </a:r>
          </a:p>
        </p:txBody>
      </p:sp>
      <p:sp>
        <p:nvSpPr>
          <p:cNvPr id="54" name="Line 54"/>
          <p:cNvSpPr/>
          <p:nvPr/>
        </p:nvSpPr>
        <p:spPr>
          <a:xfrm>
            <a:off x="8382000" y="29337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362950" y="3095625"/>
            <a:ext cx="3490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62626"/>
                </a:solidFill>
                <a:latin typeface="JetBrains Mono"/>
                <a:ea typeface="Microsoft YaHei"/>
                <a:cs typeface="JetBrains Mono"/>
              </a:rPr>
              <a:t>03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787289" y="3140154"/>
            <a:ext cx="1169502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07-19 · 决赛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789670" y="3388995"/>
            <a:ext cx="127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MetLife 东卢瑟福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789670" y="3579495"/>
            <a:ext cx="14055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6E6E"/>
                </a:solidFill>
                <a:latin typeface="Inter"/>
                <a:ea typeface="Microsoft YaHei"/>
                <a:cs typeface="Inter"/>
              </a:rPr>
              <a:t>季军战 07-18 迈阿密</a:t>
            </a:r>
          </a:p>
        </p:txBody>
      </p:sp>
      <p:sp>
        <p:nvSpPr>
          <p:cNvPr id="59" name="Rectangle 59"/>
          <p:cNvSpPr/>
          <p:nvPr/>
        </p:nvSpPr>
        <p:spPr>
          <a:xfrm>
            <a:off x="381000" y="6115050"/>
            <a:ext cx="11430000" cy="34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78644" y="6232922"/>
            <a:ext cx="735449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So-What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83018" y="6228874"/>
            <a:ext cx="52659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62626"/>
                </a:solidFill>
                <a:latin typeface="Inter"/>
                <a:ea typeface="Microsoft YaHei"/>
                <a:cs typeface="Inter"/>
              </a:rPr>
              <a:t>16 天 16 场，每场都可能是某支球队 2026 的最后一场——这页就是观赛日历</a:t>
            </a:r>
          </a:p>
        </p:txBody>
      </p:sp>
      <p:sp>
        <p:nvSpPr>
          <p:cNvPr id="62" name="Line 62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7E7E7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370522" y="6664166"/>
            <a:ext cx="477332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9B9B"/>
                </a:solidFill>
                <a:latin typeface="Inter"/>
                <a:ea typeface="Microsoft YaHei"/>
                <a:cs typeface="Inter"/>
              </a:rPr>
              <a:t>来源：ESPN · FOX Sports · Olympics.com（赛程，检索于 2026-07-02）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345066" y="6664166"/>
            <a:ext cx="4764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B9B9B"/>
                </a:solidFill>
                <a:latin typeface="JetBrains Mono"/>
                <a:ea typeface="Microsoft YaHei"/>
                <a:cs typeface="JetBrains Mon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