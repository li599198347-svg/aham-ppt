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jpg" ContentType="image/jpeg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381000" y="571500"/>
            <a:ext cx="114300" cy="114300"/>
          </a:xfrm>
          <a:prstGeom prst="rect">
            <a:avLst/>
          </a:prstGeom>
          <a:solidFill>
            <a:srgbClr val="336EE8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572452" y="570071"/>
            <a:ext cx="560661" cy="2895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Aham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109662" y="602456"/>
            <a:ext cx="1154073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· 运营改善咨询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335280" y="2659380"/>
            <a:ext cx="4507992" cy="7315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600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三条产线运营诊断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335280" y="3268980"/>
            <a:ext cx="3955923" cy="7315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600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与改善实施方案</a:t>
            </a:r>
          </a:p>
        </p:txBody>
      </p:sp>
      <p:sp>
        <p:nvSpPr>
          <p:cNvPr id="8" name="Rectangle 8"/>
          <p:cNvSpPr/>
          <p:nvPr/>
        </p:nvSpPr>
        <p:spPr>
          <a:xfrm>
            <a:off x="400050" y="3905250"/>
            <a:ext cx="1104900" cy="38100"/>
          </a:xfrm>
          <a:prstGeom prst="rect">
            <a:avLst/>
          </a:prstGeom>
          <a:solidFill>
            <a:srgbClr val="336EE8"/>
          </a:solidFill>
          <a:ln>
            <a:noFill/>
          </a:ln>
        </p:spPr>
      </p:sp>
      <p:sp>
        <p:nvSpPr>
          <p:cNvPr id="9" name="TextBox 9"/>
          <p:cNvSpPr txBox="1"/>
          <p:nvPr/>
        </p:nvSpPr>
        <p:spPr>
          <a:xfrm>
            <a:off x="361950" y="4200525"/>
            <a:ext cx="3389948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综合效率</a:t>
            </a:r>
            <a:r>
              <a:rPr lang="zh-CN" sz="1500" dirty="0">
                <a:solidFill>
                  <a:srgbClr val="262626"/>
                </a:solidFill>
                <a:latin typeface="JetBrains Mono"/>
                <a:ea typeface="Microsoft YaHei"/>
                <a:cs typeface="JetBrains Mono"/>
              </a:rPr>
              <a:t>71%</a:t>
            </a:r>
            <a:r>
              <a:rPr lang="zh-CN" sz="1500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→</a:t>
            </a:r>
            <a:r>
              <a:rPr lang="zh-CN" sz="1500" dirty="0">
                <a:solidFill>
                  <a:srgbClr val="262626"/>
                </a:solidFill>
                <a:latin typeface="JetBrains Mono"/>
                <a:ea typeface="Microsoft YaHei"/>
                <a:cs typeface="JetBrains Mono"/>
              </a:rPr>
              <a:t>85%</a:t>
            </a:r>
            <a:r>
              <a:rPr lang="zh-CN" sz="1500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的 90 天改善路径</a:t>
            </a:r>
          </a:p>
        </p:txBody>
      </p:sp>
      <p:sp>
        <p:nvSpPr>
          <p:cNvPr id="10" name="Line 10"/>
          <p:cNvSpPr/>
          <p:nvPr/>
        </p:nvSpPr>
        <p:spPr>
          <a:xfrm>
            <a:off x="8153400" y="2724150"/>
            <a:ext cx="9525" cy="2038350"/>
          </a:xfrm>
          <a:custGeom>
            <a:avLst/>
            <a:gdLst/>
            <a:ahLst/>
            <a:cxnLst/>
            <a:rect l="l" t="t" r="r" b="b"/>
            <a:pathLst>
              <a:path w="9525" h="2038350">
                <a:moveTo>
                  <a:pt x="0" y="0"/>
                </a:moveTo>
                <a:lnTo>
                  <a:pt x="0" y="2038350"/>
                </a:lnTo>
              </a:path>
            </a:pathLst>
          </a:custGeom>
          <a:noFill/>
          <a:ln w="9525">
            <a:solidFill>
              <a:srgbClr val="E7E7E7"/>
            </a:solidFill>
          </a:ln>
        </p:spPr>
      </p:sp>
      <p:sp>
        <p:nvSpPr>
          <p:cNvPr id="11" name="TextBox 11"/>
          <p:cNvSpPr txBox="1"/>
          <p:nvPr/>
        </p:nvSpPr>
        <p:spPr>
          <a:xfrm>
            <a:off x="8483918" y="2790349"/>
            <a:ext cx="100731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目录 CONTENTS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8481060" y="3223260"/>
            <a:ext cx="179451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9B9B9B"/>
                </a:solidFill>
                <a:latin typeface="JetBrains Mono"/>
                <a:ea typeface="Microsoft YaHei"/>
                <a:cs typeface="JetBrains Mono"/>
              </a:rPr>
              <a:t>01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8899208" y="3215164"/>
            <a:ext cx="1708309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现状诊断与基准对标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481060" y="3623310"/>
            <a:ext cx="223266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9B9B9B"/>
                </a:solidFill>
                <a:latin typeface="JetBrains Mono"/>
                <a:ea typeface="Microsoft YaHei"/>
                <a:cs typeface="JetBrains Mono"/>
              </a:rPr>
              <a:t>02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8899208" y="3615214"/>
            <a:ext cx="1708309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停机与不良根因分析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8481060" y="4023360"/>
            <a:ext cx="223266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9B9B9B"/>
                </a:solidFill>
                <a:latin typeface="JetBrains Mono"/>
                <a:ea typeface="Microsoft YaHei"/>
                <a:cs typeface="JetBrains Mono"/>
              </a:rPr>
              <a:t>03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8899208" y="4015264"/>
            <a:ext cx="1522095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改善方案选型对照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8481060" y="4423410"/>
            <a:ext cx="223266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9B9B9B"/>
                </a:solidFill>
                <a:latin typeface="JetBrains Mono"/>
                <a:ea typeface="Microsoft YaHei"/>
                <a:cs typeface="JetBrains Mono"/>
              </a:rPr>
              <a:t>04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8899208" y="4415314"/>
            <a:ext cx="1782794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90 天实施与责任矩阵</a:t>
            </a:r>
          </a:p>
        </p:txBody>
      </p:sp>
      <p:sp>
        <p:nvSpPr>
          <p:cNvPr id="20" name="Line 20"/>
          <p:cNvSpPr/>
          <p:nvPr/>
        </p:nvSpPr>
        <p:spPr>
          <a:xfrm>
            <a:off x="381000" y="6172200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7E7E7"/>
            </a:solidFill>
          </a:ln>
        </p:spPr>
      </p:sp>
      <p:sp>
        <p:nvSpPr>
          <p:cNvPr id="21" name="TextBox 21"/>
          <p:cNvSpPr txBox="1"/>
          <p:nvPr/>
        </p:nvSpPr>
        <p:spPr>
          <a:xfrm>
            <a:off x="368618" y="6390799"/>
            <a:ext cx="398345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受众：工厂管理层 · 日期：</a:t>
            </a:r>
            <a:r>
              <a:rPr lang="zh-CN" sz="975" dirty="0">
                <a:solidFill>
                  <a:srgbClr val="9B9B9B"/>
                </a:solidFill>
                <a:latin typeface="JetBrains Mono"/>
                <a:ea typeface="Microsoft YaHei"/>
                <a:cs typeface="JetBrains Mono"/>
              </a:rPr>
              <a:t>2026-06-21</a:t>
            </a:r>
            <a:r>
              <a:rPr lang="zh-CN" sz="975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· 编号：</a:t>
            </a:r>
            <a:r>
              <a:rPr lang="zh-CN" sz="975" dirty="0">
                <a:solidFill>
                  <a:srgbClr val="9B9B9B"/>
                </a:solidFill>
                <a:latin typeface="JetBrains Mono"/>
                <a:ea typeface="Microsoft YaHei"/>
                <a:cs typeface="JetBrains Mono"/>
              </a:rPr>
              <a:t>OPS-2026-014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0780466" y="6390799"/>
            <a:ext cx="104291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75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机密 · 仅限内部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370522" y="139541"/>
            <a:ext cx="1641562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产线运营诊断 · 第一部分 现状</a:t>
            </a:r>
          </a:p>
        </p:txBody>
      </p:sp>
      <p:sp>
        <p:nvSpPr>
          <p:cNvPr id="4" name="Rectangle 4"/>
          <p:cNvSpPr/>
          <p:nvPr/>
        </p:nvSpPr>
        <p:spPr>
          <a:xfrm>
            <a:off x="11410950" y="152400"/>
            <a:ext cx="85725" cy="85725"/>
          </a:xfrm>
          <a:prstGeom prst="rect">
            <a:avLst/>
          </a:prstGeom>
          <a:solidFill>
            <a:srgbClr val="336EE8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1468329" y="131445"/>
            <a:ext cx="354101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Aham</a:t>
            </a:r>
          </a:p>
        </p:txBody>
      </p:sp>
      <p:sp>
        <p:nvSpPr>
          <p:cNvPr id="6" name="Line 6"/>
          <p:cNvSpPr/>
          <p:nvPr/>
        </p:nvSpPr>
        <p:spPr>
          <a:xfrm>
            <a:off x="381000" y="304800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7E7E7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50520" y="483870"/>
            <a:ext cx="7145846" cy="4876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400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综合效率 71.2%，低于行业基准 14 个百分点</a:t>
            </a:r>
          </a:p>
        </p:txBody>
      </p:sp>
      <p:sp>
        <p:nvSpPr>
          <p:cNvPr id="8" name="Line 8"/>
          <p:cNvSpPr/>
          <p:nvPr/>
        </p:nvSpPr>
        <p:spPr>
          <a:xfrm>
            <a:off x="381000" y="895350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7E7E7"/>
            </a:solidFill>
          </a:ln>
        </p:spPr>
      </p:sp>
      <p:sp>
        <p:nvSpPr>
          <p:cNvPr id="9" name="Line 9"/>
          <p:cNvSpPr/>
          <p:nvPr/>
        </p:nvSpPr>
        <p:spPr>
          <a:xfrm>
            <a:off x="381000" y="6572250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7E7E7"/>
            </a:solidFill>
          </a:ln>
        </p:spPr>
      </p:sp>
      <p:sp>
        <p:nvSpPr>
          <p:cNvPr id="10" name="TextBox 10"/>
          <p:cNvSpPr txBox="1"/>
          <p:nvPr/>
        </p:nvSpPr>
        <p:spPr>
          <a:xfrm>
            <a:off x="370522" y="6664166"/>
            <a:ext cx="1997011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来源：MES 系统 · 2026-Q1 现场测算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457122" y="6664166"/>
            <a:ext cx="364355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825" dirty="0">
                <a:solidFill>
                  <a:srgbClr val="9B9B9B"/>
                </a:solidFill>
                <a:latin typeface="JetBrains Mono"/>
                <a:ea typeface="Microsoft YaHei"/>
                <a:cs typeface="JetBrains Mono"/>
              </a:rPr>
              <a:t>02 / 11</a:t>
            </a:r>
          </a:p>
        </p:txBody>
      </p:sp>
      <p:sp>
        <p:nvSpPr>
          <p:cNvPr id="12" name="Line 12"/>
          <p:cNvSpPr/>
          <p:nvPr/>
        </p:nvSpPr>
        <p:spPr>
          <a:xfrm>
            <a:off x="3009900" y="1143000"/>
            <a:ext cx="9525" cy="895350"/>
          </a:xfrm>
          <a:custGeom>
            <a:avLst/>
            <a:gdLst/>
            <a:ahLst/>
            <a:cxnLst/>
            <a:rect l="l" t="t" r="r" b="b"/>
            <a:pathLst>
              <a:path w="9525" h="895350">
                <a:moveTo>
                  <a:pt x="0" y="0"/>
                </a:moveTo>
                <a:lnTo>
                  <a:pt x="0" y="895350"/>
                </a:lnTo>
              </a:path>
            </a:pathLst>
          </a:custGeom>
          <a:noFill/>
          <a:ln w="9525">
            <a:solidFill>
              <a:srgbClr val="E7E7E7"/>
            </a:solidFill>
          </a:ln>
        </p:spPr>
      </p:sp>
      <p:sp>
        <p:nvSpPr>
          <p:cNvPr id="13" name="Line 13"/>
          <p:cNvSpPr/>
          <p:nvPr/>
        </p:nvSpPr>
        <p:spPr>
          <a:xfrm>
            <a:off x="5867400" y="1143000"/>
            <a:ext cx="9525" cy="895350"/>
          </a:xfrm>
          <a:custGeom>
            <a:avLst/>
            <a:gdLst/>
            <a:ahLst/>
            <a:cxnLst/>
            <a:rect l="l" t="t" r="r" b="b"/>
            <a:pathLst>
              <a:path w="9525" h="895350">
                <a:moveTo>
                  <a:pt x="0" y="0"/>
                </a:moveTo>
                <a:lnTo>
                  <a:pt x="0" y="895350"/>
                </a:lnTo>
              </a:path>
            </a:pathLst>
          </a:custGeom>
          <a:noFill/>
          <a:ln w="9525">
            <a:solidFill>
              <a:srgbClr val="E7E7E7"/>
            </a:solidFill>
          </a:ln>
        </p:spPr>
      </p:sp>
      <p:sp>
        <p:nvSpPr>
          <p:cNvPr id="14" name="Line 14"/>
          <p:cNvSpPr/>
          <p:nvPr/>
        </p:nvSpPr>
        <p:spPr>
          <a:xfrm>
            <a:off x="8724900" y="1143000"/>
            <a:ext cx="9525" cy="895350"/>
          </a:xfrm>
          <a:custGeom>
            <a:avLst/>
            <a:gdLst/>
            <a:ahLst/>
            <a:cxnLst/>
            <a:rect l="l" t="t" r="r" b="b"/>
            <a:pathLst>
              <a:path w="9525" h="895350">
                <a:moveTo>
                  <a:pt x="0" y="0"/>
                </a:moveTo>
                <a:lnTo>
                  <a:pt x="0" y="895350"/>
                </a:lnTo>
              </a:path>
            </a:pathLst>
          </a:custGeom>
          <a:noFill/>
          <a:ln w="9525">
            <a:solidFill>
              <a:srgbClr val="E7E7E7"/>
            </a:solidFill>
          </a:ln>
        </p:spPr>
      </p:sp>
      <p:sp>
        <p:nvSpPr>
          <p:cNvPr id="15" name="TextBox 15"/>
          <p:cNvSpPr txBox="1"/>
          <p:nvPr/>
        </p:nvSpPr>
        <p:spPr>
          <a:xfrm>
            <a:off x="366712" y="1212056"/>
            <a:ext cx="103905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综合效率 OEE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335280" y="1421130"/>
            <a:ext cx="1167975" cy="7315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600" b="1" dirty="0">
                <a:solidFill>
                  <a:srgbClr val="262626"/>
                </a:solidFill>
                <a:latin typeface="JetBrains Mono"/>
                <a:ea typeface="Microsoft YaHei"/>
                <a:cs typeface="JetBrains Mono"/>
              </a:rPr>
              <a:t>71.2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533525" y="1647825"/>
            <a:ext cx="158591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%</a:t>
            </a:r>
          </a:p>
        </p:txBody>
      </p:sp>
      <p:sp>
        <p:nvSpPr>
          <p:cNvPr id="18" name="Ellipse 18"/>
          <p:cNvSpPr/>
          <p:nvPr/>
        </p:nvSpPr>
        <p:spPr>
          <a:xfrm>
            <a:off x="390525" y="1924050"/>
            <a:ext cx="76200" cy="76200"/>
          </a:xfrm>
          <a:prstGeom prst="ellipse">
            <a:avLst/>
          </a:prstGeom>
          <a:solidFill>
            <a:srgbClr val="9E3D31"/>
          </a:solidFill>
          <a:ln>
            <a:noFill/>
          </a:ln>
        </p:spPr>
      </p:sp>
      <p:sp>
        <p:nvSpPr>
          <p:cNvPr id="19" name="TextBox 19"/>
          <p:cNvSpPr txBox="1"/>
          <p:nvPr/>
        </p:nvSpPr>
        <p:spPr>
          <a:xfrm>
            <a:off x="548640" y="1886902"/>
            <a:ext cx="89311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同比 −3.1 pt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3224212" y="1212056"/>
            <a:ext cx="85010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计划达成率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3192780" y="1421130"/>
            <a:ext cx="1305992" cy="7315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600" b="1" dirty="0">
                <a:solidFill>
                  <a:srgbClr val="262626"/>
                </a:solidFill>
                <a:latin typeface="JetBrains Mono"/>
                <a:ea typeface="Microsoft YaHei"/>
                <a:cs typeface="JetBrains Mono"/>
              </a:rPr>
              <a:t>86.4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4391025" y="1647825"/>
            <a:ext cx="158591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%</a:t>
            </a:r>
          </a:p>
        </p:txBody>
      </p:sp>
      <p:sp>
        <p:nvSpPr>
          <p:cNvPr id="23" name="Ellipse 23"/>
          <p:cNvSpPr/>
          <p:nvPr/>
        </p:nvSpPr>
        <p:spPr>
          <a:xfrm>
            <a:off x="3248025" y="1924050"/>
            <a:ext cx="76200" cy="76200"/>
          </a:xfrm>
          <a:prstGeom prst="ellipse">
            <a:avLst/>
          </a:prstGeom>
          <a:solidFill>
            <a:srgbClr val="8A7333"/>
          </a:solidFill>
          <a:ln>
            <a:noFill/>
          </a:ln>
        </p:spPr>
      </p:sp>
      <p:sp>
        <p:nvSpPr>
          <p:cNvPr id="24" name="TextBox 24"/>
          <p:cNvSpPr txBox="1"/>
          <p:nvPr/>
        </p:nvSpPr>
        <p:spPr>
          <a:xfrm>
            <a:off x="3406140" y="1886902"/>
            <a:ext cx="89311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环比 −1.8 pt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6081712" y="1212056"/>
            <a:ext cx="101441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平均停机时长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6050280" y="1421130"/>
            <a:ext cx="1002354" cy="7315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600" b="1" dirty="0">
                <a:solidFill>
                  <a:srgbClr val="262626"/>
                </a:solidFill>
                <a:latin typeface="JetBrains Mono"/>
                <a:ea typeface="Microsoft YaHei"/>
                <a:cs typeface="JetBrains Mono"/>
              </a:rPr>
              <a:t>4.7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6981825" y="1647825"/>
            <a:ext cx="498158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h/日</a:t>
            </a:r>
          </a:p>
        </p:txBody>
      </p:sp>
      <p:sp>
        <p:nvSpPr>
          <p:cNvPr id="28" name="Ellipse 28"/>
          <p:cNvSpPr/>
          <p:nvPr/>
        </p:nvSpPr>
        <p:spPr>
          <a:xfrm>
            <a:off x="6105525" y="1924050"/>
            <a:ext cx="76200" cy="76200"/>
          </a:xfrm>
          <a:prstGeom prst="ellipse">
            <a:avLst/>
          </a:prstGeom>
          <a:solidFill>
            <a:srgbClr val="9E3D31"/>
          </a:solidFill>
          <a:ln>
            <a:noFill/>
          </a:ln>
        </p:spPr>
      </p:sp>
      <p:sp>
        <p:nvSpPr>
          <p:cNvPr id="29" name="TextBox 29"/>
          <p:cNvSpPr txBox="1"/>
          <p:nvPr/>
        </p:nvSpPr>
        <p:spPr>
          <a:xfrm>
            <a:off x="6263640" y="1886902"/>
            <a:ext cx="847106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环比 +0.9 h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8939212" y="1212056"/>
            <a:ext cx="100619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一次良率 FPY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8907780" y="1421130"/>
            <a:ext cx="1305992" cy="7315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600" b="1" dirty="0">
                <a:solidFill>
                  <a:srgbClr val="262626"/>
                </a:solidFill>
                <a:latin typeface="JetBrains Mono"/>
                <a:ea typeface="Microsoft YaHei"/>
                <a:cs typeface="JetBrains Mono"/>
              </a:rPr>
              <a:t>93.5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0106025" y="1647825"/>
            <a:ext cx="158591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%</a:t>
            </a:r>
          </a:p>
        </p:txBody>
      </p:sp>
      <p:sp>
        <p:nvSpPr>
          <p:cNvPr id="33" name="Ellipse 33"/>
          <p:cNvSpPr/>
          <p:nvPr/>
        </p:nvSpPr>
        <p:spPr>
          <a:xfrm>
            <a:off x="8963025" y="1924050"/>
            <a:ext cx="76200" cy="76200"/>
          </a:xfrm>
          <a:prstGeom prst="ellipse">
            <a:avLst/>
          </a:prstGeom>
          <a:solidFill>
            <a:srgbClr val="5A7A60"/>
          </a:solidFill>
          <a:ln>
            <a:noFill/>
          </a:ln>
        </p:spPr>
      </p:sp>
      <p:sp>
        <p:nvSpPr>
          <p:cNvPr id="34" name="TextBox 34"/>
          <p:cNvSpPr txBox="1"/>
          <p:nvPr/>
        </p:nvSpPr>
        <p:spPr>
          <a:xfrm>
            <a:off x="9121140" y="1886902"/>
            <a:ext cx="93145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环比 +0.4 pt</a:t>
            </a:r>
          </a:p>
        </p:txBody>
      </p:sp>
      <p:sp>
        <p:nvSpPr>
          <p:cNvPr id="35" name="Line 35"/>
          <p:cNvSpPr/>
          <p:nvPr/>
        </p:nvSpPr>
        <p:spPr>
          <a:xfrm>
            <a:off x="381000" y="2209800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7E7E7"/>
            </a:solidFill>
          </a:ln>
        </p:spPr>
      </p:sp>
      <p:sp>
        <p:nvSpPr>
          <p:cNvPr id="36" name="TextBox 36"/>
          <p:cNvSpPr txBox="1"/>
          <p:nvPr/>
        </p:nvSpPr>
        <p:spPr>
          <a:xfrm>
            <a:off x="361950" y="2447925"/>
            <a:ext cx="187833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三条产线效率明细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2791968" y="2504599"/>
            <a:ext cx="122091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75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基准 OEE 目标 85%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367665" y="2877502"/>
            <a:ext cx="34871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产线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2581084" y="2877502"/>
            <a:ext cx="67075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b="1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节拍达成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3742342" y="2877502"/>
            <a:ext cx="61439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b="1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停机(h)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4837605" y="2877502"/>
            <a:ext cx="50973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b="1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不良率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5701665" y="2877502"/>
            <a:ext cx="34871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状态</a:t>
            </a:r>
          </a:p>
        </p:txBody>
      </p:sp>
      <p:sp>
        <p:nvSpPr>
          <p:cNvPr id="43" name="Line 43"/>
          <p:cNvSpPr/>
          <p:nvPr/>
        </p:nvSpPr>
        <p:spPr>
          <a:xfrm>
            <a:off x="381000" y="3105150"/>
            <a:ext cx="6286500" cy="9525"/>
          </a:xfrm>
          <a:custGeom>
            <a:avLst/>
            <a:gdLst/>
            <a:ahLst/>
            <a:cxnLst/>
            <a:rect l="l" t="t" r="r" b="b"/>
            <a:pathLst>
              <a:path w="6286500" h="9525">
                <a:moveTo>
                  <a:pt x="0" y="0"/>
                </a:moveTo>
                <a:lnTo>
                  <a:pt x="6286500" y="0"/>
                </a:lnTo>
              </a:path>
            </a:pathLst>
          </a:custGeom>
          <a:noFill/>
          <a:ln w="11430">
            <a:solidFill>
              <a:srgbClr val="E7E7E7"/>
            </a:solidFill>
          </a:ln>
        </p:spPr>
      </p:sp>
      <p:sp>
        <p:nvSpPr>
          <p:cNvPr id="44" name="TextBox 44"/>
          <p:cNvSpPr txBox="1"/>
          <p:nvPr/>
        </p:nvSpPr>
        <p:spPr>
          <a:xfrm>
            <a:off x="366712" y="3326606"/>
            <a:ext cx="66115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冲压线 A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2772370" y="3326606"/>
            <a:ext cx="48041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125" dirty="0">
                <a:solidFill>
                  <a:srgbClr val="262626"/>
                </a:solidFill>
                <a:latin typeface="JetBrains Mono"/>
                <a:ea typeface="Microsoft YaHei"/>
                <a:cs typeface="JetBrains Mono"/>
              </a:rPr>
              <a:t>82.0%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4058007" y="3326606"/>
            <a:ext cx="29968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125" dirty="0">
                <a:solidFill>
                  <a:srgbClr val="262626"/>
                </a:solidFill>
                <a:latin typeface="JetBrains Mono"/>
                <a:ea typeface="Microsoft YaHei"/>
                <a:cs typeface="JetBrains Mono"/>
              </a:rPr>
              <a:t>3.2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4999315" y="3326606"/>
            <a:ext cx="34897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125" dirty="0">
                <a:solidFill>
                  <a:srgbClr val="262626"/>
                </a:solidFill>
                <a:latin typeface="JetBrains Mono"/>
                <a:ea typeface="Microsoft YaHei"/>
                <a:cs typeface="JetBrains Mono"/>
              </a:rPr>
              <a:t>2.1%</a:t>
            </a:r>
          </a:p>
        </p:txBody>
      </p:sp>
      <p:sp>
        <p:nvSpPr>
          <p:cNvPr id="48" name="Ellipse 48"/>
          <p:cNvSpPr/>
          <p:nvPr/>
        </p:nvSpPr>
        <p:spPr>
          <a:xfrm>
            <a:off x="5686425" y="3371850"/>
            <a:ext cx="76200" cy="76200"/>
          </a:xfrm>
          <a:prstGeom prst="ellipse">
            <a:avLst/>
          </a:prstGeom>
          <a:solidFill>
            <a:srgbClr val="8A7333"/>
          </a:solidFill>
          <a:ln>
            <a:noFill/>
          </a:ln>
        </p:spPr>
      </p:sp>
      <p:sp>
        <p:nvSpPr>
          <p:cNvPr id="49" name="TextBox 49"/>
          <p:cNvSpPr txBox="1"/>
          <p:nvPr/>
        </p:nvSpPr>
        <p:spPr>
          <a:xfrm>
            <a:off x="5844540" y="3334702"/>
            <a:ext cx="33337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预警</a:t>
            </a:r>
          </a:p>
        </p:txBody>
      </p:sp>
      <p:sp>
        <p:nvSpPr>
          <p:cNvPr id="50" name="Line 50"/>
          <p:cNvSpPr/>
          <p:nvPr/>
        </p:nvSpPr>
        <p:spPr>
          <a:xfrm>
            <a:off x="381000" y="3619500"/>
            <a:ext cx="6286500" cy="9525"/>
          </a:xfrm>
          <a:custGeom>
            <a:avLst/>
            <a:gdLst/>
            <a:ahLst/>
            <a:cxnLst/>
            <a:rect l="l" t="t" r="r" b="b"/>
            <a:pathLst>
              <a:path w="6286500" h="9525">
                <a:moveTo>
                  <a:pt x="0" y="0"/>
                </a:moveTo>
                <a:lnTo>
                  <a:pt x="6286500" y="0"/>
                </a:lnTo>
              </a:path>
            </a:pathLst>
          </a:custGeom>
          <a:noFill/>
          <a:ln w="7144">
            <a:solidFill>
              <a:srgbClr val="E7E7E7"/>
            </a:solidFill>
          </a:ln>
        </p:spPr>
      </p:sp>
      <p:sp>
        <p:nvSpPr>
          <p:cNvPr id="51" name="TextBox 51"/>
          <p:cNvSpPr txBox="1"/>
          <p:nvPr/>
        </p:nvSpPr>
        <p:spPr>
          <a:xfrm>
            <a:off x="366712" y="3840956"/>
            <a:ext cx="66115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焊装线 B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2772370" y="3840956"/>
            <a:ext cx="48041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125" dirty="0">
                <a:solidFill>
                  <a:srgbClr val="262626"/>
                </a:solidFill>
                <a:latin typeface="JetBrains Mono"/>
                <a:ea typeface="Microsoft YaHei"/>
                <a:cs typeface="JetBrains Mono"/>
              </a:rPr>
              <a:t>68.4%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4058007" y="3840956"/>
            <a:ext cx="29968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125" dirty="0">
                <a:solidFill>
                  <a:srgbClr val="262626"/>
                </a:solidFill>
                <a:latin typeface="JetBrains Mono"/>
                <a:ea typeface="Microsoft YaHei"/>
                <a:cs typeface="JetBrains Mono"/>
              </a:rPr>
              <a:t>5.9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4958239" y="3840956"/>
            <a:ext cx="390049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125" dirty="0">
                <a:solidFill>
                  <a:srgbClr val="262626"/>
                </a:solidFill>
                <a:latin typeface="JetBrains Mono"/>
                <a:ea typeface="Microsoft YaHei"/>
                <a:cs typeface="JetBrains Mono"/>
              </a:rPr>
              <a:t>4.8%</a:t>
            </a:r>
          </a:p>
        </p:txBody>
      </p:sp>
      <p:sp>
        <p:nvSpPr>
          <p:cNvPr id="55" name="Ellipse 55"/>
          <p:cNvSpPr/>
          <p:nvPr/>
        </p:nvSpPr>
        <p:spPr>
          <a:xfrm>
            <a:off x="5686425" y="3886200"/>
            <a:ext cx="76200" cy="76200"/>
          </a:xfrm>
          <a:prstGeom prst="ellipse">
            <a:avLst/>
          </a:prstGeom>
          <a:solidFill>
            <a:srgbClr val="9E3D31"/>
          </a:solidFill>
          <a:ln>
            <a:noFill/>
          </a:ln>
        </p:spPr>
      </p:sp>
      <p:sp>
        <p:nvSpPr>
          <p:cNvPr id="56" name="TextBox 56"/>
          <p:cNvSpPr txBox="1"/>
          <p:nvPr/>
        </p:nvSpPr>
        <p:spPr>
          <a:xfrm>
            <a:off x="5844540" y="3849052"/>
            <a:ext cx="33337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风险</a:t>
            </a:r>
          </a:p>
        </p:txBody>
      </p:sp>
      <p:sp>
        <p:nvSpPr>
          <p:cNvPr id="57" name="Line 57"/>
          <p:cNvSpPr/>
          <p:nvPr/>
        </p:nvSpPr>
        <p:spPr>
          <a:xfrm>
            <a:off x="381000" y="4133850"/>
            <a:ext cx="6286500" cy="9525"/>
          </a:xfrm>
          <a:custGeom>
            <a:avLst/>
            <a:gdLst/>
            <a:ahLst/>
            <a:cxnLst/>
            <a:rect l="l" t="t" r="r" b="b"/>
            <a:pathLst>
              <a:path w="6286500" h="9525">
                <a:moveTo>
                  <a:pt x="0" y="0"/>
                </a:moveTo>
                <a:lnTo>
                  <a:pt x="6286500" y="0"/>
                </a:lnTo>
              </a:path>
            </a:pathLst>
          </a:custGeom>
          <a:noFill/>
          <a:ln w="7144">
            <a:solidFill>
              <a:srgbClr val="E7E7E7"/>
            </a:solidFill>
          </a:ln>
        </p:spPr>
      </p:sp>
      <p:sp>
        <p:nvSpPr>
          <p:cNvPr id="58" name="TextBox 58"/>
          <p:cNvSpPr txBox="1"/>
          <p:nvPr/>
        </p:nvSpPr>
        <p:spPr>
          <a:xfrm>
            <a:off x="366712" y="4355306"/>
            <a:ext cx="66115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总装线 C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2772370" y="4355306"/>
            <a:ext cx="48041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125" dirty="0">
                <a:solidFill>
                  <a:srgbClr val="262626"/>
                </a:solidFill>
                <a:latin typeface="JetBrains Mono"/>
                <a:ea typeface="Microsoft YaHei"/>
                <a:cs typeface="JetBrains Mono"/>
              </a:rPr>
              <a:t>73.0%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4058007" y="4355306"/>
            <a:ext cx="29968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125" dirty="0">
                <a:solidFill>
                  <a:srgbClr val="262626"/>
                </a:solidFill>
                <a:latin typeface="JetBrains Mono"/>
                <a:ea typeface="Microsoft YaHei"/>
                <a:cs typeface="JetBrains Mono"/>
              </a:rPr>
              <a:t>4.9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4958239" y="4355306"/>
            <a:ext cx="390049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125" dirty="0">
                <a:solidFill>
                  <a:srgbClr val="262626"/>
                </a:solidFill>
                <a:latin typeface="JetBrains Mono"/>
                <a:ea typeface="Microsoft YaHei"/>
                <a:cs typeface="JetBrains Mono"/>
              </a:rPr>
              <a:t>3.0%</a:t>
            </a:r>
          </a:p>
        </p:txBody>
      </p:sp>
      <p:sp>
        <p:nvSpPr>
          <p:cNvPr id="62" name="Ellipse 62"/>
          <p:cNvSpPr/>
          <p:nvPr/>
        </p:nvSpPr>
        <p:spPr>
          <a:xfrm>
            <a:off x="5686425" y="4400550"/>
            <a:ext cx="76200" cy="76200"/>
          </a:xfrm>
          <a:prstGeom prst="ellipse">
            <a:avLst/>
          </a:prstGeom>
          <a:solidFill>
            <a:srgbClr val="8A7333"/>
          </a:solidFill>
          <a:ln>
            <a:noFill/>
          </a:ln>
        </p:spPr>
      </p:sp>
      <p:sp>
        <p:nvSpPr>
          <p:cNvPr id="63" name="TextBox 63"/>
          <p:cNvSpPr txBox="1"/>
          <p:nvPr/>
        </p:nvSpPr>
        <p:spPr>
          <a:xfrm>
            <a:off x="5844540" y="4363402"/>
            <a:ext cx="33337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预警</a:t>
            </a:r>
          </a:p>
        </p:txBody>
      </p:sp>
      <p:sp>
        <p:nvSpPr>
          <p:cNvPr id="64" name="Line 64"/>
          <p:cNvSpPr/>
          <p:nvPr/>
        </p:nvSpPr>
        <p:spPr>
          <a:xfrm>
            <a:off x="381000" y="4648200"/>
            <a:ext cx="6286500" cy="9525"/>
          </a:xfrm>
          <a:custGeom>
            <a:avLst/>
            <a:gdLst/>
            <a:ahLst/>
            <a:cxnLst/>
            <a:rect l="l" t="t" r="r" b="b"/>
            <a:pathLst>
              <a:path w="6286500" h="9525">
                <a:moveTo>
                  <a:pt x="0" y="0"/>
                </a:moveTo>
                <a:lnTo>
                  <a:pt x="6286500" y="0"/>
                </a:lnTo>
              </a:path>
            </a:pathLst>
          </a:custGeom>
          <a:noFill/>
          <a:ln w="7144">
            <a:solidFill>
              <a:srgbClr val="E7E7E7"/>
            </a:solidFill>
          </a:ln>
        </p:spPr>
      </p:sp>
      <p:sp>
        <p:nvSpPr>
          <p:cNvPr id="65" name="Line 65"/>
          <p:cNvSpPr/>
          <p:nvPr/>
        </p:nvSpPr>
        <p:spPr>
          <a:xfrm>
            <a:off x="381000" y="4667250"/>
            <a:ext cx="6286500" cy="9525"/>
          </a:xfrm>
          <a:custGeom>
            <a:avLst/>
            <a:gdLst/>
            <a:ahLst/>
            <a:cxnLst/>
            <a:rect l="l" t="t" r="r" b="b"/>
            <a:pathLst>
              <a:path w="6286500" h="9525">
                <a:moveTo>
                  <a:pt x="0" y="0"/>
                </a:moveTo>
                <a:lnTo>
                  <a:pt x="6286500" y="0"/>
                </a:lnTo>
              </a:path>
            </a:pathLst>
          </a:custGeom>
          <a:noFill/>
          <a:ln w="11430">
            <a:solidFill>
              <a:srgbClr val="C4C4C4"/>
            </a:solidFill>
          </a:ln>
        </p:spPr>
      </p:sp>
      <p:sp>
        <p:nvSpPr>
          <p:cNvPr id="66" name="TextBox 66"/>
          <p:cNvSpPr txBox="1"/>
          <p:nvPr/>
        </p:nvSpPr>
        <p:spPr>
          <a:xfrm>
            <a:off x="366712" y="5022056"/>
            <a:ext cx="91706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综合 / 均值</a:t>
            </a:r>
          </a:p>
        </p:txBody>
      </p:sp>
      <p:sp>
        <p:nvSpPr>
          <p:cNvPr id="67" name="TextBox 67"/>
          <p:cNvSpPr txBox="1"/>
          <p:nvPr/>
        </p:nvSpPr>
        <p:spPr>
          <a:xfrm>
            <a:off x="2792909" y="5022056"/>
            <a:ext cx="459879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125" b="1" dirty="0">
                <a:solidFill>
                  <a:srgbClr val="262626"/>
                </a:solidFill>
                <a:latin typeface="JetBrains Mono"/>
                <a:ea typeface="Microsoft YaHei"/>
                <a:cs typeface="JetBrains Mono"/>
              </a:rPr>
              <a:t>71.2%</a:t>
            </a:r>
          </a:p>
        </p:txBody>
      </p:sp>
      <p:sp>
        <p:nvSpPr>
          <p:cNvPr id="68" name="TextBox 68"/>
          <p:cNvSpPr txBox="1"/>
          <p:nvPr/>
        </p:nvSpPr>
        <p:spPr>
          <a:xfrm>
            <a:off x="4044452" y="5022056"/>
            <a:ext cx="31323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125" b="1" dirty="0">
                <a:solidFill>
                  <a:srgbClr val="262626"/>
                </a:solidFill>
                <a:latin typeface="JetBrains Mono"/>
                <a:ea typeface="Microsoft YaHei"/>
                <a:cs typeface="JetBrains Mono"/>
              </a:rPr>
              <a:t>4.7</a:t>
            </a:r>
          </a:p>
        </p:txBody>
      </p:sp>
      <p:sp>
        <p:nvSpPr>
          <p:cNvPr id="69" name="TextBox 69"/>
          <p:cNvSpPr txBox="1"/>
          <p:nvPr/>
        </p:nvSpPr>
        <p:spPr>
          <a:xfrm>
            <a:off x="4940165" y="5022056"/>
            <a:ext cx="40812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125" b="1" dirty="0">
                <a:solidFill>
                  <a:srgbClr val="262626"/>
                </a:solidFill>
                <a:latin typeface="JetBrains Mono"/>
                <a:ea typeface="Microsoft YaHei"/>
                <a:cs typeface="JetBrains Mono"/>
              </a:rPr>
              <a:t>3.3%</a:t>
            </a:r>
          </a:p>
        </p:txBody>
      </p:sp>
      <p:sp>
        <p:nvSpPr>
          <p:cNvPr id="70" name="TextBox 70"/>
          <p:cNvSpPr txBox="1"/>
          <p:nvPr/>
        </p:nvSpPr>
        <p:spPr>
          <a:xfrm>
            <a:off x="5701665" y="5030152"/>
            <a:ext cx="11101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—</a:t>
            </a:r>
          </a:p>
        </p:txBody>
      </p:sp>
      <p:sp>
        <p:nvSpPr>
          <p:cNvPr id="71" name="Line 71"/>
          <p:cNvSpPr/>
          <p:nvPr/>
        </p:nvSpPr>
        <p:spPr>
          <a:xfrm>
            <a:off x="6934200" y="2438400"/>
            <a:ext cx="9525" cy="3733800"/>
          </a:xfrm>
          <a:custGeom>
            <a:avLst/>
            <a:gdLst/>
            <a:ahLst/>
            <a:cxnLst/>
            <a:rect l="l" t="t" r="r" b="b"/>
            <a:pathLst>
              <a:path w="9525" h="3733800">
                <a:moveTo>
                  <a:pt x="0" y="0"/>
                </a:moveTo>
                <a:lnTo>
                  <a:pt x="0" y="3733800"/>
                </a:lnTo>
              </a:path>
            </a:pathLst>
          </a:custGeom>
          <a:noFill/>
          <a:ln w="9525">
            <a:solidFill>
              <a:srgbClr val="E7E7E7"/>
            </a:solidFill>
          </a:ln>
        </p:spPr>
      </p:sp>
      <p:sp>
        <p:nvSpPr>
          <p:cNvPr id="72" name="TextBox 72"/>
          <p:cNvSpPr txBox="1"/>
          <p:nvPr/>
        </p:nvSpPr>
        <p:spPr>
          <a:xfrm>
            <a:off x="7181850" y="2447925"/>
            <a:ext cx="958215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关键发现</a:t>
            </a:r>
          </a:p>
        </p:txBody>
      </p:sp>
      <p:sp>
        <p:nvSpPr>
          <p:cNvPr id="73" name="Ellipse 73"/>
          <p:cNvSpPr/>
          <p:nvPr/>
        </p:nvSpPr>
        <p:spPr>
          <a:xfrm>
            <a:off x="7210425" y="2886075"/>
            <a:ext cx="57150" cy="57150"/>
          </a:xfrm>
          <a:prstGeom prst="ellipse">
            <a:avLst/>
          </a:prstGeom>
          <a:solidFill>
            <a:srgbClr val="9B9B9B"/>
          </a:solidFill>
          <a:ln>
            <a:noFill/>
          </a:ln>
        </p:spPr>
      </p:sp>
      <p:sp>
        <p:nvSpPr>
          <p:cNvPr id="74" name="TextBox 74"/>
          <p:cNvSpPr txBox="1"/>
          <p:nvPr/>
        </p:nvSpPr>
        <p:spPr>
          <a:xfrm>
            <a:off x="7377112" y="2831306"/>
            <a:ext cx="338863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焊装线 B 为主瓶颈：停机 5.9 h、不良 4.8%，</a:t>
            </a:r>
          </a:p>
        </p:txBody>
      </p:sp>
      <p:sp>
        <p:nvSpPr>
          <p:cNvPr id="75" name="TextBox 75"/>
          <p:cNvSpPr txBox="1"/>
          <p:nvPr/>
        </p:nvSpPr>
        <p:spPr>
          <a:xfrm>
            <a:off x="7377112" y="3059906"/>
            <a:ext cx="259175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单线拉低综合 OEE 约 6 个百分点。</a:t>
            </a:r>
          </a:p>
        </p:txBody>
      </p:sp>
      <p:sp>
        <p:nvSpPr>
          <p:cNvPr id="76" name="Ellipse 76"/>
          <p:cNvSpPr/>
          <p:nvPr/>
        </p:nvSpPr>
        <p:spPr>
          <a:xfrm>
            <a:off x="7210425" y="3495675"/>
            <a:ext cx="57150" cy="57150"/>
          </a:xfrm>
          <a:prstGeom prst="ellipse">
            <a:avLst/>
          </a:prstGeom>
          <a:solidFill>
            <a:srgbClr val="9B9B9B"/>
          </a:solidFill>
          <a:ln>
            <a:noFill/>
          </a:ln>
        </p:spPr>
      </p:sp>
      <p:sp>
        <p:nvSpPr>
          <p:cNvPr id="77" name="TextBox 77"/>
          <p:cNvSpPr txBox="1"/>
          <p:nvPr/>
        </p:nvSpPr>
        <p:spPr>
          <a:xfrm>
            <a:off x="7377112" y="3440906"/>
            <a:ext cx="265747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非计划停机集中在换型与待料，二者</a:t>
            </a:r>
          </a:p>
        </p:txBody>
      </p:sp>
      <p:sp>
        <p:nvSpPr>
          <p:cNvPr id="78" name="TextBox 78"/>
          <p:cNvSpPr txBox="1"/>
          <p:nvPr/>
        </p:nvSpPr>
        <p:spPr>
          <a:xfrm>
            <a:off x="7377112" y="3669506"/>
            <a:ext cx="264926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合计占比 64%，是改善的第一抓手。</a:t>
            </a:r>
          </a:p>
        </p:txBody>
      </p:sp>
      <p:sp>
        <p:nvSpPr>
          <p:cNvPr id="79" name="Ellipse 79"/>
          <p:cNvSpPr/>
          <p:nvPr/>
        </p:nvSpPr>
        <p:spPr>
          <a:xfrm>
            <a:off x="7210425" y="4105275"/>
            <a:ext cx="57150" cy="57150"/>
          </a:xfrm>
          <a:prstGeom prst="ellipse">
            <a:avLst/>
          </a:prstGeom>
          <a:solidFill>
            <a:srgbClr val="9B9B9B"/>
          </a:solidFill>
          <a:ln>
            <a:noFill/>
          </a:ln>
        </p:spPr>
      </p:sp>
      <p:sp>
        <p:nvSpPr>
          <p:cNvPr id="80" name="TextBox 80"/>
          <p:cNvSpPr txBox="1"/>
          <p:nvPr/>
        </p:nvSpPr>
        <p:spPr>
          <a:xfrm>
            <a:off x="7377112" y="4050506"/>
            <a:ext cx="266569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一次良率 93.5%，质量端稳定，重心</a:t>
            </a:r>
          </a:p>
        </p:txBody>
      </p:sp>
      <p:sp>
        <p:nvSpPr>
          <p:cNvPr id="81" name="TextBox 81"/>
          <p:cNvSpPr txBox="1"/>
          <p:nvPr/>
        </p:nvSpPr>
        <p:spPr>
          <a:xfrm>
            <a:off x="7377112" y="4279106"/>
            <a:ext cx="232886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应放在设备综合效率而非工艺。</a:t>
            </a:r>
          </a:p>
        </p:txBody>
      </p:sp>
      <p:sp>
        <p:nvSpPr>
          <p:cNvPr id="82" name="TextBox 82"/>
          <p:cNvSpPr txBox="1"/>
          <p:nvPr/>
        </p:nvSpPr>
        <p:spPr>
          <a:xfrm>
            <a:off x="7184708" y="5005864"/>
            <a:ext cx="2114720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非计划停机构成 · Top 3</a:t>
            </a:r>
          </a:p>
        </p:txBody>
      </p:sp>
      <p:sp>
        <p:nvSpPr>
          <p:cNvPr id="83" name="TextBox 83"/>
          <p:cNvSpPr txBox="1"/>
          <p:nvPr/>
        </p:nvSpPr>
        <p:spPr>
          <a:xfrm>
            <a:off x="7187565" y="5296852"/>
            <a:ext cx="64008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换型等待</a:t>
            </a:r>
          </a:p>
        </p:txBody>
      </p:sp>
      <p:sp>
        <p:nvSpPr>
          <p:cNvPr id="84" name="Rectangle 84"/>
          <p:cNvSpPr/>
          <p:nvPr/>
        </p:nvSpPr>
        <p:spPr>
          <a:xfrm>
            <a:off x="8153400" y="5295900"/>
            <a:ext cx="2714625" cy="152400"/>
          </a:xfrm>
          <a:prstGeom prst="rect">
            <a:avLst/>
          </a:prstGeom>
          <a:solidFill>
            <a:srgbClr val="336EE8"/>
          </a:solidFill>
          <a:ln>
            <a:noFill/>
          </a:ln>
        </p:spPr>
      </p:sp>
      <p:sp>
        <p:nvSpPr>
          <p:cNvPr id="85" name="TextBox 85"/>
          <p:cNvSpPr txBox="1"/>
          <p:nvPr/>
        </p:nvSpPr>
        <p:spPr>
          <a:xfrm>
            <a:off x="11544633" y="5296852"/>
            <a:ext cx="27970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262626"/>
                </a:solidFill>
                <a:latin typeface="JetBrains Mono"/>
                <a:ea typeface="Microsoft YaHei"/>
                <a:cs typeface="JetBrains Mono"/>
              </a:rPr>
              <a:t>38%</a:t>
            </a:r>
          </a:p>
        </p:txBody>
      </p:sp>
      <p:sp>
        <p:nvSpPr>
          <p:cNvPr id="86" name="TextBox 86"/>
          <p:cNvSpPr txBox="1"/>
          <p:nvPr/>
        </p:nvSpPr>
        <p:spPr>
          <a:xfrm>
            <a:off x="7187565" y="5582602"/>
            <a:ext cx="64008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物料待料</a:t>
            </a:r>
          </a:p>
        </p:txBody>
      </p:sp>
      <p:sp>
        <p:nvSpPr>
          <p:cNvPr id="87" name="Rectangle 87"/>
          <p:cNvSpPr/>
          <p:nvPr/>
        </p:nvSpPr>
        <p:spPr>
          <a:xfrm>
            <a:off x="8153400" y="5581650"/>
            <a:ext cx="1857375" cy="152400"/>
          </a:xfrm>
          <a:prstGeom prst="rect">
            <a:avLst/>
          </a:prstGeom>
          <a:solidFill>
            <a:srgbClr val="9B9B9B"/>
          </a:solidFill>
          <a:ln>
            <a:noFill/>
          </a:ln>
        </p:spPr>
      </p:sp>
      <p:sp>
        <p:nvSpPr>
          <p:cNvPr id="88" name="TextBox 88"/>
          <p:cNvSpPr txBox="1"/>
          <p:nvPr/>
        </p:nvSpPr>
        <p:spPr>
          <a:xfrm>
            <a:off x="11544633" y="5582602"/>
            <a:ext cx="27970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262626"/>
                </a:solidFill>
                <a:latin typeface="JetBrains Mono"/>
                <a:ea typeface="Microsoft YaHei"/>
                <a:cs typeface="JetBrains Mono"/>
              </a:rPr>
              <a:t>26%</a:t>
            </a:r>
          </a:p>
        </p:txBody>
      </p:sp>
      <p:sp>
        <p:nvSpPr>
          <p:cNvPr id="89" name="TextBox 89"/>
          <p:cNvSpPr txBox="1"/>
          <p:nvPr/>
        </p:nvSpPr>
        <p:spPr>
          <a:xfrm>
            <a:off x="7187565" y="5868352"/>
            <a:ext cx="64008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设备故障</a:t>
            </a:r>
          </a:p>
        </p:txBody>
      </p:sp>
      <p:sp>
        <p:nvSpPr>
          <p:cNvPr id="90" name="Rectangle 90"/>
          <p:cNvSpPr/>
          <p:nvPr/>
        </p:nvSpPr>
        <p:spPr>
          <a:xfrm>
            <a:off x="8153400" y="5867400"/>
            <a:ext cx="1219200" cy="152400"/>
          </a:xfrm>
          <a:prstGeom prst="rect">
            <a:avLst/>
          </a:prstGeom>
          <a:solidFill>
            <a:srgbClr val="C8C8C8"/>
          </a:solidFill>
          <a:ln>
            <a:noFill/>
          </a:ln>
        </p:spPr>
      </p:sp>
      <p:sp>
        <p:nvSpPr>
          <p:cNvPr id="91" name="TextBox 91"/>
          <p:cNvSpPr txBox="1"/>
          <p:nvPr/>
        </p:nvSpPr>
        <p:spPr>
          <a:xfrm>
            <a:off x="11582972" y="5868352"/>
            <a:ext cx="24136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262626"/>
                </a:solidFill>
                <a:latin typeface="JetBrains Mono"/>
                <a:ea typeface="Microsoft YaHei"/>
                <a:cs typeface="JetBrains Mono"/>
              </a:rPr>
              <a:t>17%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370522" y="139541"/>
            <a:ext cx="1400580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改善方案 · 第三部分 选型</a:t>
            </a:r>
          </a:p>
        </p:txBody>
      </p:sp>
      <p:sp>
        <p:nvSpPr>
          <p:cNvPr id="4" name="Rectangle 4"/>
          <p:cNvSpPr/>
          <p:nvPr/>
        </p:nvSpPr>
        <p:spPr>
          <a:xfrm>
            <a:off x="11410950" y="152400"/>
            <a:ext cx="85725" cy="85725"/>
          </a:xfrm>
          <a:prstGeom prst="rect">
            <a:avLst/>
          </a:prstGeom>
          <a:solidFill>
            <a:srgbClr val="336EE8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1468329" y="131445"/>
            <a:ext cx="354101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Aham</a:t>
            </a:r>
          </a:p>
        </p:txBody>
      </p:sp>
      <p:sp>
        <p:nvSpPr>
          <p:cNvPr id="6" name="Line 6"/>
          <p:cNvSpPr/>
          <p:nvPr/>
        </p:nvSpPr>
        <p:spPr>
          <a:xfrm>
            <a:off x="381000" y="304800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7E7E7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50520" y="483870"/>
            <a:ext cx="7845133" cy="4876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400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方案 B 系统升级综合性价比最高，建议优先实施</a:t>
            </a:r>
          </a:p>
        </p:txBody>
      </p:sp>
      <p:sp>
        <p:nvSpPr>
          <p:cNvPr id="8" name="Line 8"/>
          <p:cNvSpPr/>
          <p:nvPr/>
        </p:nvSpPr>
        <p:spPr>
          <a:xfrm>
            <a:off x="381000" y="895350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7E7E7"/>
            </a:solidFill>
          </a:ln>
        </p:spPr>
      </p:sp>
      <p:sp>
        <p:nvSpPr>
          <p:cNvPr id="9" name="Line 9"/>
          <p:cNvSpPr/>
          <p:nvPr/>
        </p:nvSpPr>
        <p:spPr>
          <a:xfrm>
            <a:off x="381000" y="6572250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7E7E7"/>
            </a:solidFill>
          </a:ln>
        </p:spPr>
      </p:sp>
      <p:sp>
        <p:nvSpPr>
          <p:cNvPr id="10" name="TextBox 10"/>
          <p:cNvSpPr txBox="1"/>
          <p:nvPr/>
        </p:nvSpPr>
        <p:spPr>
          <a:xfrm>
            <a:off x="370522" y="6664166"/>
            <a:ext cx="1948815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来源：方案投入产出测算 · 2026-06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457122" y="6664166"/>
            <a:ext cx="364355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825" dirty="0">
                <a:solidFill>
                  <a:srgbClr val="9B9B9B"/>
                </a:solidFill>
                <a:latin typeface="JetBrains Mono"/>
                <a:ea typeface="Microsoft YaHei"/>
                <a:cs typeface="JetBrains Mono"/>
              </a:rPr>
              <a:t>03 / 11</a:t>
            </a:r>
          </a:p>
        </p:txBody>
      </p:sp>
      <p:sp>
        <p:nvSpPr>
          <p:cNvPr id="12" name="Rectangle 12"/>
          <p:cNvSpPr/>
          <p:nvPr/>
        </p:nvSpPr>
        <p:spPr>
          <a:xfrm>
            <a:off x="6229350" y="1428750"/>
            <a:ext cx="2857500" cy="4305300"/>
          </a:xfrm>
          <a:prstGeom prst="rect">
            <a:avLst/>
          </a:prstGeom>
          <a:solidFill>
            <a:srgbClr val="F3F3F3"/>
          </a:solidFill>
          <a:ln>
            <a:noFill/>
          </a:ln>
        </p:spPr>
      </p:sp>
      <p:sp>
        <p:nvSpPr>
          <p:cNvPr id="13" name="TextBox 13"/>
          <p:cNvSpPr txBox="1"/>
          <p:nvPr/>
        </p:nvSpPr>
        <p:spPr>
          <a:xfrm>
            <a:off x="7483745" y="1582102"/>
            <a:ext cx="34871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336EE8"/>
                </a:solidFill>
                <a:latin typeface="Inter"/>
                <a:ea typeface="Microsoft YaHei"/>
                <a:cs typeface="Inter"/>
              </a:rPr>
              <a:t>推荐</a:t>
            </a:r>
          </a:p>
        </p:txBody>
      </p:sp>
      <p:sp>
        <p:nvSpPr>
          <p:cNvPr id="14" name="Rectangle 14"/>
          <p:cNvSpPr/>
          <p:nvPr/>
        </p:nvSpPr>
        <p:spPr>
          <a:xfrm>
            <a:off x="7467600" y="1771650"/>
            <a:ext cx="381000" cy="19050"/>
          </a:xfrm>
          <a:prstGeom prst="rect">
            <a:avLst/>
          </a:prstGeom>
          <a:solidFill>
            <a:srgbClr val="336EE8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4415659" y="1876425"/>
            <a:ext cx="693682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500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方案 A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4442460" y="2153602"/>
            <a:ext cx="64008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快速改善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7311259" y="1876425"/>
            <a:ext cx="693682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500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方案 B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7338060" y="2153602"/>
            <a:ext cx="64008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系统升级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0035409" y="1876425"/>
            <a:ext cx="693682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500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方案 C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0062210" y="2153602"/>
            <a:ext cx="64008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产线重构</a:t>
            </a:r>
          </a:p>
        </p:txBody>
      </p:sp>
      <p:sp>
        <p:nvSpPr>
          <p:cNvPr id="21" name="Line 21"/>
          <p:cNvSpPr/>
          <p:nvPr/>
        </p:nvSpPr>
        <p:spPr>
          <a:xfrm>
            <a:off x="381000" y="2495550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11430">
            <a:solidFill>
              <a:srgbClr val="E7E7E7"/>
            </a:solidFill>
          </a:ln>
        </p:spPr>
      </p:sp>
      <p:sp>
        <p:nvSpPr>
          <p:cNvPr id="22" name="TextBox 22"/>
          <p:cNvSpPr txBox="1"/>
          <p:nvPr/>
        </p:nvSpPr>
        <p:spPr>
          <a:xfrm>
            <a:off x="366712" y="2736056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投入预算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4505861" y="2736056"/>
            <a:ext cx="51327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dirty="0">
                <a:solidFill>
                  <a:srgbClr val="262626"/>
                </a:solidFill>
                <a:latin typeface="JetBrains Mono"/>
                <a:ea typeface="Microsoft YaHei"/>
                <a:cs typeface="JetBrains Mono"/>
              </a:rPr>
              <a:t>¥80 万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7341900" y="2736056"/>
            <a:ext cx="632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262626"/>
                </a:solidFill>
                <a:latin typeface="JetBrains Mono"/>
                <a:ea typeface="Microsoft YaHei"/>
                <a:cs typeface="JetBrains Mono"/>
              </a:rPr>
              <a:t>¥260 万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0080427" y="2736056"/>
            <a:ext cx="60364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dirty="0">
                <a:solidFill>
                  <a:srgbClr val="262626"/>
                </a:solidFill>
                <a:latin typeface="JetBrains Mono"/>
                <a:ea typeface="Microsoft YaHei"/>
                <a:cs typeface="JetBrains Mono"/>
              </a:rPr>
              <a:t>¥720 万</a:t>
            </a:r>
          </a:p>
        </p:txBody>
      </p:sp>
      <p:sp>
        <p:nvSpPr>
          <p:cNvPr id="26" name="Line 26"/>
          <p:cNvSpPr/>
          <p:nvPr/>
        </p:nvSpPr>
        <p:spPr>
          <a:xfrm>
            <a:off x="381000" y="3067050"/>
            <a:ext cx="5848350" cy="9525"/>
          </a:xfrm>
          <a:custGeom>
            <a:avLst/>
            <a:gdLst/>
            <a:ahLst/>
            <a:cxnLst/>
            <a:rect l="l" t="t" r="r" b="b"/>
            <a:pathLst>
              <a:path w="5848350" h="9525">
                <a:moveTo>
                  <a:pt x="0" y="0"/>
                </a:moveTo>
                <a:lnTo>
                  <a:pt x="5848350" y="0"/>
                </a:lnTo>
              </a:path>
            </a:pathLst>
          </a:custGeom>
          <a:noFill/>
          <a:ln w="7144">
            <a:solidFill>
              <a:srgbClr val="E7E7E7"/>
            </a:solidFill>
          </a:ln>
        </p:spPr>
      </p:sp>
      <p:sp>
        <p:nvSpPr>
          <p:cNvPr id="27" name="Line 27"/>
          <p:cNvSpPr/>
          <p:nvPr/>
        </p:nvSpPr>
        <p:spPr>
          <a:xfrm>
            <a:off x="9086850" y="3067050"/>
            <a:ext cx="2724150" cy="9525"/>
          </a:xfrm>
          <a:custGeom>
            <a:avLst/>
            <a:gdLst/>
            <a:ahLst/>
            <a:cxnLst/>
            <a:rect l="l" t="t" r="r" b="b"/>
            <a:pathLst>
              <a:path w="2724150" h="9525">
                <a:moveTo>
                  <a:pt x="0" y="0"/>
                </a:moveTo>
                <a:lnTo>
                  <a:pt x="2724150" y="0"/>
                </a:lnTo>
              </a:path>
            </a:pathLst>
          </a:custGeom>
          <a:noFill/>
          <a:ln w="7144">
            <a:solidFill>
              <a:srgbClr val="E7E7E7"/>
            </a:solidFill>
          </a:ln>
        </p:spPr>
      </p:sp>
      <p:sp>
        <p:nvSpPr>
          <p:cNvPr id="28" name="TextBox 28"/>
          <p:cNvSpPr txBox="1"/>
          <p:nvPr/>
        </p:nvSpPr>
        <p:spPr>
          <a:xfrm>
            <a:off x="366712" y="3231356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实施周期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4596229" y="3231356"/>
            <a:ext cx="33254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dirty="0">
                <a:solidFill>
                  <a:srgbClr val="262626"/>
                </a:solidFill>
                <a:latin typeface="JetBrains Mono"/>
                <a:ea typeface="Microsoft YaHei"/>
                <a:cs typeface="JetBrains Mono"/>
              </a:rPr>
              <a:t>6 周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7458352" y="3231356"/>
            <a:ext cx="39949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262626"/>
                </a:solidFill>
                <a:latin typeface="JetBrains Mono"/>
                <a:ea typeface="Microsoft YaHei"/>
                <a:cs typeface="JetBrains Mono"/>
              </a:rPr>
              <a:t>12 周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0170795" y="3231356"/>
            <a:ext cx="42291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dirty="0">
                <a:solidFill>
                  <a:srgbClr val="262626"/>
                </a:solidFill>
                <a:latin typeface="JetBrains Mono"/>
                <a:ea typeface="Microsoft YaHei"/>
                <a:cs typeface="JetBrains Mono"/>
              </a:rPr>
              <a:t>28 周</a:t>
            </a:r>
          </a:p>
        </p:txBody>
      </p:sp>
      <p:sp>
        <p:nvSpPr>
          <p:cNvPr id="32" name="Line 32"/>
          <p:cNvSpPr/>
          <p:nvPr/>
        </p:nvSpPr>
        <p:spPr>
          <a:xfrm>
            <a:off x="381000" y="3562350"/>
            <a:ext cx="5848350" cy="9525"/>
          </a:xfrm>
          <a:custGeom>
            <a:avLst/>
            <a:gdLst/>
            <a:ahLst/>
            <a:cxnLst/>
            <a:rect l="l" t="t" r="r" b="b"/>
            <a:pathLst>
              <a:path w="5848350" h="9525">
                <a:moveTo>
                  <a:pt x="0" y="0"/>
                </a:moveTo>
                <a:lnTo>
                  <a:pt x="5848350" y="0"/>
                </a:lnTo>
              </a:path>
            </a:pathLst>
          </a:custGeom>
          <a:noFill/>
          <a:ln w="7144">
            <a:solidFill>
              <a:srgbClr val="E7E7E7"/>
            </a:solidFill>
          </a:ln>
        </p:spPr>
      </p:sp>
      <p:sp>
        <p:nvSpPr>
          <p:cNvPr id="33" name="Line 33"/>
          <p:cNvSpPr/>
          <p:nvPr/>
        </p:nvSpPr>
        <p:spPr>
          <a:xfrm>
            <a:off x="9086850" y="3562350"/>
            <a:ext cx="2724150" cy="9525"/>
          </a:xfrm>
          <a:custGeom>
            <a:avLst/>
            <a:gdLst/>
            <a:ahLst/>
            <a:cxnLst/>
            <a:rect l="l" t="t" r="r" b="b"/>
            <a:pathLst>
              <a:path w="2724150" h="9525">
                <a:moveTo>
                  <a:pt x="0" y="0"/>
                </a:moveTo>
                <a:lnTo>
                  <a:pt x="2724150" y="0"/>
                </a:lnTo>
              </a:path>
            </a:pathLst>
          </a:custGeom>
          <a:noFill/>
          <a:ln w="7144">
            <a:solidFill>
              <a:srgbClr val="E7E7E7"/>
            </a:solidFill>
          </a:ln>
        </p:spPr>
      </p:sp>
      <p:sp>
        <p:nvSpPr>
          <p:cNvPr id="34" name="TextBox 34"/>
          <p:cNvSpPr txBox="1"/>
          <p:nvPr/>
        </p:nvSpPr>
        <p:spPr>
          <a:xfrm>
            <a:off x="366712" y="3726656"/>
            <a:ext cx="108835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预期 OEE 提升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4542830" y="3726656"/>
            <a:ext cx="43934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dirty="0">
                <a:solidFill>
                  <a:srgbClr val="262626"/>
                </a:solidFill>
                <a:latin typeface="JetBrains Mono"/>
                <a:ea typeface="Microsoft YaHei"/>
                <a:cs typeface="JetBrains Mono"/>
              </a:rPr>
              <a:t>+4 pt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7402282" y="3726656"/>
            <a:ext cx="51163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262626"/>
                </a:solidFill>
                <a:latin typeface="JetBrains Mono"/>
                <a:ea typeface="Microsoft YaHei"/>
                <a:cs typeface="JetBrains Mono"/>
              </a:rPr>
              <a:t>+12 pt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0137934" y="3726656"/>
            <a:ext cx="48863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dirty="0">
                <a:solidFill>
                  <a:srgbClr val="262626"/>
                </a:solidFill>
                <a:latin typeface="JetBrains Mono"/>
                <a:ea typeface="Microsoft YaHei"/>
                <a:cs typeface="JetBrains Mono"/>
              </a:rPr>
              <a:t>+18 pt</a:t>
            </a:r>
          </a:p>
        </p:txBody>
      </p:sp>
      <p:sp>
        <p:nvSpPr>
          <p:cNvPr id="38" name="Line 38"/>
          <p:cNvSpPr/>
          <p:nvPr/>
        </p:nvSpPr>
        <p:spPr>
          <a:xfrm>
            <a:off x="381000" y="4057650"/>
            <a:ext cx="5848350" cy="9525"/>
          </a:xfrm>
          <a:custGeom>
            <a:avLst/>
            <a:gdLst/>
            <a:ahLst/>
            <a:cxnLst/>
            <a:rect l="l" t="t" r="r" b="b"/>
            <a:pathLst>
              <a:path w="5848350" h="9525">
                <a:moveTo>
                  <a:pt x="0" y="0"/>
                </a:moveTo>
                <a:lnTo>
                  <a:pt x="5848350" y="0"/>
                </a:lnTo>
              </a:path>
            </a:pathLst>
          </a:custGeom>
          <a:noFill/>
          <a:ln w="7144">
            <a:solidFill>
              <a:srgbClr val="E7E7E7"/>
            </a:solidFill>
          </a:ln>
        </p:spPr>
      </p:sp>
      <p:sp>
        <p:nvSpPr>
          <p:cNvPr id="39" name="Line 39"/>
          <p:cNvSpPr/>
          <p:nvPr/>
        </p:nvSpPr>
        <p:spPr>
          <a:xfrm>
            <a:off x="9086850" y="4057650"/>
            <a:ext cx="2724150" cy="9525"/>
          </a:xfrm>
          <a:custGeom>
            <a:avLst/>
            <a:gdLst/>
            <a:ahLst/>
            <a:cxnLst/>
            <a:rect l="l" t="t" r="r" b="b"/>
            <a:pathLst>
              <a:path w="2724150" h="9525">
                <a:moveTo>
                  <a:pt x="0" y="0"/>
                </a:moveTo>
                <a:lnTo>
                  <a:pt x="2724150" y="0"/>
                </a:lnTo>
              </a:path>
            </a:pathLst>
          </a:custGeom>
          <a:noFill/>
          <a:ln w="7144">
            <a:solidFill>
              <a:srgbClr val="E7E7E7"/>
            </a:solidFill>
          </a:ln>
        </p:spPr>
      </p:sp>
      <p:sp>
        <p:nvSpPr>
          <p:cNvPr id="40" name="TextBox 40"/>
          <p:cNvSpPr txBox="1"/>
          <p:nvPr/>
        </p:nvSpPr>
        <p:spPr>
          <a:xfrm>
            <a:off x="366712" y="4221956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实施风险</a:t>
            </a:r>
          </a:p>
        </p:txBody>
      </p:sp>
      <p:sp>
        <p:nvSpPr>
          <p:cNvPr id="41" name="Ellipse 41"/>
          <p:cNvSpPr/>
          <p:nvPr/>
        </p:nvSpPr>
        <p:spPr>
          <a:xfrm>
            <a:off x="4591050" y="4257675"/>
            <a:ext cx="76200" cy="76200"/>
          </a:xfrm>
          <a:prstGeom prst="ellipse">
            <a:avLst/>
          </a:prstGeom>
          <a:solidFill>
            <a:srgbClr val="5A7A60"/>
          </a:solidFill>
          <a:ln>
            <a:noFill/>
          </a:ln>
        </p:spPr>
      </p:sp>
      <p:sp>
        <p:nvSpPr>
          <p:cNvPr id="42" name="TextBox 42"/>
          <p:cNvSpPr txBox="1"/>
          <p:nvPr/>
        </p:nvSpPr>
        <p:spPr>
          <a:xfrm>
            <a:off x="4685109" y="4221956"/>
            <a:ext cx="19288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低</a:t>
            </a:r>
          </a:p>
        </p:txBody>
      </p:sp>
      <p:sp>
        <p:nvSpPr>
          <p:cNvPr id="43" name="Ellipse 43"/>
          <p:cNvSpPr/>
          <p:nvPr/>
        </p:nvSpPr>
        <p:spPr>
          <a:xfrm>
            <a:off x="7486650" y="4257675"/>
            <a:ext cx="76200" cy="76200"/>
          </a:xfrm>
          <a:prstGeom prst="ellipse">
            <a:avLst/>
          </a:prstGeom>
          <a:solidFill>
            <a:srgbClr val="8A7333"/>
          </a:solidFill>
          <a:ln>
            <a:noFill/>
          </a:ln>
        </p:spPr>
      </p:sp>
      <p:sp>
        <p:nvSpPr>
          <p:cNvPr id="44" name="TextBox 44"/>
          <p:cNvSpPr txBox="1"/>
          <p:nvPr/>
        </p:nvSpPr>
        <p:spPr>
          <a:xfrm>
            <a:off x="7580709" y="4221956"/>
            <a:ext cx="19288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中</a:t>
            </a:r>
          </a:p>
        </p:txBody>
      </p:sp>
      <p:sp>
        <p:nvSpPr>
          <p:cNvPr id="45" name="Ellipse 45"/>
          <p:cNvSpPr/>
          <p:nvPr/>
        </p:nvSpPr>
        <p:spPr>
          <a:xfrm>
            <a:off x="10210800" y="4257675"/>
            <a:ext cx="76200" cy="76200"/>
          </a:xfrm>
          <a:prstGeom prst="ellipse">
            <a:avLst/>
          </a:prstGeom>
          <a:solidFill>
            <a:srgbClr val="9E3D31"/>
          </a:solidFill>
          <a:ln>
            <a:noFill/>
          </a:ln>
        </p:spPr>
      </p:sp>
      <p:sp>
        <p:nvSpPr>
          <p:cNvPr id="46" name="TextBox 46"/>
          <p:cNvSpPr txBox="1"/>
          <p:nvPr/>
        </p:nvSpPr>
        <p:spPr>
          <a:xfrm>
            <a:off x="10304859" y="4221956"/>
            <a:ext cx="19288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高</a:t>
            </a:r>
          </a:p>
        </p:txBody>
      </p:sp>
      <p:sp>
        <p:nvSpPr>
          <p:cNvPr id="47" name="Line 47"/>
          <p:cNvSpPr/>
          <p:nvPr/>
        </p:nvSpPr>
        <p:spPr>
          <a:xfrm>
            <a:off x="381000" y="4552950"/>
            <a:ext cx="5848350" cy="9525"/>
          </a:xfrm>
          <a:custGeom>
            <a:avLst/>
            <a:gdLst/>
            <a:ahLst/>
            <a:cxnLst/>
            <a:rect l="l" t="t" r="r" b="b"/>
            <a:pathLst>
              <a:path w="5848350" h="9525">
                <a:moveTo>
                  <a:pt x="0" y="0"/>
                </a:moveTo>
                <a:lnTo>
                  <a:pt x="5848350" y="0"/>
                </a:lnTo>
              </a:path>
            </a:pathLst>
          </a:custGeom>
          <a:noFill/>
          <a:ln w="7144">
            <a:solidFill>
              <a:srgbClr val="E7E7E7"/>
            </a:solidFill>
          </a:ln>
        </p:spPr>
      </p:sp>
      <p:sp>
        <p:nvSpPr>
          <p:cNvPr id="48" name="Line 48"/>
          <p:cNvSpPr/>
          <p:nvPr/>
        </p:nvSpPr>
        <p:spPr>
          <a:xfrm>
            <a:off x="9086850" y="4552950"/>
            <a:ext cx="2724150" cy="9525"/>
          </a:xfrm>
          <a:custGeom>
            <a:avLst/>
            <a:gdLst/>
            <a:ahLst/>
            <a:cxnLst/>
            <a:rect l="l" t="t" r="r" b="b"/>
            <a:pathLst>
              <a:path w="2724150" h="9525">
                <a:moveTo>
                  <a:pt x="0" y="0"/>
                </a:moveTo>
                <a:lnTo>
                  <a:pt x="2724150" y="0"/>
                </a:lnTo>
              </a:path>
            </a:pathLst>
          </a:custGeom>
          <a:noFill/>
          <a:ln w="7144">
            <a:solidFill>
              <a:srgbClr val="E7E7E7"/>
            </a:solidFill>
          </a:ln>
        </p:spPr>
      </p:sp>
      <p:sp>
        <p:nvSpPr>
          <p:cNvPr id="49" name="TextBox 49"/>
          <p:cNvSpPr txBox="1"/>
          <p:nvPr/>
        </p:nvSpPr>
        <p:spPr>
          <a:xfrm>
            <a:off x="366712" y="4717256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产线停产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4501753" y="4717256"/>
            <a:ext cx="52149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不停产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7298769" y="4717256"/>
            <a:ext cx="71866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周末窗口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10027027" y="4717256"/>
            <a:ext cx="71044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停产 4 周</a:t>
            </a:r>
          </a:p>
        </p:txBody>
      </p:sp>
      <p:sp>
        <p:nvSpPr>
          <p:cNvPr id="53" name="Line 53"/>
          <p:cNvSpPr/>
          <p:nvPr/>
        </p:nvSpPr>
        <p:spPr>
          <a:xfrm>
            <a:off x="381000" y="5048250"/>
            <a:ext cx="5848350" cy="9525"/>
          </a:xfrm>
          <a:custGeom>
            <a:avLst/>
            <a:gdLst/>
            <a:ahLst/>
            <a:cxnLst/>
            <a:rect l="l" t="t" r="r" b="b"/>
            <a:pathLst>
              <a:path w="5848350" h="9525">
                <a:moveTo>
                  <a:pt x="0" y="0"/>
                </a:moveTo>
                <a:lnTo>
                  <a:pt x="5848350" y="0"/>
                </a:lnTo>
              </a:path>
            </a:pathLst>
          </a:custGeom>
          <a:noFill/>
          <a:ln w="7144">
            <a:solidFill>
              <a:srgbClr val="E7E7E7"/>
            </a:solidFill>
          </a:ln>
        </p:spPr>
      </p:sp>
      <p:sp>
        <p:nvSpPr>
          <p:cNvPr id="54" name="Line 54"/>
          <p:cNvSpPr/>
          <p:nvPr/>
        </p:nvSpPr>
        <p:spPr>
          <a:xfrm>
            <a:off x="9086850" y="5048250"/>
            <a:ext cx="2724150" cy="9525"/>
          </a:xfrm>
          <a:custGeom>
            <a:avLst/>
            <a:gdLst/>
            <a:ahLst/>
            <a:cxnLst/>
            <a:rect l="l" t="t" r="r" b="b"/>
            <a:pathLst>
              <a:path w="2724150" h="9525">
                <a:moveTo>
                  <a:pt x="0" y="0"/>
                </a:moveTo>
                <a:lnTo>
                  <a:pt x="2724150" y="0"/>
                </a:lnTo>
              </a:path>
            </a:pathLst>
          </a:custGeom>
          <a:noFill/>
          <a:ln w="7144">
            <a:solidFill>
              <a:srgbClr val="E7E7E7"/>
            </a:solidFill>
          </a:ln>
        </p:spPr>
      </p:sp>
      <p:sp>
        <p:nvSpPr>
          <p:cNvPr id="55" name="TextBox 55"/>
          <p:cNvSpPr txBox="1"/>
          <p:nvPr/>
        </p:nvSpPr>
        <p:spPr>
          <a:xfrm>
            <a:off x="366712" y="5212556"/>
            <a:ext cx="85010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方案可逆性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4666059" y="5212556"/>
            <a:ext cx="19288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高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7557552" y="5212556"/>
            <a:ext cx="20109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中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10285809" y="5212556"/>
            <a:ext cx="19288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低</a:t>
            </a:r>
          </a:p>
        </p:txBody>
      </p:sp>
      <p:sp>
        <p:nvSpPr>
          <p:cNvPr id="59" name="Line 59"/>
          <p:cNvSpPr/>
          <p:nvPr/>
        </p:nvSpPr>
        <p:spPr>
          <a:xfrm>
            <a:off x="381000" y="5619750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11430">
            <a:solidFill>
              <a:srgbClr val="C4C4C4"/>
            </a:solidFill>
          </a:ln>
        </p:spPr>
      </p:sp>
      <p:sp>
        <p:nvSpPr>
          <p:cNvPr id="60" name="Ellipse 60"/>
          <p:cNvSpPr/>
          <p:nvPr/>
        </p:nvSpPr>
        <p:spPr>
          <a:xfrm>
            <a:off x="390525" y="5886450"/>
            <a:ext cx="57150" cy="57150"/>
          </a:xfrm>
          <a:prstGeom prst="ellipse">
            <a:avLst/>
          </a:prstGeom>
          <a:solidFill>
            <a:srgbClr val="336EE8"/>
          </a:solidFill>
          <a:ln>
            <a:noFill/>
          </a:ln>
        </p:spPr>
      </p:sp>
      <p:sp>
        <p:nvSpPr>
          <p:cNvPr id="61" name="TextBox 61"/>
          <p:cNvSpPr txBox="1"/>
          <p:nvPr/>
        </p:nvSpPr>
        <p:spPr>
          <a:xfrm>
            <a:off x="557212" y="5850731"/>
            <a:ext cx="5376743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以中等投入、</a:t>
            </a:r>
            <a:r>
              <a:rPr lang="zh-CN" sz="1125" dirty="0">
                <a:solidFill>
                  <a:srgbClr val="262626"/>
                </a:solidFill>
                <a:latin typeface="JetBrains Mono"/>
                <a:ea typeface="Microsoft YaHei"/>
                <a:cs typeface="JetBrains Mono"/>
              </a:rPr>
              <a:t>12</a:t>
            </a:r>
            <a:r>
              <a:rPr lang="zh-CN" sz="112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周换取</a:t>
            </a:r>
            <a:r>
              <a:rPr lang="zh-CN" sz="1125" dirty="0">
                <a:solidFill>
                  <a:srgbClr val="262626"/>
                </a:solidFill>
                <a:latin typeface="JetBrains Mono"/>
                <a:ea typeface="Microsoft YaHei"/>
                <a:cs typeface="JetBrains Mono"/>
              </a:rPr>
              <a:t>+12</a:t>
            </a:r>
            <a:r>
              <a:rPr lang="zh-CN" sz="112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个百分点 OEE，并保留向方案 C 升级的可逆性。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370522" y="139541"/>
            <a:ext cx="1400580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根因分析 · 第二部分 证据</a:t>
            </a:r>
          </a:p>
        </p:txBody>
      </p:sp>
      <p:sp>
        <p:nvSpPr>
          <p:cNvPr id="4" name="Rectangle 4"/>
          <p:cNvSpPr/>
          <p:nvPr/>
        </p:nvSpPr>
        <p:spPr>
          <a:xfrm>
            <a:off x="11410950" y="152400"/>
            <a:ext cx="85725" cy="85725"/>
          </a:xfrm>
          <a:prstGeom prst="rect">
            <a:avLst/>
          </a:prstGeom>
          <a:solidFill>
            <a:srgbClr val="336EE8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1468329" y="131445"/>
            <a:ext cx="354101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Aham</a:t>
            </a:r>
          </a:p>
        </p:txBody>
      </p:sp>
      <p:sp>
        <p:nvSpPr>
          <p:cNvPr id="6" name="Line 6"/>
          <p:cNvSpPr/>
          <p:nvPr/>
        </p:nvSpPr>
        <p:spPr>
          <a:xfrm>
            <a:off x="381000" y="304800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7E7E7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50520" y="483870"/>
            <a:ext cx="8249984" cy="4876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400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OEE 连续 8 个月低于 75%，自然爬坡无法收敛缺口</a:t>
            </a:r>
          </a:p>
        </p:txBody>
      </p:sp>
      <p:sp>
        <p:nvSpPr>
          <p:cNvPr id="8" name="Line 8"/>
          <p:cNvSpPr/>
          <p:nvPr/>
        </p:nvSpPr>
        <p:spPr>
          <a:xfrm>
            <a:off x="381000" y="895350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7E7E7"/>
            </a:solidFill>
          </a:ln>
        </p:spPr>
      </p:sp>
      <p:sp>
        <p:nvSpPr>
          <p:cNvPr id="9" name="Line 9"/>
          <p:cNvSpPr/>
          <p:nvPr/>
        </p:nvSpPr>
        <p:spPr>
          <a:xfrm>
            <a:off x="381000" y="6572250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7E7E7"/>
            </a:solidFill>
          </a:ln>
        </p:spPr>
      </p:sp>
      <p:sp>
        <p:nvSpPr>
          <p:cNvPr id="10" name="TextBox 10"/>
          <p:cNvSpPr txBox="1"/>
          <p:nvPr/>
        </p:nvSpPr>
        <p:spPr>
          <a:xfrm>
            <a:off x="370522" y="6664166"/>
            <a:ext cx="2237994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来源：MES OEE 月报 2025-11 至 2026-06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457122" y="6664166"/>
            <a:ext cx="364355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825" dirty="0">
                <a:solidFill>
                  <a:srgbClr val="9B9B9B"/>
                </a:solidFill>
                <a:latin typeface="JetBrains Mono"/>
                <a:ea typeface="Microsoft YaHei"/>
                <a:cs typeface="JetBrains Mono"/>
              </a:rPr>
              <a:t>04 / 11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34415" y="1201102"/>
            <a:ext cx="166754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月度综合效率 OEE（%）</a:t>
            </a:r>
          </a:p>
        </p:txBody>
      </p:sp>
      <p:sp>
        <p:nvSpPr>
          <p:cNvPr id="13" name="Line 13"/>
          <p:cNvSpPr/>
          <p:nvPr/>
        </p:nvSpPr>
        <p:spPr>
          <a:xfrm>
            <a:off x="1047750" y="5334000"/>
            <a:ext cx="5810250" cy="9525"/>
          </a:xfrm>
          <a:custGeom>
            <a:avLst/>
            <a:gdLst/>
            <a:ahLst/>
            <a:cxnLst/>
            <a:rect l="l" t="t" r="r" b="b"/>
            <a:pathLst>
              <a:path w="5810250" h="9525">
                <a:moveTo>
                  <a:pt x="0" y="0"/>
                </a:moveTo>
                <a:lnTo>
                  <a:pt x="5810250" y="0"/>
                </a:lnTo>
              </a:path>
            </a:pathLst>
          </a:custGeom>
          <a:noFill/>
          <a:ln w="9525">
            <a:solidFill>
              <a:srgbClr val="F3F3F3"/>
            </a:solidFill>
          </a:ln>
        </p:spPr>
      </p:sp>
      <p:sp>
        <p:nvSpPr>
          <p:cNvPr id="14" name="TextBox 14"/>
          <p:cNvSpPr txBox="1"/>
          <p:nvPr/>
        </p:nvSpPr>
        <p:spPr>
          <a:xfrm>
            <a:off x="777430" y="5274945"/>
            <a:ext cx="167449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9B9B9B"/>
                </a:solidFill>
                <a:latin typeface="JetBrains Mono"/>
                <a:ea typeface="Microsoft YaHei"/>
                <a:cs typeface="JetBrains Mono"/>
              </a:rPr>
              <a:t>60</a:t>
            </a:r>
          </a:p>
        </p:txBody>
      </p:sp>
      <p:sp>
        <p:nvSpPr>
          <p:cNvPr id="15" name="Line 15"/>
          <p:cNvSpPr/>
          <p:nvPr/>
        </p:nvSpPr>
        <p:spPr>
          <a:xfrm>
            <a:off x="1047750" y="4127500"/>
            <a:ext cx="5810250" cy="9525"/>
          </a:xfrm>
          <a:custGeom>
            <a:avLst/>
            <a:gdLst/>
            <a:ahLst/>
            <a:cxnLst/>
            <a:rect l="l" t="t" r="r" b="b"/>
            <a:pathLst>
              <a:path w="5810250" h="9525">
                <a:moveTo>
                  <a:pt x="0" y="0"/>
                </a:moveTo>
                <a:lnTo>
                  <a:pt x="5810250" y="0"/>
                </a:lnTo>
              </a:path>
            </a:pathLst>
          </a:custGeom>
          <a:noFill/>
          <a:ln w="9525">
            <a:solidFill>
              <a:srgbClr val="F3F3F3"/>
            </a:solidFill>
          </a:ln>
        </p:spPr>
      </p:sp>
      <p:sp>
        <p:nvSpPr>
          <p:cNvPr id="16" name="TextBox 16"/>
          <p:cNvSpPr txBox="1"/>
          <p:nvPr/>
        </p:nvSpPr>
        <p:spPr>
          <a:xfrm>
            <a:off x="777430" y="4068445"/>
            <a:ext cx="167449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9B9B9B"/>
                </a:solidFill>
                <a:latin typeface="JetBrains Mono"/>
                <a:ea typeface="Microsoft YaHei"/>
                <a:cs typeface="JetBrains Mono"/>
              </a:rPr>
              <a:t>70</a:t>
            </a:r>
          </a:p>
        </p:txBody>
      </p:sp>
      <p:sp>
        <p:nvSpPr>
          <p:cNvPr id="17" name="Line 17"/>
          <p:cNvSpPr/>
          <p:nvPr/>
        </p:nvSpPr>
        <p:spPr>
          <a:xfrm>
            <a:off x="1047750" y="2921000"/>
            <a:ext cx="5810250" cy="9525"/>
          </a:xfrm>
          <a:custGeom>
            <a:avLst/>
            <a:gdLst/>
            <a:ahLst/>
            <a:cxnLst/>
            <a:rect l="l" t="t" r="r" b="b"/>
            <a:pathLst>
              <a:path w="5810250" h="9525">
                <a:moveTo>
                  <a:pt x="0" y="0"/>
                </a:moveTo>
                <a:lnTo>
                  <a:pt x="5810250" y="0"/>
                </a:lnTo>
              </a:path>
            </a:pathLst>
          </a:custGeom>
          <a:noFill/>
          <a:ln w="9525">
            <a:solidFill>
              <a:srgbClr val="F3F3F3"/>
            </a:solidFill>
          </a:ln>
        </p:spPr>
      </p:sp>
      <p:sp>
        <p:nvSpPr>
          <p:cNvPr id="18" name="TextBox 18"/>
          <p:cNvSpPr txBox="1"/>
          <p:nvPr/>
        </p:nvSpPr>
        <p:spPr>
          <a:xfrm>
            <a:off x="777430" y="2861945"/>
            <a:ext cx="167449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9B9B9B"/>
                </a:solidFill>
                <a:latin typeface="JetBrains Mono"/>
                <a:ea typeface="Microsoft YaHei"/>
                <a:cs typeface="JetBrains Mono"/>
              </a:rPr>
              <a:t>80</a:t>
            </a:r>
          </a:p>
        </p:txBody>
      </p:sp>
      <p:sp>
        <p:nvSpPr>
          <p:cNvPr id="19" name="Line 19"/>
          <p:cNvSpPr/>
          <p:nvPr/>
        </p:nvSpPr>
        <p:spPr>
          <a:xfrm>
            <a:off x="1047750" y="1714500"/>
            <a:ext cx="5810250" cy="9525"/>
          </a:xfrm>
          <a:custGeom>
            <a:avLst/>
            <a:gdLst/>
            <a:ahLst/>
            <a:cxnLst/>
            <a:rect l="l" t="t" r="r" b="b"/>
            <a:pathLst>
              <a:path w="5810250" h="9525">
                <a:moveTo>
                  <a:pt x="0" y="0"/>
                </a:moveTo>
                <a:lnTo>
                  <a:pt x="5810250" y="0"/>
                </a:lnTo>
              </a:path>
            </a:pathLst>
          </a:custGeom>
          <a:noFill/>
          <a:ln w="9525">
            <a:solidFill>
              <a:srgbClr val="F3F3F3"/>
            </a:solidFill>
          </a:ln>
        </p:spPr>
      </p:sp>
      <p:sp>
        <p:nvSpPr>
          <p:cNvPr id="20" name="TextBox 20"/>
          <p:cNvSpPr txBox="1"/>
          <p:nvPr/>
        </p:nvSpPr>
        <p:spPr>
          <a:xfrm>
            <a:off x="777430" y="1655445"/>
            <a:ext cx="167449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9B9B9B"/>
                </a:solidFill>
                <a:latin typeface="JetBrains Mono"/>
                <a:ea typeface="Microsoft YaHei"/>
                <a:cs typeface="JetBrains Mono"/>
              </a:rPr>
              <a:t>90</a:t>
            </a:r>
          </a:p>
        </p:txBody>
      </p:sp>
      <p:sp>
        <p:nvSpPr>
          <p:cNvPr id="21" name="Line 21"/>
          <p:cNvSpPr/>
          <p:nvPr/>
        </p:nvSpPr>
        <p:spPr>
          <a:xfrm>
            <a:off x="1047750" y="1676400"/>
            <a:ext cx="9525" cy="3657600"/>
          </a:xfrm>
          <a:custGeom>
            <a:avLst/>
            <a:gdLst/>
            <a:ahLst/>
            <a:cxnLst/>
            <a:rect l="l" t="t" r="r" b="b"/>
            <a:pathLst>
              <a:path w="9525" h="3657600">
                <a:moveTo>
                  <a:pt x="0" y="0"/>
                </a:moveTo>
                <a:lnTo>
                  <a:pt x="0" y="3657600"/>
                </a:lnTo>
              </a:path>
            </a:pathLst>
          </a:custGeom>
          <a:noFill/>
          <a:ln w="9525">
            <a:solidFill>
              <a:srgbClr val="E7E7E7"/>
            </a:solidFill>
          </a:ln>
        </p:spPr>
      </p:sp>
      <p:sp>
        <p:nvSpPr>
          <p:cNvPr id="22" name="Line 22"/>
          <p:cNvSpPr/>
          <p:nvPr/>
        </p:nvSpPr>
        <p:spPr>
          <a:xfrm>
            <a:off x="1047750" y="5334000"/>
            <a:ext cx="5810250" cy="9525"/>
          </a:xfrm>
          <a:custGeom>
            <a:avLst/>
            <a:gdLst/>
            <a:ahLst/>
            <a:cxnLst/>
            <a:rect l="l" t="t" r="r" b="b"/>
            <a:pathLst>
              <a:path w="5810250" h="9525">
                <a:moveTo>
                  <a:pt x="0" y="0"/>
                </a:moveTo>
                <a:lnTo>
                  <a:pt x="5810250" y="0"/>
                </a:lnTo>
              </a:path>
            </a:pathLst>
          </a:custGeom>
          <a:noFill/>
          <a:ln w="9525">
            <a:solidFill>
              <a:srgbClr val="E7E7E7"/>
            </a:solidFill>
          </a:ln>
        </p:spPr>
      </p:sp>
      <p:sp>
        <p:nvSpPr>
          <p:cNvPr id="23" name="Line 23"/>
          <p:cNvSpPr/>
          <p:nvPr/>
        </p:nvSpPr>
        <p:spPr>
          <a:xfrm>
            <a:off x="1047750" y="2317750"/>
            <a:ext cx="5810250" cy="9525"/>
          </a:xfrm>
          <a:custGeom>
            <a:avLst/>
            <a:gdLst/>
            <a:ahLst/>
            <a:cxnLst/>
            <a:rect l="l" t="t" r="r" b="b"/>
            <a:pathLst>
              <a:path w="5810250" h="9525">
                <a:moveTo>
                  <a:pt x="0" y="0"/>
                </a:moveTo>
                <a:lnTo>
                  <a:pt x="5810250" y="0"/>
                </a:lnTo>
              </a:path>
            </a:pathLst>
          </a:custGeom>
          <a:noFill/>
          <a:ln w="9525">
            <a:solidFill>
              <a:srgbClr val="9B9B9B"/>
            </a:solidFill>
            <a:custDash>
              <a:ds d="500000" sp="400000"/>
            </a:custDash>
          </a:ln>
        </p:spPr>
      </p:sp>
      <p:sp>
        <p:nvSpPr>
          <p:cNvPr id="24" name="TextBox 24"/>
          <p:cNvSpPr txBox="1"/>
          <p:nvPr/>
        </p:nvSpPr>
        <p:spPr>
          <a:xfrm>
            <a:off x="1093470" y="2153920"/>
            <a:ext cx="804958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行业基准 85%</a:t>
            </a:r>
          </a:p>
        </p:txBody>
      </p:sp>
      <p:sp>
        <p:nvSpPr>
          <p:cNvPr id="25" name="Rectangle 25"/>
          <p:cNvSpPr/>
          <p:nvPr/>
        </p:nvSpPr>
        <p:spPr>
          <a:xfrm>
            <a:off x="1362075" y="3765550"/>
            <a:ext cx="419100" cy="1568450"/>
          </a:xfrm>
          <a:prstGeom prst="rect">
            <a:avLst/>
          </a:prstGeom>
          <a:solidFill>
            <a:srgbClr val="C8C8C8"/>
          </a:solidFill>
          <a:ln>
            <a:noFill/>
          </a:ln>
        </p:spPr>
      </p:sp>
      <p:sp>
        <p:nvSpPr>
          <p:cNvPr id="26" name="TextBox 26"/>
          <p:cNvSpPr txBox="1"/>
          <p:nvPr/>
        </p:nvSpPr>
        <p:spPr>
          <a:xfrm>
            <a:off x="1487900" y="3592195"/>
            <a:ext cx="167449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6E6E6E"/>
                </a:solidFill>
                <a:latin typeface="JetBrains Mono"/>
                <a:ea typeface="Microsoft YaHei"/>
                <a:cs typeface="JetBrains Mono"/>
              </a:rPr>
              <a:t>73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455039" y="5446395"/>
            <a:ext cx="23317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6E6E6E"/>
                </a:solidFill>
                <a:latin typeface="JetBrains Mono"/>
                <a:ea typeface="Microsoft YaHei"/>
                <a:cs typeface="JetBrains Mono"/>
              </a:rPr>
              <a:t>11月</a:t>
            </a:r>
          </a:p>
        </p:txBody>
      </p:sp>
      <p:sp>
        <p:nvSpPr>
          <p:cNvPr id="28" name="Rectangle 28"/>
          <p:cNvSpPr/>
          <p:nvPr/>
        </p:nvSpPr>
        <p:spPr>
          <a:xfrm>
            <a:off x="2028825" y="3886200"/>
            <a:ext cx="419100" cy="1447800"/>
          </a:xfrm>
          <a:prstGeom prst="rect">
            <a:avLst/>
          </a:prstGeom>
          <a:solidFill>
            <a:srgbClr val="C8C8C8"/>
          </a:solidFill>
          <a:ln>
            <a:noFill/>
          </a:ln>
        </p:spPr>
      </p:sp>
      <p:sp>
        <p:nvSpPr>
          <p:cNvPr id="29" name="TextBox 29"/>
          <p:cNvSpPr txBox="1"/>
          <p:nvPr/>
        </p:nvSpPr>
        <p:spPr>
          <a:xfrm>
            <a:off x="2154650" y="3712845"/>
            <a:ext cx="167449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6E6E6E"/>
                </a:solidFill>
                <a:latin typeface="JetBrains Mono"/>
                <a:ea typeface="Microsoft YaHei"/>
                <a:cs typeface="JetBrains Mono"/>
              </a:rPr>
              <a:t>72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2105358" y="5446395"/>
            <a:ext cx="26603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6E6E6E"/>
                </a:solidFill>
                <a:latin typeface="JetBrains Mono"/>
                <a:ea typeface="Microsoft YaHei"/>
                <a:cs typeface="JetBrains Mono"/>
              </a:rPr>
              <a:t>12月</a:t>
            </a:r>
          </a:p>
        </p:txBody>
      </p:sp>
      <p:sp>
        <p:nvSpPr>
          <p:cNvPr id="31" name="Rectangle 31"/>
          <p:cNvSpPr/>
          <p:nvPr/>
        </p:nvSpPr>
        <p:spPr>
          <a:xfrm>
            <a:off x="2695575" y="4127500"/>
            <a:ext cx="419100" cy="1206500"/>
          </a:xfrm>
          <a:prstGeom prst="rect">
            <a:avLst/>
          </a:prstGeom>
          <a:solidFill>
            <a:srgbClr val="C8C8C8"/>
          </a:solidFill>
          <a:ln>
            <a:noFill/>
          </a:ln>
        </p:spPr>
      </p:sp>
      <p:sp>
        <p:nvSpPr>
          <p:cNvPr id="32" name="TextBox 32"/>
          <p:cNvSpPr txBox="1"/>
          <p:nvPr/>
        </p:nvSpPr>
        <p:spPr>
          <a:xfrm>
            <a:off x="2821400" y="3954145"/>
            <a:ext cx="167449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6E6E6E"/>
                </a:solidFill>
                <a:latin typeface="JetBrains Mono"/>
                <a:ea typeface="Microsoft YaHei"/>
                <a:cs typeface="JetBrains Mono"/>
              </a:rPr>
              <a:t>70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2808256" y="5446395"/>
            <a:ext cx="193738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6E6E6E"/>
                </a:solidFill>
                <a:latin typeface="JetBrains Mono"/>
                <a:ea typeface="Microsoft YaHei"/>
                <a:cs typeface="JetBrains Mono"/>
              </a:rPr>
              <a:t>1月</a:t>
            </a:r>
          </a:p>
        </p:txBody>
      </p:sp>
      <p:sp>
        <p:nvSpPr>
          <p:cNvPr id="34" name="Rectangle 34"/>
          <p:cNvSpPr/>
          <p:nvPr/>
        </p:nvSpPr>
        <p:spPr>
          <a:xfrm>
            <a:off x="3362325" y="4248150"/>
            <a:ext cx="419100" cy="1085850"/>
          </a:xfrm>
          <a:prstGeom prst="rect">
            <a:avLst/>
          </a:prstGeom>
          <a:solidFill>
            <a:srgbClr val="C8C8C8"/>
          </a:solidFill>
          <a:ln>
            <a:noFill/>
          </a:ln>
        </p:spPr>
      </p:sp>
      <p:sp>
        <p:nvSpPr>
          <p:cNvPr id="35" name="TextBox 35"/>
          <p:cNvSpPr txBox="1"/>
          <p:nvPr/>
        </p:nvSpPr>
        <p:spPr>
          <a:xfrm>
            <a:off x="3488150" y="4074795"/>
            <a:ext cx="167449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6E6E6E"/>
                </a:solidFill>
                <a:latin typeface="JetBrains Mono"/>
                <a:ea typeface="Microsoft YaHei"/>
                <a:cs typeface="JetBrains Mono"/>
              </a:rPr>
              <a:t>69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3458575" y="5446395"/>
            <a:ext cx="22660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6E6E6E"/>
                </a:solidFill>
                <a:latin typeface="JetBrains Mono"/>
                <a:ea typeface="Microsoft YaHei"/>
                <a:cs typeface="JetBrains Mono"/>
              </a:rPr>
              <a:t>2月</a:t>
            </a:r>
          </a:p>
        </p:txBody>
      </p:sp>
      <p:sp>
        <p:nvSpPr>
          <p:cNvPr id="37" name="Rectangle 37"/>
          <p:cNvSpPr/>
          <p:nvPr/>
        </p:nvSpPr>
        <p:spPr>
          <a:xfrm>
            <a:off x="4029075" y="4006850"/>
            <a:ext cx="419100" cy="1327150"/>
          </a:xfrm>
          <a:prstGeom prst="rect">
            <a:avLst/>
          </a:prstGeom>
          <a:solidFill>
            <a:srgbClr val="C8C8C8"/>
          </a:solidFill>
          <a:ln>
            <a:noFill/>
          </a:ln>
        </p:spPr>
      </p:sp>
      <p:sp>
        <p:nvSpPr>
          <p:cNvPr id="38" name="TextBox 38"/>
          <p:cNvSpPr txBox="1"/>
          <p:nvPr/>
        </p:nvSpPr>
        <p:spPr>
          <a:xfrm>
            <a:off x="4171331" y="3833495"/>
            <a:ext cx="134588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6E6E6E"/>
                </a:solidFill>
                <a:latin typeface="JetBrains Mono"/>
                <a:ea typeface="Microsoft YaHei"/>
                <a:cs typeface="JetBrains Mono"/>
              </a:rPr>
              <a:t>71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4125325" y="5446395"/>
            <a:ext cx="22660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6E6E6E"/>
                </a:solidFill>
                <a:latin typeface="JetBrains Mono"/>
                <a:ea typeface="Microsoft YaHei"/>
                <a:cs typeface="JetBrains Mono"/>
              </a:rPr>
              <a:t>3月</a:t>
            </a:r>
          </a:p>
        </p:txBody>
      </p:sp>
      <p:sp>
        <p:nvSpPr>
          <p:cNvPr id="40" name="Rectangle 40"/>
          <p:cNvSpPr/>
          <p:nvPr/>
        </p:nvSpPr>
        <p:spPr>
          <a:xfrm>
            <a:off x="4695825" y="4127500"/>
            <a:ext cx="419100" cy="1206500"/>
          </a:xfrm>
          <a:prstGeom prst="rect">
            <a:avLst/>
          </a:prstGeom>
          <a:solidFill>
            <a:srgbClr val="C8C8C8"/>
          </a:solidFill>
          <a:ln>
            <a:noFill/>
          </a:ln>
        </p:spPr>
      </p:sp>
      <p:sp>
        <p:nvSpPr>
          <p:cNvPr id="41" name="TextBox 41"/>
          <p:cNvSpPr txBox="1"/>
          <p:nvPr/>
        </p:nvSpPr>
        <p:spPr>
          <a:xfrm>
            <a:off x="4821650" y="3954145"/>
            <a:ext cx="167449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6E6E6E"/>
                </a:solidFill>
                <a:latin typeface="JetBrains Mono"/>
                <a:ea typeface="Microsoft YaHei"/>
                <a:cs typeface="JetBrains Mono"/>
              </a:rPr>
              <a:t>70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4792075" y="5446395"/>
            <a:ext cx="22660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6E6E6E"/>
                </a:solidFill>
                <a:latin typeface="JetBrains Mono"/>
                <a:ea typeface="Microsoft YaHei"/>
                <a:cs typeface="JetBrains Mono"/>
              </a:rPr>
              <a:t>4月</a:t>
            </a:r>
          </a:p>
        </p:txBody>
      </p:sp>
      <p:sp>
        <p:nvSpPr>
          <p:cNvPr id="43" name="Rectangle 43"/>
          <p:cNvSpPr/>
          <p:nvPr/>
        </p:nvSpPr>
        <p:spPr>
          <a:xfrm>
            <a:off x="5362575" y="4006850"/>
            <a:ext cx="419100" cy="1327150"/>
          </a:xfrm>
          <a:prstGeom prst="rect">
            <a:avLst/>
          </a:prstGeom>
          <a:solidFill>
            <a:srgbClr val="C8C8C8"/>
          </a:solidFill>
          <a:ln>
            <a:noFill/>
          </a:ln>
        </p:spPr>
      </p:sp>
      <p:sp>
        <p:nvSpPr>
          <p:cNvPr id="44" name="TextBox 44"/>
          <p:cNvSpPr txBox="1"/>
          <p:nvPr/>
        </p:nvSpPr>
        <p:spPr>
          <a:xfrm>
            <a:off x="5504831" y="3833495"/>
            <a:ext cx="134588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6E6E6E"/>
                </a:solidFill>
                <a:latin typeface="JetBrains Mono"/>
                <a:ea typeface="Microsoft YaHei"/>
                <a:cs typeface="JetBrains Mono"/>
              </a:rPr>
              <a:t>71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5458825" y="5446395"/>
            <a:ext cx="22660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6E6E6E"/>
                </a:solidFill>
                <a:latin typeface="JetBrains Mono"/>
                <a:ea typeface="Microsoft YaHei"/>
                <a:cs typeface="JetBrains Mono"/>
              </a:rPr>
              <a:t>5月</a:t>
            </a:r>
          </a:p>
        </p:txBody>
      </p:sp>
      <p:sp>
        <p:nvSpPr>
          <p:cNvPr id="46" name="Rectangle 46"/>
          <p:cNvSpPr/>
          <p:nvPr/>
        </p:nvSpPr>
        <p:spPr>
          <a:xfrm>
            <a:off x="6029325" y="3982720"/>
            <a:ext cx="419100" cy="1351280"/>
          </a:xfrm>
          <a:prstGeom prst="rect">
            <a:avLst/>
          </a:prstGeom>
          <a:solidFill>
            <a:srgbClr val="336EE8"/>
          </a:solidFill>
          <a:ln>
            <a:noFill/>
          </a:ln>
        </p:spPr>
      </p:sp>
      <p:sp>
        <p:nvSpPr>
          <p:cNvPr id="47" name="TextBox 47"/>
          <p:cNvSpPr txBox="1"/>
          <p:nvPr/>
        </p:nvSpPr>
        <p:spPr>
          <a:xfrm>
            <a:off x="6092878" y="3809365"/>
            <a:ext cx="291994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b="1" dirty="0">
                <a:solidFill>
                  <a:srgbClr val="336EE8"/>
                </a:solidFill>
                <a:latin typeface="JetBrains Mono"/>
                <a:ea typeface="Microsoft YaHei"/>
                <a:cs typeface="JetBrains Mono"/>
              </a:rPr>
              <a:t>71.2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6125575" y="5446395"/>
            <a:ext cx="22660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262626"/>
                </a:solidFill>
                <a:latin typeface="JetBrains Mono"/>
                <a:ea typeface="Microsoft YaHei"/>
                <a:cs typeface="JetBrains Mono"/>
              </a:rPr>
              <a:t>6月</a:t>
            </a:r>
          </a:p>
        </p:txBody>
      </p:sp>
      <p:sp>
        <p:nvSpPr>
          <p:cNvPr id="49" name="Line 49"/>
          <p:cNvSpPr/>
          <p:nvPr/>
        </p:nvSpPr>
        <p:spPr>
          <a:xfrm>
            <a:off x="7124700" y="1428750"/>
            <a:ext cx="9525" cy="4591050"/>
          </a:xfrm>
          <a:custGeom>
            <a:avLst/>
            <a:gdLst/>
            <a:ahLst/>
            <a:cxnLst/>
            <a:rect l="l" t="t" r="r" b="b"/>
            <a:pathLst>
              <a:path w="9525" h="4591050">
                <a:moveTo>
                  <a:pt x="0" y="0"/>
                </a:moveTo>
                <a:lnTo>
                  <a:pt x="0" y="4591050"/>
                </a:lnTo>
              </a:path>
            </a:pathLst>
          </a:custGeom>
          <a:noFill/>
          <a:ln w="9525">
            <a:solidFill>
              <a:srgbClr val="E7E7E7"/>
            </a:solidFill>
          </a:ln>
        </p:spPr>
      </p:sp>
      <p:sp>
        <p:nvSpPr>
          <p:cNvPr id="50" name="TextBox 50"/>
          <p:cNvSpPr txBox="1"/>
          <p:nvPr/>
        </p:nvSpPr>
        <p:spPr>
          <a:xfrm>
            <a:off x="7410450" y="1438275"/>
            <a:ext cx="958215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趋势研判</a:t>
            </a:r>
          </a:p>
        </p:txBody>
      </p:sp>
      <p:sp>
        <p:nvSpPr>
          <p:cNvPr id="51" name="Ellipse 51"/>
          <p:cNvSpPr/>
          <p:nvPr/>
        </p:nvSpPr>
        <p:spPr>
          <a:xfrm>
            <a:off x="7439025" y="1885950"/>
            <a:ext cx="57150" cy="57150"/>
          </a:xfrm>
          <a:prstGeom prst="ellipse">
            <a:avLst/>
          </a:prstGeom>
          <a:solidFill>
            <a:srgbClr val="9B9B9B"/>
          </a:solidFill>
          <a:ln>
            <a:noFill/>
          </a:ln>
        </p:spPr>
      </p:sp>
      <p:sp>
        <p:nvSpPr>
          <p:cNvPr id="52" name="TextBox 52"/>
          <p:cNvSpPr txBox="1"/>
          <p:nvPr/>
        </p:nvSpPr>
        <p:spPr>
          <a:xfrm>
            <a:off x="7605712" y="1831181"/>
            <a:ext cx="233707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近 8 个月在 69–73% 区间震荡，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7605712" y="2059781"/>
            <a:ext cx="232886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无趋势性改善，长期低于基准。</a:t>
            </a:r>
          </a:p>
        </p:txBody>
      </p:sp>
      <p:sp>
        <p:nvSpPr>
          <p:cNvPr id="54" name="Ellipse 54"/>
          <p:cNvSpPr/>
          <p:nvPr/>
        </p:nvSpPr>
        <p:spPr>
          <a:xfrm>
            <a:off x="7439025" y="2571750"/>
            <a:ext cx="57150" cy="57150"/>
          </a:xfrm>
          <a:prstGeom prst="ellipse">
            <a:avLst/>
          </a:prstGeom>
          <a:solidFill>
            <a:srgbClr val="9B9B9B"/>
          </a:solidFill>
          <a:ln>
            <a:noFill/>
          </a:ln>
        </p:spPr>
      </p:sp>
      <p:sp>
        <p:nvSpPr>
          <p:cNvPr id="55" name="TextBox 55"/>
          <p:cNvSpPr txBox="1"/>
          <p:nvPr/>
        </p:nvSpPr>
        <p:spPr>
          <a:xfrm>
            <a:off x="7605712" y="2516981"/>
            <a:ext cx="216455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波谷集中在 1–2 月，换型批次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7605712" y="2745581"/>
            <a:ext cx="216455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增多，与换型停机高度相关。</a:t>
            </a:r>
          </a:p>
        </p:txBody>
      </p:sp>
      <p:sp>
        <p:nvSpPr>
          <p:cNvPr id="57" name="Ellipse 57"/>
          <p:cNvSpPr/>
          <p:nvPr/>
        </p:nvSpPr>
        <p:spPr>
          <a:xfrm>
            <a:off x="7439025" y="3257550"/>
            <a:ext cx="57150" cy="57150"/>
          </a:xfrm>
          <a:prstGeom prst="ellipse">
            <a:avLst/>
          </a:prstGeom>
          <a:solidFill>
            <a:srgbClr val="9B9B9B"/>
          </a:solidFill>
          <a:ln>
            <a:noFill/>
          </a:ln>
        </p:spPr>
      </p:sp>
      <p:sp>
        <p:nvSpPr>
          <p:cNvPr id="58" name="TextBox 58"/>
          <p:cNvSpPr txBox="1"/>
          <p:nvPr/>
        </p:nvSpPr>
        <p:spPr>
          <a:xfrm>
            <a:off x="7605712" y="3202781"/>
            <a:ext cx="207418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缺口约 14 个百分点，靠自然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7605712" y="3431381"/>
            <a:ext cx="232886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爬坡无法收敛，需结构性介入。</a:t>
            </a:r>
          </a:p>
        </p:txBody>
      </p:sp>
      <p:sp>
        <p:nvSpPr>
          <p:cNvPr id="60" name="Line 60"/>
          <p:cNvSpPr/>
          <p:nvPr/>
        </p:nvSpPr>
        <p:spPr>
          <a:xfrm>
            <a:off x="7315200" y="4000500"/>
            <a:ext cx="4495800" cy="9525"/>
          </a:xfrm>
          <a:custGeom>
            <a:avLst/>
            <a:gdLst/>
            <a:ahLst/>
            <a:cxnLst/>
            <a:rect l="l" t="t" r="r" b="b"/>
            <a:pathLst>
              <a:path w="4495800" h="9525">
                <a:moveTo>
                  <a:pt x="0" y="0"/>
                </a:moveTo>
                <a:lnTo>
                  <a:pt x="4495800" y="0"/>
                </a:lnTo>
              </a:path>
            </a:pathLst>
          </a:custGeom>
          <a:noFill/>
          <a:ln w="9525">
            <a:solidFill>
              <a:srgbClr val="E7E7E7"/>
            </a:solidFill>
          </a:ln>
        </p:spPr>
      </p:sp>
      <p:sp>
        <p:nvSpPr>
          <p:cNvPr id="61" name="TextBox 61"/>
          <p:cNvSpPr txBox="1"/>
          <p:nvPr/>
        </p:nvSpPr>
        <p:spPr>
          <a:xfrm>
            <a:off x="7301865" y="4287202"/>
            <a:ext cx="127649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改善后 6 个月目标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7267575" y="4567238"/>
            <a:ext cx="1360408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750" b="1" dirty="0">
                <a:solidFill>
                  <a:srgbClr val="336EE8"/>
                </a:solidFill>
                <a:latin typeface="JetBrains Mono"/>
                <a:ea typeface="Microsoft YaHei"/>
                <a:cs typeface="JetBrains Mono"/>
              </a:rPr>
              <a:t>85%+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7300912" y="5174456"/>
            <a:ext cx="218098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约 +14 pt，回到行业基准水平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370522" y="139541"/>
            <a:ext cx="1400580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实施路径 · 第四部分 落地</a:t>
            </a:r>
          </a:p>
        </p:txBody>
      </p:sp>
      <p:sp>
        <p:nvSpPr>
          <p:cNvPr id="4" name="Rectangle 4"/>
          <p:cNvSpPr/>
          <p:nvPr/>
        </p:nvSpPr>
        <p:spPr>
          <a:xfrm>
            <a:off x="11410950" y="152400"/>
            <a:ext cx="85725" cy="85725"/>
          </a:xfrm>
          <a:prstGeom prst="rect">
            <a:avLst/>
          </a:prstGeom>
          <a:solidFill>
            <a:srgbClr val="336EE8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1468329" y="131445"/>
            <a:ext cx="354101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Aham</a:t>
            </a:r>
          </a:p>
        </p:txBody>
      </p:sp>
      <p:sp>
        <p:nvSpPr>
          <p:cNvPr id="6" name="Line 6"/>
          <p:cNvSpPr/>
          <p:nvPr/>
        </p:nvSpPr>
        <p:spPr>
          <a:xfrm>
            <a:off x="381000" y="304800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7E7E7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50520" y="483870"/>
            <a:ext cx="8305190" cy="4876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400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90 天三阶段推进：先治瓶颈、再稳系统、后固标准</a:t>
            </a:r>
          </a:p>
        </p:txBody>
      </p:sp>
      <p:sp>
        <p:nvSpPr>
          <p:cNvPr id="8" name="Line 8"/>
          <p:cNvSpPr/>
          <p:nvPr/>
        </p:nvSpPr>
        <p:spPr>
          <a:xfrm>
            <a:off x="381000" y="895350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7E7E7"/>
            </a:solidFill>
          </a:ln>
        </p:spPr>
      </p:sp>
      <p:sp>
        <p:nvSpPr>
          <p:cNvPr id="9" name="Line 9"/>
          <p:cNvSpPr/>
          <p:nvPr/>
        </p:nvSpPr>
        <p:spPr>
          <a:xfrm>
            <a:off x="381000" y="6572250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7E7E7"/>
            </a:solidFill>
          </a:ln>
        </p:spPr>
      </p:sp>
      <p:sp>
        <p:nvSpPr>
          <p:cNvPr id="10" name="TextBox 10"/>
          <p:cNvSpPr txBox="1"/>
          <p:nvPr/>
        </p:nvSpPr>
        <p:spPr>
          <a:xfrm>
            <a:off x="370522" y="6664166"/>
            <a:ext cx="2117503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来源：改善项目实施计划 v2 · 2026-06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457122" y="6664166"/>
            <a:ext cx="364355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825" dirty="0">
                <a:solidFill>
                  <a:srgbClr val="9B9B9B"/>
                </a:solidFill>
                <a:latin typeface="JetBrains Mono"/>
                <a:ea typeface="Microsoft YaHei"/>
                <a:cs typeface="JetBrains Mono"/>
              </a:rPr>
              <a:t>05 / 11</a:t>
            </a:r>
          </a:p>
        </p:txBody>
      </p:sp>
      <p:sp>
        <p:nvSpPr>
          <p:cNvPr id="12" name="Line 12"/>
          <p:cNvSpPr/>
          <p:nvPr/>
        </p:nvSpPr>
        <p:spPr>
          <a:xfrm>
            <a:off x="2305050" y="1504950"/>
            <a:ext cx="7581900" cy="9525"/>
          </a:xfrm>
          <a:custGeom>
            <a:avLst/>
            <a:gdLst/>
            <a:ahLst/>
            <a:cxnLst/>
            <a:rect l="l" t="t" r="r" b="b"/>
            <a:pathLst>
              <a:path w="7581900" h="9525">
                <a:moveTo>
                  <a:pt x="0" y="0"/>
                </a:moveTo>
                <a:lnTo>
                  <a:pt x="7581900" y="0"/>
                </a:lnTo>
              </a:path>
            </a:pathLst>
          </a:custGeom>
          <a:noFill/>
          <a:ln w="19050">
            <a:solidFill>
              <a:srgbClr val="E7E7E7"/>
            </a:solidFill>
          </a:ln>
        </p:spPr>
      </p:sp>
      <p:sp>
        <p:nvSpPr>
          <p:cNvPr id="13" name="Ellipse 13"/>
          <p:cNvSpPr/>
          <p:nvPr/>
        </p:nvSpPr>
        <p:spPr>
          <a:xfrm>
            <a:off x="2247900" y="1447800"/>
            <a:ext cx="114300" cy="114300"/>
          </a:xfrm>
          <a:prstGeom prst="ellipse">
            <a:avLst/>
          </a:prstGeom>
          <a:solidFill>
            <a:srgbClr val="336EE8"/>
          </a:solidFill>
          <a:ln>
            <a:noFill/>
          </a:ln>
        </p:spPr>
      </p:sp>
      <p:sp>
        <p:nvSpPr>
          <p:cNvPr id="14" name="Ellipse 14"/>
          <p:cNvSpPr/>
          <p:nvPr/>
        </p:nvSpPr>
        <p:spPr>
          <a:xfrm>
            <a:off x="6038850" y="1447800"/>
            <a:ext cx="114300" cy="114300"/>
          </a:xfrm>
          <a:prstGeom prst="ellipse">
            <a:avLst/>
          </a:prstGeom>
          <a:solidFill>
            <a:srgbClr val="C4C4C4"/>
          </a:solidFill>
          <a:ln>
            <a:noFill/>
          </a:ln>
        </p:spPr>
      </p:sp>
      <p:sp>
        <p:nvSpPr>
          <p:cNvPr id="15" name="Ellipse 15"/>
          <p:cNvSpPr/>
          <p:nvPr/>
        </p:nvSpPr>
        <p:spPr>
          <a:xfrm>
            <a:off x="9829800" y="1447800"/>
            <a:ext cx="114300" cy="114300"/>
          </a:xfrm>
          <a:prstGeom prst="ellipse">
            <a:avLst/>
          </a:prstGeom>
          <a:solidFill>
            <a:srgbClr val="C4C4C4"/>
          </a:solidFill>
          <a:ln>
            <a:noFill/>
          </a:ln>
        </p:spPr>
      </p:sp>
      <p:sp>
        <p:nvSpPr>
          <p:cNvPr id="16" name="TextBox 16"/>
          <p:cNvSpPr txBox="1"/>
          <p:nvPr/>
        </p:nvSpPr>
        <p:spPr>
          <a:xfrm>
            <a:off x="2014990" y="1704499"/>
            <a:ext cx="58012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6E6E6E"/>
                </a:solidFill>
                <a:latin typeface="JetBrains Mono"/>
                <a:ea typeface="Microsoft YaHei"/>
                <a:cs typeface="JetBrains Mono"/>
              </a:rPr>
              <a:t>Day 1–30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5766780" y="1704499"/>
            <a:ext cx="65843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6E6E6E"/>
                </a:solidFill>
                <a:latin typeface="JetBrains Mono"/>
                <a:ea typeface="Microsoft YaHei"/>
                <a:cs typeface="JetBrains Mono"/>
              </a:rPr>
              <a:t>Day 31–60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557730" y="1704499"/>
            <a:ext cx="65843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6E6E6E"/>
                </a:solidFill>
                <a:latin typeface="JetBrains Mono"/>
                <a:ea typeface="Microsoft YaHei"/>
                <a:cs typeface="JetBrains Mono"/>
              </a:rPr>
              <a:t>Day 61–90</a:t>
            </a:r>
          </a:p>
        </p:txBody>
      </p:sp>
      <p:sp>
        <p:nvSpPr>
          <p:cNvPr id="19" name="Line 19"/>
          <p:cNvSpPr/>
          <p:nvPr/>
        </p:nvSpPr>
        <p:spPr>
          <a:xfrm>
            <a:off x="4200525" y="2114550"/>
            <a:ext cx="9525" cy="2419350"/>
          </a:xfrm>
          <a:custGeom>
            <a:avLst/>
            <a:gdLst/>
            <a:ahLst/>
            <a:cxnLst/>
            <a:rect l="l" t="t" r="r" b="b"/>
            <a:pathLst>
              <a:path w="9525" h="2419350">
                <a:moveTo>
                  <a:pt x="0" y="0"/>
                </a:moveTo>
                <a:lnTo>
                  <a:pt x="0" y="2419350"/>
                </a:lnTo>
              </a:path>
            </a:pathLst>
          </a:custGeom>
          <a:noFill/>
          <a:ln w="9525">
            <a:solidFill>
              <a:srgbClr val="E7E7E7"/>
            </a:solidFill>
          </a:ln>
        </p:spPr>
      </p:sp>
      <p:sp>
        <p:nvSpPr>
          <p:cNvPr id="20" name="Line 20"/>
          <p:cNvSpPr/>
          <p:nvPr/>
        </p:nvSpPr>
        <p:spPr>
          <a:xfrm>
            <a:off x="7991475" y="2114550"/>
            <a:ext cx="9525" cy="2419350"/>
          </a:xfrm>
          <a:custGeom>
            <a:avLst/>
            <a:gdLst/>
            <a:ahLst/>
            <a:cxnLst/>
            <a:rect l="l" t="t" r="r" b="b"/>
            <a:pathLst>
              <a:path w="9525" h="2419350">
                <a:moveTo>
                  <a:pt x="0" y="0"/>
                </a:moveTo>
                <a:lnTo>
                  <a:pt x="0" y="2419350"/>
                </a:lnTo>
              </a:path>
            </a:pathLst>
          </a:custGeom>
          <a:noFill/>
          <a:ln w="9525">
            <a:solidFill>
              <a:srgbClr val="E7E7E7"/>
            </a:solidFill>
          </a:ln>
        </p:spPr>
      </p:sp>
      <p:sp>
        <p:nvSpPr>
          <p:cNvPr id="21" name="TextBox 21"/>
          <p:cNvSpPr txBox="1"/>
          <p:nvPr/>
        </p:nvSpPr>
        <p:spPr>
          <a:xfrm>
            <a:off x="354330" y="2173605"/>
            <a:ext cx="327074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C4C4C4"/>
                </a:solidFill>
                <a:latin typeface="JetBrains Mono"/>
                <a:ea typeface="Microsoft YaHei"/>
                <a:cs typeface="JetBrains Mono"/>
              </a:rPr>
              <a:t>01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817245" y="2222182"/>
            <a:ext cx="801005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治瓶颈</a:t>
            </a:r>
          </a:p>
        </p:txBody>
      </p:sp>
      <p:sp>
        <p:nvSpPr>
          <p:cNvPr id="23" name="Ellipse 23"/>
          <p:cNvSpPr/>
          <p:nvPr/>
        </p:nvSpPr>
        <p:spPr>
          <a:xfrm>
            <a:off x="1524000" y="2257425"/>
            <a:ext cx="76200" cy="76200"/>
          </a:xfrm>
          <a:prstGeom prst="ellipse">
            <a:avLst/>
          </a:prstGeom>
          <a:solidFill>
            <a:srgbClr val="6E6E6E"/>
          </a:solidFill>
          <a:ln>
            <a:noFill/>
          </a:ln>
        </p:spPr>
      </p:sp>
      <p:sp>
        <p:nvSpPr>
          <p:cNvPr id="24" name="TextBox 24"/>
          <p:cNvSpPr txBox="1"/>
          <p:nvPr/>
        </p:nvSpPr>
        <p:spPr>
          <a:xfrm>
            <a:off x="1683068" y="2228374"/>
            <a:ext cx="45196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进行中</a:t>
            </a:r>
          </a:p>
        </p:txBody>
      </p:sp>
      <p:sp>
        <p:nvSpPr>
          <p:cNvPr id="25" name="Ellipse 25"/>
          <p:cNvSpPr/>
          <p:nvPr/>
        </p:nvSpPr>
        <p:spPr>
          <a:xfrm>
            <a:off x="390525" y="2752725"/>
            <a:ext cx="57150" cy="57150"/>
          </a:xfrm>
          <a:prstGeom prst="ellipse">
            <a:avLst/>
          </a:prstGeom>
          <a:solidFill>
            <a:srgbClr val="9B9B9B"/>
          </a:solidFill>
          <a:ln>
            <a:noFill/>
          </a:ln>
        </p:spPr>
      </p:sp>
      <p:sp>
        <p:nvSpPr>
          <p:cNvPr id="26" name="TextBox 26"/>
          <p:cNvSpPr txBox="1"/>
          <p:nvPr/>
        </p:nvSpPr>
        <p:spPr>
          <a:xfrm>
            <a:off x="557212" y="2697956"/>
            <a:ext cx="186059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焊装线 B 换型 SMED 改造</a:t>
            </a:r>
          </a:p>
        </p:txBody>
      </p:sp>
      <p:sp>
        <p:nvSpPr>
          <p:cNvPr id="27" name="Ellipse 27"/>
          <p:cNvSpPr/>
          <p:nvPr/>
        </p:nvSpPr>
        <p:spPr>
          <a:xfrm>
            <a:off x="390525" y="3095625"/>
            <a:ext cx="57150" cy="57150"/>
          </a:xfrm>
          <a:prstGeom prst="ellipse">
            <a:avLst/>
          </a:prstGeom>
          <a:solidFill>
            <a:srgbClr val="9B9B9B"/>
          </a:solidFill>
          <a:ln>
            <a:noFill/>
          </a:ln>
        </p:spPr>
      </p:sp>
      <p:sp>
        <p:nvSpPr>
          <p:cNvPr id="28" name="TextBox 28"/>
          <p:cNvSpPr txBox="1"/>
          <p:nvPr/>
        </p:nvSpPr>
        <p:spPr>
          <a:xfrm>
            <a:off x="557212" y="3040856"/>
            <a:ext cx="183594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待料看板与配送节拍对齐</a:t>
            </a:r>
          </a:p>
        </p:txBody>
      </p:sp>
      <p:sp>
        <p:nvSpPr>
          <p:cNvPr id="29" name="Ellipse 29"/>
          <p:cNvSpPr/>
          <p:nvPr/>
        </p:nvSpPr>
        <p:spPr>
          <a:xfrm>
            <a:off x="390525" y="3438525"/>
            <a:ext cx="57150" cy="57150"/>
          </a:xfrm>
          <a:prstGeom prst="ellipse">
            <a:avLst/>
          </a:prstGeom>
          <a:solidFill>
            <a:srgbClr val="9B9B9B"/>
          </a:solidFill>
          <a:ln>
            <a:noFill/>
          </a:ln>
        </p:spPr>
      </p:sp>
      <p:sp>
        <p:nvSpPr>
          <p:cNvPr id="30" name="TextBox 30"/>
          <p:cNvSpPr txBox="1"/>
          <p:nvPr/>
        </p:nvSpPr>
        <p:spPr>
          <a:xfrm>
            <a:off x="557212" y="3383756"/>
            <a:ext cx="134302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关键设备点检上线</a:t>
            </a:r>
          </a:p>
        </p:txBody>
      </p:sp>
      <p:sp>
        <p:nvSpPr>
          <p:cNvPr id="31" name="Line 31"/>
          <p:cNvSpPr/>
          <p:nvPr/>
        </p:nvSpPr>
        <p:spPr>
          <a:xfrm>
            <a:off x="381000" y="4000500"/>
            <a:ext cx="3543300" cy="9525"/>
          </a:xfrm>
          <a:custGeom>
            <a:avLst/>
            <a:gdLst/>
            <a:ahLst/>
            <a:cxnLst/>
            <a:rect l="l" t="t" r="r" b="b"/>
            <a:pathLst>
              <a:path w="3543300" h="9525">
                <a:moveTo>
                  <a:pt x="0" y="0"/>
                </a:moveTo>
                <a:lnTo>
                  <a:pt x="3543300" y="0"/>
                </a:lnTo>
              </a:path>
            </a:pathLst>
          </a:custGeom>
          <a:noFill/>
          <a:ln w="7144">
            <a:solidFill>
              <a:srgbClr val="E7E7E7"/>
            </a:solidFill>
          </a:ln>
        </p:spPr>
      </p:sp>
      <p:sp>
        <p:nvSpPr>
          <p:cNvPr id="32" name="TextBox 32"/>
          <p:cNvSpPr txBox="1"/>
          <p:nvPr/>
        </p:nvSpPr>
        <p:spPr>
          <a:xfrm>
            <a:off x="368618" y="4219099"/>
            <a:ext cx="30956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交付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822960" y="4194810"/>
            <a:ext cx="1429055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B 线 OEE 68→76%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4297680" y="2173605"/>
            <a:ext cx="407584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C4C4C4"/>
                </a:solidFill>
                <a:latin typeface="JetBrains Mono"/>
                <a:ea typeface="Microsoft YaHei"/>
                <a:cs typeface="JetBrains Mono"/>
              </a:rPr>
              <a:t>02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4760595" y="2222182"/>
            <a:ext cx="801005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稳系统</a:t>
            </a:r>
          </a:p>
        </p:txBody>
      </p:sp>
      <p:sp>
        <p:nvSpPr>
          <p:cNvPr id="36" name="Ellipse 36"/>
          <p:cNvSpPr/>
          <p:nvPr/>
        </p:nvSpPr>
        <p:spPr>
          <a:xfrm>
            <a:off x="4333875" y="2752725"/>
            <a:ext cx="57150" cy="57150"/>
          </a:xfrm>
          <a:prstGeom prst="ellipse">
            <a:avLst/>
          </a:prstGeom>
          <a:solidFill>
            <a:srgbClr val="9B9B9B"/>
          </a:solidFill>
          <a:ln>
            <a:noFill/>
          </a:ln>
        </p:spPr>
      </p:sp>
      <p:sp>
        <p:nvSpPr>
          <p:cNvPr id="37" name="TextBox 37"/>
          <p:cNvSpPr txBox="1"/>
          <p:nvPr/>
        </p:nvSpPr>
        <p:spPr>
          <a:xfrm>
            <a:off x="4500562" y="2697956"/>
            <a:ext cx="195095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SMED 与点检标准三线推广</a:t>
            </a:r>
          </a:p>
        </p:txBody>
      </p:sp>
      <p:sp>
        <p:nvSpPr>
          <p:cNvPr id="38" name="Ellipse 38"/>
          <p:cNvSpPr/>
          <p:nvPr/>
        </p:nvSpPr>
        <p:spPr>
          <a:xfrm>
            <a:off x="4333875" y="3095625"/>
            <a:ext cx="57150" cy="57150"/>
          </a:xfrm>
          <a:prstGeom prst="ellipse">
            <a:avLst/>
          </a:prstGeom>
          <a:solidFill>
            <a:srgbClr val="9B9B9B"/>
          </a:solidFill>
          <a:ln>
            <a:noFill/>
          </a:ln>
        </p:spPr>
      </p:sp>
      <p:sp>
        <p:nvSpPr>
          <p:cNvPr id="39" name="TextBox 39"/>
          <p:cNvSpPr txBox="1"/>
          <p:nvPr/>
        </p:nvSpPr>
        <p:spPr>
          <a:xfrm>
            <a:off x="4500562" y="3040856"/>
            <a:ext cx="204954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MES 停机自动采集 + 日清会</a:t>
            </a:r>
          </a:p>
        </p:txBody>
      </p:sp>
      <p:sp>
        <p:nvSpPr>
          <p:cNvPr id="40" name="Ellipse 40"/>
          <p:cNvSpPr/>
          <p:nvPr/>
        </p:nvSpPr>
        <p:spPr>
          <a:xfrm>
            <a:off x="4333875" y="3438525"/>
            <a:ext cx="57150" cy="57150"/>
          </a:xfrm>
          <a:prstGeom prst="ellipse">
            <a:avLst/>
          </a:prstGeom>
          <a:solidFill>
            <a:srgbClr val="9B9B9B"/>
          </a:solidFill>
          <a:ln>
            <a:noFill/>
          </a:ln>
        </p:spPr>
      </p:sp>
      <p:sp>
        <p:nvSpPr>
          <p:cNvPr id="41" name="TextBox 41"/>
          <p:cNvSpPr txBox="1"/>
          <p:nvPr/>
        </p:nvSpPr>
        <p:spPr>
          <a:xfrm>
            <a:off x="4500562" y="3383756"/>
            <a:ext cx="1178719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备件与工装预置</a:t>
            </a:r>
          </a:p>
        </p:txBody>
      </p:sp>
      <p:sp>
        <p:nvSpPr>
          <p:cNvPr id="42" name="Line 42"/>
          <p:cNvSpPr/>
          <p:nvPr/>
        </p:nvSpPr>
        <p:spPr>
          <a:xfrm>
            <a:off x="4324350" y="4000500"/>
            <a:ext cx="3543300" cy="9525"/>
          </a:xfrm>
          <a:custGeom>
            <a:avLst/>
            <a:gdLst/>
            <a:ahLst/>
            <a:cxnLst/>
            <a:rect l="l" t="t" r="r" b="b"/>
            <a:pathLst>
              <a:path w="3543300" h="9525">
                <a:moveTo>
                  <a:pt x="0" y="0"/>
                </a:moveTo>
                <a:lnTo>
                  <a:pt x="3543300" y="0"/>
                </a:lnTo>
              </a:path>
            </a:pathLst>
          </a:custGeom>
          <a:noFill/>
          <a:ln w="7144">
            <a:solidFill>
              <a:srgbClr val="E7E7E7"/>
            </a:solidFill>
          </a:ln>
        </p:spPr>
      </p:sp>
      <p:sp>
        <p:nvSpPr>
          <p:cNvPr id="43" name="TextBox 43"/>
          <p:cNvSpPr txBox="1"/>
          <p:nvPr/>
        </p:nvSpPr>
        <p:spPr>
          <a:xfrm>
            <a:off x="4311968" y="4219099"/>
            <a:ext cx="30956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交付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4766310" y="4194810"/>
            <a:ext cx="1254233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综合 OEE →80%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8088630" y="2173605"/>
            <a:ext cx="407584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C4C4C4"/>
                </a:solidFill>
                <a:latin typeface="JetBrains Mono"/>
                <a:ea typeface="Microsoft YaHei"/>
                <a:cs typeface="JetBrains Mono"/>
              </a:rPr>
              <a:t>03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8551545" y="2222182"/>
            <a:ext cx="801005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固标准</a:t>
            </a:r>
          </a:p>
        </p:txBody>
      </p:sp>
      <p:sp>
        <p:nvSpPr>
          <p:cNvPr id="47" name="Ellipse 47"/>
          <p:cNvSpPr/>
          <p:nvPr/>
        </p:nvSpPr>
        <p:spPr>
          <a:xfrm>
            <a:off x="8124825" y="2752725"/>
            <a:ext cx="57150" cy="57150"/>
          </a:xfrm>
          <a:prstGeom prst="ellipse">
            <a:avLst/>
          </a:prstGeom>
          <a:solidFill>
            <a:srgbClr val="9B9B9B"/>
          </a:solidFill>
          <a:ln>
            <a:noFill/>
          </a:ln>
        </p:spPr>
      </p:sp>
      <p:sp>
        <p:nvSpPr>
          <p:cNvPr id="48" name="TextBox 48"/>
          <p:cNvSpPr txBox="1"/>
          <p:nvPr/>
        </p:nvSpPr>
        <p:spPr>
          <a:xfrm>
            <a:off x="8291512" y="2697956"/>
            <a:ext cx="183594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标准作业固化与培训认证</a:t>
            </a:r>
          </a:p>
        </p:txBody>
      </p:sp>
      <p:sp>
        <p:nvSpPr>
          <p:cNvPr id="49" name="Ellipse 49"/>
          <p:cNvSpPr/>
          <p:nvPr/>
        </p:nvSpPr>
        <p:spPr>
          <a:xfrm>
            <a:off x="8124825" y="3095625"/>
            <a:ext cx="57150" cy="57150"/>
          </a:xfrm>
          <a:prstGeom prst="ellipse">
            <a:avLst/>
          </a:prstGeom>
          <a:solidFill>
            <a:srgbClr val="9B9B9B"/>
          </a:solidFill>
          <a:ln>
            <a:noFill/>
          </a:ln>
        </p:spPr>
      </p:sp>
      <p:sp>
        <p:nvSpPr>
          <p:cNvPr id="50" name="TextBox 50"/>
          <p:cNvSpPr txBox="1"/>
          <p:nvPr/>
        </p:nvSpPr>
        <p:spPr>
          <a:xfrm>
            <a:off x="8291512" y="3040856"/>
            <a:ext cx="1696283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OEE 纳入班组考核看板</a:t>
            </a:r>
          </a:p>
        </p:txBody>
      </p:sp>
      <p:sp>
        <p:nvSpPr>
          <p:cNvPr id="51" name="Ellipse 51"/>
          <p:cNvSpPr/>
          <p:nvPr/>
        </p:nvSpPr>
        <p:spPr>
          <a:xfrm>
            <a:off x="8124825" y="3438525"/>
            <a:ext cx="57150" cy="57150"/>
          </a:xfrm>
          <a:prstGeom prst="ellipse">
            <a:avLst/>
          </a:prstGeom>
          <a:solidFill>
            <a:srgbClr val="9B9B9B"/>
          </a:solidFill>
          <a:ln>
            <a:noFill/>
          </a:ln>
        </p:spPr>
      </p:sp>
      <p:sp>
        <p:nvSpPr>
          <p:cNvPr id="52" name="TextBox 52"/>
          <p:cNvSpPr txBox="1"/>
          <p:nvPr/>
        </p:nvSpPr>
        <p:spPr>
          <a:xfrm>
            <a:off x="8291512" y="3383756"/>
            <a:ext cx="134302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月度改善例会机制</a:t>
            </a:r>
          </a:p>
        </p:txBody>
      </p:sp>
      <p:sp>
        <p:nvSpPr>
          <p:cNvPr id="53" name="Line 53"/>
          <p:cNvSpPr/>
          <p:nvPr/>
        </p:nvSpPr>
        <p:spPr>
          <a:xfrm>
            <a:off x="8115300" y="4000500"/>
            <a:ext cx="3543300" cy="9525"/>
          </a:xfrm>
          <a:custGeom>
            <a:avLst/>
            <a:gdLst/>
            <a:ahLst/>
            <a:cxnLst/>
            <a:rect l="l" t="t" r="r" b="b"/>
            <a:pathLst>
              <a:path w="3543300" h="9525">
                <a:moveTo>
                  <a:pt x="0" y="0"/>
                </a:moveTo>
                <a:lnTo>
                  <a:pt x="3543300" y="0"/>
                </a:lnTo>
              </a:path>
            </a:pathLst>
          </a:custGeom>
          <a:noFill/>
          <a:ln w="7144">
            <a:solidFill>
              <a:srgbClr val="E7E7E7"/>
            </a:solidFill>
          </a:ln>
        </p:spPr>
      </p:sp>
      <p:sp>
        <p:nvSpPr>
          <p:cNvPr id="54" name="TextBox 54"/>
          <p:cNvSpPr txBox="1"/>
          <p:nvPr/>
        </p:nvSpPr>
        <p:spPr>
          <a:xfrm>
            <a:off x="8102918" y="4219099"/>
            <a:ext cx="30956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交付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8557260" y="4194810"/>
            <a:ext cx="1861509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综合 OEE →85% 可持续</a:t>
            </a:r>
          </a:p>
        </p:txBody>
      </p:sp>
      <p:sp>
        <p:nvSpPr>
          <p:cNvPr id="56" name="Line 56"/>
          <p:cNvSpPr/>
          <p:nvPr/>
        </p:nvSpPr>
        <p:spPr>
          <a:xfrm>
            <a:off x="381000" y="4724400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7E7E7"/>
            </a:solidFill>
          </a:ln>
        </p:spPr>
      </p:sp>
      <p:sp>
        <p:nvSpPr>
          <p:cNvPr id="57" name="TextBox 57"/>
          <p:cNvSpPr txBox="1"/>
          <p:nvPr/>
        </p:nvSpPr>
        <p:spPr>
          <a:xfrm>
            <a:off x="364808" y="4910614"/>
            <a:ext cx="814483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责任矩阵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367665" y="5201602"/>
            <a:ext cx="67075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关键举措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5892165" y="5201602"/>
            <a:ext cx="50973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责任方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7987665" y="5201602"/>
            <a:ext cx="34871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截止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9321165" y="5201602"/>
            <a:ext cx="62244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验收 KPI</a:t>
            </a:r>
          </a:p>
        </p:txBody>
      </p:sp>
      <p:sp>
        <p:nvSpPr>
          <p:cNvPr id="62" name="Line 62"/>
          <p:cNvSpPr/>
          <p:nvPr/>
        </p:nvSpPr>
        <p:spPr>
          <a:xfrm>
            <a:off x="381000" y="5429250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11430">
            <a:solidFill>
              <a:srgbClr val="E7E7E7"/>
            </a:solidFill>
          </a:ln>
        </p:spPr>
      </p:sp>
      <p:sp>
        <p:nvSpPr>
          <p:cNvPr id="63" name="TextBox 63"/>
          <p:cNvSpPr txBox="1"/>
          <p:nvPr/>
        </p:nvSpPr>
        <p:spPr>
          <a:xfrm>
            <a:off x="366712" y="5593556"/>
            <a:ext cx="112942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SMED 换型改造</a:t>
            </a:r>
          </a:p>
        </p:txBody>
      </p:sp>
      <p:sp>
        <p:nvSpPr>
          <p:cNvPr id="64" name="TextBox 64"/>
          <p:cNvSpPr txBox="1"/>
          <p:nvPr/>
        </p:nvSpPr>
        <p:spPr>
          <a:xfrm>
            <a:off x="5891212" y="5593556"/>
            <a:ext cx="87475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工艺 · 李工</a:t>
            </a:r>
          </a:p>
        </p:txBody>
      </p:sp>
      <p:sp>
        <p:nvSpPr>
          <p:cNvPr id="65" name="TextBox 65"/>
          <p:cNvSpPr txBox="1"/>
          <p:nvPr/>
        </p:nvSpPr>
        <p:spPr>
          <a:xfrm>
            <a:off x="7986712" y="5593556"/>
            <a:ext cx="529709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262626"/>
                </a:solidFill>
                <a:latin typeface="JetBrains Mono"/>
                <a:ea typeface="Microsoft YaHei"/>
                <a:cs typeface="JetBrains Mono"/>
              </a:rPr>
              <a:t>Day 30</a:t>
            </a:r>
          </a:p>
        </p:txBody>
      </p:sp>
      <p:sp>
        <p:nvSpPr>
          <p:cNvPr id="66" name="TextBox 66"/>
          <p:cNvSpPr txBox="1"/>
          <p:nvPr/>
        </p:nvSpPr>
        <p:spPr>
          <a:xfrm>
            <a:off x="9320212" y="5593556"/>
            <a:ext cx="103905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换型 ≤ 20 min</a:t>
            </a:r>
          </a:p>
        </p:txBody>
      </p:sp>
      <p:sp>
        <p:nvSpPr>
          <p:cNvPr id="67" name="Line 67"/>
          <p:cNvSpPr/>
          <p:nvPr/>
        </p:nvSpPr>
        <p:spPr>
          <a:xfrm>
            <a:off x="381000" y="5848350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7144">
            <a:solidFill>
              <a:srgbClr val="E7E7E7"/>
            </a:solidFill>
          </a:ln>
        </p:spPr>
      </p:sp>
      <p:sp>
        <p:nvSpPr>
          <p:cNvPr id="68" name="TextBox 68"/>
          <p:cNvSpPr txBox="1"/>
          <p:nvPr/>
        </p:nvSpPr>
        <p:spPr>
          <a:xfrm>
            <a:off x="366712" y="5860256"/>
            <a:ext cx="101441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停机自动采集</a:t>
            </a:r>
          </a:p>
        </p:txBody>
      </p:sp>
      <p:sp>
        <p:nvSpPr>
          <p:cNvPr id="69" name="TextBox 69"/>
          <p:cNvSpPr txBox="1"/>
          <p:nvPr/>
        </p:nvSpPr>
        <p:spPr>
          <a:xfrm>
            <a:off x="5891212" y="5860256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IT · 王工</a:t>
            </a:r>
          </a:p>
        </p:txBody>
      </p:sp>
      <p:sp>
        <p:nvSpPr>
          <p:cNvPr id="70" name="TextBox 70"/>
          <p:cNvSpPr txBox="1"/>
          <p:nvPr/>
        </p:nvSpPr>
        <p:spPr>
          <a:xfrm>
            <a:off x="7986712" y="5860256"/>
            <a:ext cx="529709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262626"/>
                </a:solidFill>
                <a:latin typeface="JetBrains Mono"/>
                <a:ea typeface="Microsoft YaHei"/>
                <a:cs typeface="JetBrains Mono"/>
              </a:rPr>
              <a:t>Day 45</a:t>
            </a:r>
          </a:p>
        </p:txBody>
      </p:sp>
      <p:sp>
        <p:nvSpPr>
          <p:cNvPr id="71" name="TextBox 71"/>
          <p:cNvSpPr txBox="1"/>
          <p:nvPr/>
        </p:nvSpPr>
        <p:spPr>
          <a:xfrm>
            <a:off x="9320212" y="5860256"/>
            <a:ext cx="98155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采集率 ≥ 95%</a:t>
            </a:r>
          </a:p>
        </p:txBody>
      </p:sp>
      <p:sp>
        <p:nvSpPr>
          <p:cNvPr id="72" name="Line 72"/>
          <p:cNvSpPr/>
          <p:nvPr/>
        </p:nvSpPr>
        <p:spPr>
          <a:xfrm>
            <a:off x="381000" y="6115050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7144">
            <a:solidFill>
              <a:srgbClr val="E7E7E7"/>
            </a:solidFill>
          </a:ln>
        </p:spPr>
      </p:sp>
      <p:sp>
        <p:nvSpPr>
          <p:cNvPr id="73" name="TextBox 73"/>
          <p:cNvSpPr txBox="1"/>
          <p:nvPr/>
        </p:nvSpPr>
        <p:spPr>
          <a:xfrm>
            <a:off x="366712" y="6126956"/>
            <a:ext cx="101441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标准作业固化</a:t>
            </a:r>
          </a:p>
        </p:txBody>
      </p:sp>
      <p:sp>
        <p:nvSpPr>
          <p:cNvPr id="74" name="TextBox 74"/>
          <p:cNvSpPr txBox="1"/>
          <p:nvPr/>
        </p:nvSpPr>
        <p:spPr>
          <a:xfrm>
            <a:off x="5891212" y="6126956"/>
            <a:ext cx="87475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生产 · 张工</a:t>
            </a:r>
          </a:p>
        </p:txBody>
      </p:sp>
      <p:sp>
        <p:nvSpPr>
          <p:cNvPr id="75" name="TextBox 75"/>
          <p:cNvSpPr txBox="1"/>
          <p:nvPr/>
        </p:nvSpPr>
        <p:spPr>
          <a:xfrm>
            <a:off x="7986712" y="6126956"/>
            <a:ext cx="529709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262626"/>
                </a:solidFill>
                <a:latin typeface="JetBrains Mono"/>
                <a:ea typeface="Microsoft YaHei"/>
                <a:cs typeface="JetBrains Mono"/>
              </a:rPr>
              <a:t>Day 90</a:t>
            </a:r>
          </a:p>
        </p:txBody>
      </p:sp>
      <p:sp>
        <p:nvSpPr>
          <p:cNvPr id="76" name="TextBox 76"/>
          <p:cNvSpPr txBox="1"/>
          <p:nvPr/>
        </p:nvSpPr>
        <p:spPr>
          <a:xfrm>
            <a:off x="9320212" y="6126956"/>
            <a:ext cx="94047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稽核 ≥ 90 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370522" y="291941"/>
            <a:ext cx="1364432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根因分析 · 停机损失量化</a:t>
            </a:r>
          </a:p>
        </p:txBody>
      </p:sp>
      <p:sp>
        <p:nvSpPr>
          <p:cNvPr id="4" name="Rectangle 4"/>
          <p:cNvSpPr/>
          <p:nvPr/>
        </p:nvSpPr>
        <p:spPr>
          <a:xfrm>
            <a:off x="381000" y="6286500"/>
            <a:ext cx="800100" cy="19050"/>
          </a:xfrm>
          <a:prstGeom prst="rect">
            <a:avLst/>
          </a:prstGeom>
          <a:solidFill>
            <a:srgbClr val="336EE8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60045" y="1726882"/>
            <a:ext cx="2210752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非计划停机每年吃掉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82880" y="2259330"/>
            <a:ext cx="4570971" cy="2560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600" b="1" dirty="0">
                <a:solidFill>
                  <a:srgbClr val="262626"/>
                </a:solidFill>
                <a:latin typeface="JetBrains Mono"/>
                <a:ea typeface="Microsoft YaHei"/>
                <a:cs typeface="JetBrains Mono"/>
              </a:rPr>
              <a:t>¥420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4232910" y="3166110"/>
            <a:ext cx="720090" cy="8534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200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万</a:t>
            </a:r>
          </a:p>
        </p:txBody>
      </p:sp>
      <p:sp>
        <p:nvSpPr>
          <p:cNvPr id="8" name="Line 8"/>
          <p:cNvSpPr/>
          <p:nvPr/>
        </p:nvSpPr>
        <p:spPr>
          <a:xfrm>
            <a:off x="381000" y="3905250"/>
            <a:ext cx="4572000" cy="9525"/>
          </a:xfrm>
          <a:custGeom>
            <a:avLst/>
            <a:gdLst/>
            <a:ahLst/>
            <a:cxnLst/>
            <a:rect l="l" t="t" r="r" b="b"/>
            <a:pathLst>
              <a:path w="4572000" h="9525">
                <a:moveTo>
                  <a:pt x="0" y="0"/>
                </a:moveTo>
                <a:lnTo>
                  <a:pt x="4572000" y="0"/>
                </a:lnTo>
              </a:path>
            </a:pathLst>
          </a:custGeom>
          <a:noFill/>
          <a:ln w="14288">
            <a:solidFill>
              <a:srgbClr val="262626"/>
            </a:solidFill>
          </a:ln>
        </p:spPr>
      </p:sp>
      <p:sp>
        <p:nvSpPr>
          <p:cNvPr id="9" name="TextBox 9"/>
          <p:cNvSpPr txBox="1"/>
          <p:nvPr/>
        </p:nvSpPr>
        <p:spPr>
          <a:xfrm>
            <a:off x="360045" y="4127182"/>
            <a:ext cx="3546398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相当于焊装线 B 全年利润的 31%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366712" y="4564856"/>
            <a:ext cx="2747843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按 2026-Q1 停机工时 × 边际贡献测算</a:t>
            </a:r>
          </a:p>
        </p:txBody>
      </p:sp>
      <p:sp>
        <p:nvSpPr>
          <p:cNvPr id="11" name="Line 11"/>
          <p:cNvSpPr/>
          <p:nvPr/>
        </p:nvSpPr>
        <p:spPr>
          <a:xfrm>
            <a:off x="7620000" y="1428750"/>
            <a:ext cx="9525" cy="4191000"/>
          </a:xfrm>
          <a:custGeom>
            <a:avLst/>
            <a:gdLst/>
            <a:ahLst/>
            <a:cxnLst/>
            <a:rect l="l" t="t" r="r" b="b"/>
            <a:pathLst>
              <a:path w="9525" h="4191000">
                <a:moveTo>
                  <a:pt x="0" y="0"/>
                </a:moveTo>
                <a:lnTo>
                  <a:pt x="0" y="4191000"/>
                </a:lnTo>
              </a:path>
            </a:pathLst>
          </a:custGeom>
          <a:noFill/>
          <a:ln w="9525">
            <a:solidFill>
              <a:srgbClr val="E7E7E7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7988618" y="1552099"/>
            <a:ext cx="59436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E3D31"/>
                </a:solidFill>
                <a:latin typeface="Inter"/>
                <a:ea typeface="Microsoft YaHei"/>
                <a:cs typeface="Inter"/>
              </a:rPr>
              <a:t>损失拆解</a:t>
            </a:r>
          </a:p>
        </p:txBody>
      </p:sp>
      <p:sp>
        <p:nvSpPr>
          <p:cNvPr id="13" name="Rectangle 13"/>
          <p:cNvSpPr/>
          <p:nvPr/>
        </p:nvSpPr>
        <p:spPr>
          <a:xfrm>
            <a:off x="8001000" y="1790700"/>
            <a:ext cx="1143000" cy="19050"/>
          </a:xfrm>
          <a:prstGeom prst="rect">
            <a:avLst/>
          </a:prstGeom>
          <a:solidFill>
            <a:srgbClr val="9E3D31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7986712" y="2126456"/>
            <a:ext cx="71866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换型等待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159353" y="2110264"/>
            <a:ext cx="667839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75" b="1" dirty="0">
                <a:solidFill>
                  <a:srgbClr val="262626"/>
                </a:solidFill>
                <a:latin typeface="JetBrains Mono"/>
                <a:ea typeface="Microsoft YaHei"/>
                <a:cs typeface="JetBrains Mono"/>
              </a:rPr>
              <a:t>¥160 万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7988618" y="2371249"/>
            <a:ext cx="221770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占 38% · 换型频次高、单次 45 min</a:t>
            </a:r>
          </a:p>
        </p:txBody>
      </p:sp>
      <p:sp>
        <p:nvSpPr>
          <p:cNvPr id="17" name="Line 17"/>
          <p:cNvSpPr/>
          <p:nvPr/>
        </p:nvSpPr>
        <p:spPr>
          <a:xfrm>
            <a:off x="8001000" y="2667000"/>
            <a:ext cx="3810000" cy="9525"/>
          </a:xfrm>
          <a:custGeom>
            <a:avLst/>
            <a:gdLst/>
            <a:ahLst/>
            <a:cxnLst/>
            <a:rect l="l" t="t" r="r" b="b"/>
            <a:pathLst>
              <a:path w="3810000" h="9525">
                <a:moveTo>
                  <a:pt x="0" y="0"/>
                </a:moveTo>
                <a:lnTo>
                  <a:pt x="3810000" y="0"/>
                </a:lnTo>
              </a:path>
            </a:pathLst>
          </a:custGeom>
          <a:noFill/>
          <a:ln w="7144">
            <a:solidFill>
              <a:srgbClr val="E7E7E7"/>
            </a:solidFill>
          </a:ln>
        </p:spPr>
      </p:sp>
      <p:sp>
        <p:nvSpPr>
          <p:cNvPr id="18" name="TextBox 18"/>
          <p:cNvSpPr txBox="1"/>
          <p:nvPr/>
        </p:nvSpPr>
        <p:spPr>
          <a:xfrm>
            <a:off x="7986712" y="2926556"/>
            <a:ext cx="71866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物料待料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1159353" y="2910364"/>
            <a:ext cx="667839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75" b="1" dirty="0">
                <a:solidFill>
                  <a:srgbClr val="262626"/>
                </a:solidFill>
                <a:latin typeface="JetBrains Mono"/>
                <a:ea typeface="Microsoft YaHei"/>
                <a:cs typeface="JetBrains Mono"/>
              </a:rPr>
              <a:t>¥109 万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7988618" y="3171349"/>
            <a:ext cx="189018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占 26% · 配送节拍与产线不齐</a:t>
            </a:r>
          </a:p>
        </p:txBody>
      </p:sp>
      <p:sp>
        <p:nvSpPr>
          <p:cNvPr id="21" name="Line 21"/>
          <p:cNvSpPr/>
          <p:nvPr/>
        </p:nvSpPr>
        <p:spPr>
          <a:xfrm>
            <a:off x="8001000" y="3467100"/>
            <a:ext cx="3810000" cy="9525"/>
          </a:xfrm>
          <a:custGeom>
            <a:avLst/>
            <a:gdLst/>
            <a:ahLst/>
            <a:cxnLst/>
            <a:rect l="l" t="t" r="r" b="b"/>
            <a:pathLst>
              <a:path w="3810000" h="9525">
                <a:moveTo>
                  <a:pt x="0" y="0"/>
                </a:moveTo>
                <a:lnTo>
                  <a:pt x="3810000" y="0"/>
                </a:lnTo>
              </a:path>
            </a:pathLst>
          </a:custGeom>
          <a:noFill/>
          <a:ln w="7144">
            <a:solidFill>
              <a:srgbClr val="E7E7E7"/>
            </a:solidFill>
          </a:ln>
        </p:spPr>
      </p:sp>
      <p:sp>
        <p:nvSpPr>
          <p:cNvPr id="22" name="TextBox 22"/>
          <p:cNvSpPr txBox="1"/>
          <p:nvPr/>
        </p:nvSpPr>
        <p:spPr>
          <a:xfrm>
            <a:off x="7986712" y="3726656"/>
            <a:ext cx="71866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设备故障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66892" y="3710464"/>
            <a:ext cx="560301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75" b="1" dirty="0">
                <a:solidFill>
                  <a:srgbClr val="262626"/>
                </a:solidFill>
                <a:latin typeface="JetBrains Mono"/>
                <a:ea typeface="Microsoft YaHei"/>
                <a:cs typeface="JetBrains Mono"/>
              </a:rPr>
              <a:t>¥71 万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7988618" y="3971449"/>
            <a:ext cx="185458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占 17% · 点检缺失、突发停机</a:t>
            </a:r>
          </a:p>
        </p:txBody>
      </p:sp>
      <p:sp>
        <p:nvSpPr>
          <p:cNvPr id="25" name="Line 25"/>
          <p:cNvSpPr/>
          <p:nvPr/>
        </p:nvSpPr>
        <p:spPr>
          <a:xfrm>
            <a:off x="8001000" y="4267200"/>
            <a:ext cx="3810000" cy="9525"/>
          </a:xfrm>
          <a:custGeom>
            <a:avLst/>
            <a:gdLst/>
            <a:ahLst/>
            <a:cxnLst/>
            <a:rect l="l" t="t" r="r" b="b"/>
            <a:pathLst>
              <a:path w="3810000" h="9525">
                <a:moveTo>
                  <a:pt x="0" y="0"/>
                </a:moveTo>
                <a:lnTo>
                  <a:pt x="3810000" y="0"/>
                </a:lnTo>
              </a:path>
            </a:pathLst>
          </a:custGeom>
          <a:noFill/>
          <a:ln w="7144">
            <a:solidFill>
              <a:srgbClr val="E7E7E7"/>
            </a:solidFill>
          </a:ln>
        </p:spPr>
      </p:sp>
      <p:sp>
        <p:nvSpPr>
          <p:cNvPr id="26" name="Ellipse 26"/>
          <p:cNvSpPr/>
          <p:nvPr/>
        </p:nvSpPr>
        <p:spPr>
          <a:xfrm>
            <a:off x="8010525" y="4676775"/>
            <a:ext cx="57150" cy="57150"/>
          </a:xfrm>
          <a:prstGeom prst="ellipse">
            <a:avLst/>
          </a:prstGeom>
          <a:solidFill>
            <a:srgbClr val="336EE8"/>
          </a:solidFill>
          <a:ln>
            <a:noFill/>
          </a:ln>
        </p:spPr>
      </p:sp>
      <p:sp>
        <p:nvSpPr>
          <p:cNvPr id="27" name="TextBox 27"/>
          <p:cNvSpPr txBox="1"/>
          <p:nvPr/>
        </p:nvSpPr>
        <p:spPr>
          <a:xfrm>
            <a:off x="8177212" y="4641056"/>
            <a:ext cx="2484953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三项合计可改善空间 ¥340 万 / 年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370522" y="6578441"/>
            <a:ext cx="2563320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来源：停机工时台账 × 边际贡献测算 · 2026-Q1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1457122" y="6578441"/>
            <a:ext cx="364355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825" dirty="0">
                <a:solidFill>
                  <a:srgbClr val="9B9B9B"/>
                </a:solidFill>
                <a:latin typeface="JetBrains Mono"/>
                <a:ea typeface="Microsoft YaHei"/>
                <a:cs typeface="JetBrains Mono"/>
              </a:rPr>
              <a:t>06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370522" y="139541"/>
            <a:ext cx="1123450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改善方案 · 体系架构</a:t>
            </a:r>
          </a:p>
        </p:txBody>
      </p:sp>
      <p:sp>
        <p:nvSpPr>
          <p:cNvPr id="4" name="Rectangle 4"/>
          <p:cNvSpPr/>
          <p:nvPr/>
        </p:nvSpPr>
        <p:spPr>
          <a:xfrm>
            <a:off x="11410950" y="152400"/>
            <a:ext cx="85725" cy="85725"/>
          </a:xfrm>
          <a:prstGeom prst="rect">
            <a:avLst/>
          </a:prstGeom>
          <a:solidFill>
            <a:srgbClr val="336EE8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1468329" y="131445"/>
            <a:ext cx="354101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Aham</a:t>
            </a:r>
          </a:p>
        </p:txBody>
      </p:sp>
      <p:sp>
        <p:nvSpPr>
          <p:cNvPr id="6" name="Line 6"/>
          <p:cNvSpPr/>
          <p:nvPr/>
        </p:nvSpPr>
        <p:spPr>
          <a:xfrm>
            <a:off x="381000" y="304800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7E7E7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50520" y="483870"/>
            <a:ext cx="7789926" cy="4876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400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三层改善体系：目标对齐、过程管理、现场执行</a:t>
            </a:r>
          </a:p>
        </p:txBody>
      </p:sp>
      <p:sp>
        <p:nvSpPr>
          <p:cNvPr id="8" name="Line 8"/>
          <p:cNvSpPr/>
          <p:nvPr/>
        </p:nvSpPr>
        <p:spPr>
          <a:xfrm>
            <a:off x="381000" y="895350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7E7E7"/>
            </a:solidFill>
          </a:ln>
        </p:spPr>
      </p:sp>
      <p:sp>
        <p:nvSpPr>
          <p:cNvPr id="9" name="Line 9"/>
          <p:cNvSpPr/>
          <p:nvPr/>
        </p:nvSpPr>
        <p:spPr>
          <a:xfrm>
            <a:off x="381000" y="6572250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7E7E7"/>
            </a:solidFill>
          </a:ln>
        </p:spPr>
      </p:sp>
      <p:sp>
        <p:nvSpPr>
          <p:cNvPr id="10" name="TextBox 10"/>
          <p:cNvSpPr txBox="1"/>
          <p:nvPr/>
        </p:nvSpPr>
        <p:spPr>
          <a:xfrm>
            <a:off x="370522" y="6664166"/>
            <a:ext cx="1707832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来源：改善体系设计 · 2026-06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457122" y="6664166"/>
            <a:ext cx="364355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825" dirty="0">
                <a:solidFill>
                  <a:srgbClr val="9B9B9B"/>
                </a:solidFill>
                <a:latin typeface="JetBrains Mono"/>
                <a:ea typeface="Microsoft YaHei"/>
                <a:cs typeface="JetBrains Mono"/>
              </a:rPr>
              <a:t>07 / 11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360045" y="1326832"/>
            <a:ext cx="801005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战略层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7665" y="1639252"/>
            <a:ext cx="79343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目标与对标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352425" y="2005012"/>
            <a:ext cx="350437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250" b="1" dirty="0">
                <a:solidFill>
                  <a:srgbClr val="C4C4C4"/>
                </a:solidFill>
                <a:latin typeface="JetBrains Mono"/>
                <a:ea typeface="Microsoft YaHei"/>
                <a:cs typeface="JetBrains Mono"/>
              </a:rPr>
              <a:t>L1</a:t>
            </a:r>
          </a:p>
        </p:txBody>
      </p:sp>
      <p:sp>
        <p:nvSpPr>
          <p:cNvPr id="15" name="Rectangle 15"/>
          <p:cNvSpPr/>
          <p:nvPr/>
        </p:nvSpPr>
        <p:spPr>
          <a:xfrm>
            <a:off x="2286000" y="1143000"/>
            <a:ext cx="3073400" cy="1428750"/>
          </a:xfrm>
          <a:prstGeom prst="rect">
            <a:avLst/>
          </a:prstGeom>
          <a:solidFill>
            <a:srgbClr val="F3F3F3"/>
          </a:solidFill>
          <a:ln>
            <a:noFill/>
          </a:ln>
        </p:spPr>
      </p:sp>
      <p:sp>
        <p:nvSpPr>
          <p:cNvPr id="16" name="TextBox 16"/>
          <p:cNvSpPr txBox="1"/>
          <p:nvPr/>
        </p:nvSpPr>
        <p:spPr>
          <a:xfrm>
            <a:off x="3282222" y="1783556"/>
            <a:ext cx="108095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OEE 目标 85%</a:t>
            </a:r>
          </a:p>
        </p:txBody>
      </p:sp>
      <p:sp>
        <p:nvSpPr>
          <p:cNvPr id="17" name="Rectangle 17"/>
          <p:cNvSpPr/>
          <p:nvPr/>
        </p:nvSpPr>
        <p:spPr>
          <a:xfrm>
            <a:off x="5511800" y="1143000"/>
            <a:ext cx="3073400" cy="1428750"/>
          </a:xfrm>
          <a:prstGeom prst="rect">
            <a:avLst/>
          </a:prstGeom>
          <a:solidFill>
            <a:srgbClr val="F3F3F3"/>
          </a:solidFill>
          <a:ln>
            <a:noFill/>
          </a:ln>
        </p:spPr>
      </p:sp>
      <p:sp>
        <p:nvSpPr>
          <p:cNvPr id="18" name="TextBox 18"/>
          <p:cNvSpPr txBox="1"/>
          <p:nvPr/>
        </p:nvSpPr>
        <p:spPr>
          <a:xfrm>
            <a:off x="6516648" y="1783556"/>
            <a:ext cx="106370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对标行业基准</a:t>
            </a:r>
          </a:p>
        </p:txBody>
      </p:sp>
      <p:sp>
        <p:nvSpPr>
          <p:cNvPr id="19" name="Rectangle 19"/>
          <p:cNvSpPr/>
          <p:nvPr/>
        </p:nvSpPr>
        <p:spPr>
          <a:xfrm>
            <a:off x="8737600" y="1143000"/>
            <a:ext cx="3073400" cy="1428750"/>
          </a:xfrm>
          <a:prstGeom prst="rect">
            <a:avLst/>
          </a:prstGeom>
          <a:solidFill>
            <a:srgbClr val="F3F3F3"/>
          </a:solidFill>
          <a:ln>
            <a:noFill/>
          </a:ln>
        </p:spPr>
      </p:sp>
      <p:sp>
        <p:nvSpPr>
          <p:cNvPr id="20" name="TextBox 20"/>
          <p:cNvSpPr txBox="1"/>
          <p:nvPr/>
        </p:nvSpPr>
        <p:spPr>
          <a:xfrm>
            <a:off x="9742448" y="1783556"/>
            <a:ext cx="106370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投入产出测算</a:t>
            </a:r>
          </a:p>
        </p:txBody>
      </p:sp>
      <p:sp>
        <p:nvSpPr>
          <p:cNvPr id="21" name="Line 21"/>
          <p:cNvSpPr/>
          <p:nvPr/>
        </p:nvSpPr>
        <p:spPr>
          <a:xfrm>
            <a:off x="10858500" y="2609850"/>
            <a:ext cx="9525" cy="114300"/>
          </a:xfrm>
          <a:custGeom>
            <a:avLst/>
            <a:gdLst/>
            <a:ahLst/>
            <a:cxnLst/>
            <a:rect l="l" t="t" r="r" b="b"/>
            <a:pathLst>
              <a:path w="9525" h="114300">
                <a:moveTo>
                  <a:pt x="0" y="0"/>
                </a:moveTo>
                <a:lnTo>
                  <a:pt x="0" y="114300"/>
                </a:lnTo>
              </a:path>
            </a:pathLst>
          </a:custGeom>
          <a:noFill/>
          <a:ln w="19050">
            <a:solidFill>
              <a:srgbClr val="9B9B9B"/>
            </a:solidFill>
          </a:ln>
        </p:spPr>
      </p:sp>
      <p:sp>
        <p:nvSpPr>
          <p:cNvPr id="22" name="Polygon 22"/>
          <p:cNvSpPr/>
          <p:nvPr/>
        </p:nvSpPr>
        <p:spPr>
          <a:xfrm>
            <a:off x="10810875" y="2686050"/>
            <a:ext cx="95250" cy="76200"/>
          </a:xfrm>
          <a:custGeom>
            <a:avLst/>
            <a:gdLst/>
            <a:ahLst/>
            <a:cxnLst/>
            <a:rect l="l" t="t" r="r" b="b"/>
            <a:pathLst>
              <a:path w="95250" h="76200">
                <a:moveTo>
                  <a:pt x="0" y="0"/>
                </a:moveTo>
                <a:lnTo>
                  <a:pt x="47625" y="76200"/>
                </a:lnTo>
                <a:lnTo>
                  <a:pt x="95250" y="0"/>
                </a:lnTo>
                <a:close/>
              </a:path>
            </a:pathLst>
          </a:custGeom>
          <a:solidFill>
            <a:srgbClr val="9B9B9B"/>
          </a:solidFill>
          <a:ln>
            <a:noFill/>
          </a:ln>
        </p:spPr>
      </p:sp>
      <p:sp>
        <p:nvSpPr>
          <p:cNvPr id="23" name="TextBox 23"/>
          <p:cNvSpPr txBox="1"/>
          <p:nvPr/>
        </p:nvSpPr>
        <p:spPr>
          <a:xfrm>
            <a:off x="360045" y="2965132"/>
            <a:ext cx="801005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管理层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367665" y="3277552"/>
            <a:ext cx="79343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过程与机制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352425" y="3643312"/>
            <a:ext cx="436697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250" b="1" dirty="0">
                <a:solidFill>
                  <a:srgbClr val="C4C4C4"/>
                </a:solidFill>
                <a:latin typeface="JetBrains Mono"/>
                <a:ea typeface="Microsoft YaHei"/>
                <a:cs typeface="JetBrains Mono"/>
              </a:rPr>
              <a:t>L2</a:t>
            </a:r>
          </a:p>
        </p:txBody>
      </p:sp>
      <p:sp>
        <p:nvSpPr>
          <p:cNvPr id="26" name="Rectangle 26"/>
          <p:cNvSpPr/>
          <p:nvPr/>
        </p:nvSpPr>
        <p:spPr>
          <a:xfrm>
            <a:off x="2286000" y="2781300"/>
            <a:ext cx="2266950" cy="1428750"/>
          </a:xfrm>
          <a:prstGeom prst="rect">
            <a:avLst/>
          </a:prstGeom>
          <a:solidFill>
            <a:srgbClr val="F3F3F3"/>
          </a:solidFill>
          <a:ln>
            <a:noFill/>
          </a:ln>
        </p:spPr>
      </p:sp>
      <p:sp>
        <p:nvSpPr>
          <p:cNvPr id="27" name="TextBox 27"/>
          <p:cNvSpPr txBox="1"/>
          <p:nvPr/>
        </p:nvSpPr>
        <p:spPr>
          <a:xfrm>
            <a:off x="2973884" y="3421856"/>
            <a:ext cx="891183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日清会机制</a:t>
            </a:r>
          </a:p>
        </p:txBody>
      </p:sp>
      <p:sp>
        <p:nvSpPr>
          <p:cNvPr id="28" name="Rectangle 28"/>
          <p:cNvSpPr/>
          <p:nvPr/>
        </p:nvSpPr>
        <p:spPr>
          <a:xfrm>
            <a:off x="4705350" y="2781300"/>
            <a:ext cx="2266950" cy="1428750"/>
          </a:xfrm>
          <a:prstGeom prst="rect">
            <a:avLst/>
          </a:prstGeom>
          <a:solidFill>
            <a:srgbClr val="F3F3F3"/>
          </a:solidFill>
          <a:ln>
            <a:noFill/>
          </a:ln>
        </p:spPr>
      </p:sp>
      <p:sp>
        <p:nvSpPr>
          <p:cNvPr id="29" name="TextBox 29"/>
          <p:cNvSpPr txBox="1"/>
          <p:nvPr/>
        </p:nvSpPr>
        <p:spPr>
          <a:xfrm>
            <a:off x="5466555" y="3421856"/>
            <a:ext cx="744539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OEE 看板</a:t>
            </a:r>
          </a:p>
        </p:txBody>
      </p:sp>
      <p:sp>
        <p:nvSpPr>
          <p:cNvPr id="30" name="Rectangle 30"/>
          <p:cNvSpPr/>
          <p:nvPr/>
        </p:nvSpPr>
        <p:spPr>
          <a:xfrm>
            <a:off x="7124700" y="2781300"/>
            <a:ext cx="2266950" cy="1428750"/>
          </a:xfrm>
          <a:prstGeom prst="rect">
            <a:avLst/>
          </a:prstGeom>
          <a:solidFill>
            <a:srgbClr val="F3F3F3"/>
          </a:solidFill>
          <a:ln>
            <a:noFill/>
          </a:ln>
        </p:spPr>
      </p:sp>
      <p:sp>
        <p:nvSpPr>
          <p:cNvPr id="31" name="TextBox 31"/>
          <p:cNvSpPr txBox="1"/>
          <p:nvPr/>
        </p:nvSpPr>
        <p:spPr>
          <a:xfrm>
            <a:off x="7726323" y="3421856"/>
            <a:ext cx="106370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标准作业体系</a:t>
            </a:r>
          </a:p>
        </p:txBody>
      </p:sp>
      <p:sp>
        <p:nvSpPr>
          <p:cNvPr id="32" name="Rectangle 32"/>
          <p:cNvSpPr/>
          <p:nvPr/>
        </p:nvSpPr>
        <p:spPr>
          <a:xfrm>
            <a:off x="9544050" y="2781300"/>
            <a:ext cx="2266950" cy="1428750"/>
          </a:xfrm>
          <a:prstGeom prst="rect">
            <a:avLst/>
          </a:prstGeom>
          <a:solidFill>
            <a:srgbClr val="F3F3F3"/>
          </a:solidFill>
          <a:ln>
            <a:noFill/>
          </a:ln>
        </p:spPr>
      </p:sp>
      <p:sp>
        <p:nvSpPr>
          <p:cNvPr id="33" name="TextBox 33"/>
          <p:cNvSpPr txBox="1"/>
          <p:nvPr/>
        </p:nvSpPr>
        <p:spPr>
          <a:xfrm>
            <a:off x="10145673" y="3421856"/>
            <a:ext cx="106370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月度改善例会</a:t>
            </a:r>
          </a:p>
        </p:txBody>
      </p:sp>
      <p:sp>
        <p:nvSpPr>
          <p:cNvPr id="34" name="Line 34"/>
          <p:cNvSpPr/>
          <p:nvPr/>
        </p:nvSpPr>
        <p:spPr>
          <a:xfrm>
            <a:off x="10858500" y="4248150"/>
            <a:ext cx="9525" cy="114300"/>
          </a:xfrm>
          <a:custGeom>
            <a:avLst/>
            <a:gdLst/>
            <a:ahLst/>
            <a:cxnLst/>
            <a:rect l="l" t="t" r="r" b="b"/>
            <a:pathLst>
              <a:path w="9525" h="114300">
                <a:moveTo>
                  <a:pt x="0" y="0"/>
                </a:moveTo>
                <a:lnTo>
                  <a:pt x="0" y="114300"/>
                </a:lnTo>
              </a:path>
            </a:pathLst>
          </a:custGeom>
          <a:noFill/>
          <a:ln w="19050">
            <a:solidFill>
              <a:srgbClr val="9B9B9B"/>
            </a:solidFill>
          </a:ln>
        </p:spPr>
      </p:sp>
      <p:sp>
        <p:nvSpPr>
          <p:cNvPr id="35" name="Polygon 35"/>
          <p:cNvSpPr/>
          <p:nvPr/>
        </p:nvSpPr>
        <p:spPr>
          <a:xfrm>
            <a:off x="10810875" y="4324350"/>
            <a:ext cx="95250" cy="76200"/>
          </a:xfrm>
          <a:custGeom>
            <a:avLst/>
            <a:gdLst/>
            <a:ahLst/>
            <a:cxnLst/>
            <a:rect l="l" t="t" r="r" b="b"/>
            <a:pathLst>
              <a:path w="95250" h="76200">
                <a:moveTo>
                  <a:pt x="0" y="0"/>
                </a:moveTo>
                <a:lnTo>
                  <a:pt x="47625" y="76200"/>
                </a:lnTo>
                <a:lnTo>
                  <a:pt x="95250" y="0"/>
                </a:lnTo>
                <a:close/>
              </a:path>
            </a:pathLst>
          </a:custGeom>
          <a:solidFill>
            <a:srgbClr val="9B9B9B"/>
          </a:solidFill>
          <a:ln>
            <a:noFill/>
          </a:ln>
        </p:spPr>
      </p:sp>
      <p:sp>
        <p:nvSpPr>
          <p:cNvPr id="36" name="TextBox 36"/>
          <p:cNvSpPr txBox="1"/>
          <p:nvPr/>
        </p:nvSpPr>
        <p:spPr>
          <a:xfrm>
            <a:off x="360045" y="4603432"/>
            <a:ext cx="801005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执行层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367665" y="4915852"/>
            <a:ext cx="79343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现场与动作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352425" y="5281612"/>
            <a:ext cx="436697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250" b="1" dirty="0">
                <a:solidFill>
                  <a:srgbClr val="C4C4C4"/>
                </a:solidFill>
                <a:latin typeface="JetBrains Mono"/>
                <a:ea typeface="Microsoft YaHei"/>
                <a:cs typeface="JetBrains Mono"/>
              </a:rPr>
              <a:t>L3</a:t>
            </a:r>
          </a:p>
        </p:txBody>
      </p:sp>
      <p:sp>
        <p:nvSpPr>
          <p:cNvPr id="39" name="Rectangle 39"/>
          <p:cNvSpPr/>
          <p:nvPr/>
        </p:nvSpPr>
        <p:spPr>
          <a:xfrm>
            <a:off x="2286000" y="4419600"/>
            <a:ext cx="1783080" cy="1428750"/>
          </a:xfrm>
          <a:prstGeom prst="rect">
            <a:avLst/>
          </a:prstGeom>
          <a:solidFill>
            <a:srgbClr val="F3F3F3"/>
          </a:solidFill>
          <a:ln>
            <a:noFill/>
          </a:ln>
        </p:spPr>
      </p:sp>
      <p:sp>
        <p:nvSpPr>
          <p:cNvPr id="40" name="TextBox 40"/>
          <p:cNvSpPr txBox="1"/>
          <p:nvPr/>
        </p:nvSpPr>
        <p:spPr>
          <a:xfrm>
            <a:off x="2757827" y="5060156"/>
            <a:ext cx="83942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SMED 换型</a:t>
            </a:r>
          </a:p>
        </p:txBody>
      </p:sp>
      <p:sp>
        <p:nvSpPr>
          <p:cNvPr id="41" name="Rectangle 41"/>
          <p:cNvSpPr/>
          <p:nvPr/>
        </p:nvSpPr>
        <p:spPr>
          <a:xfrm>
            <a:off x="4221480" y="4419600"/>
            <a:ext cx="1783080" cy="1428750"/>
          </a:xfrm>
          <a:prstGeom prst="rect">
            <a:avLst/>
          </a:prstGeom>
          <a:solidFill>
            <a:srgbClr val="F3F3F3"/>
          </a:solidFill>
          <a:ln>
            <a:noFill/>
          </a:ln>
        </p:spPr>
      </p:sp>
      <p:sp>
        <p:nvSpPr>
          <p:cNvPr id="42" name="TextBox 42"/>
          <p:cNvSpPr txBox="1"/>
          <p:nvPr/>
        </p:nvSpPr>
        <p:spPr>
          <a:xfrm>
            <a:off x="4753689" y="5060156"/>
            <a:ext cx="71866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设备点检</a:t>
            </a:r>
          </a:p>
        </p:txBody>
      </p:sp>
      <p:sp>
        <p:nvSpPr>
          <p:cNvPr id="43" name="Rectangle 43"/>
          <p:cNvSpPr/>
          <p:nvPr/>
        </p:nvSpPr>
        <p:spPr>
          <a:xfrm>
            <a:off x="6156960" y="4419600"/>
            <a:ext cx="1783080" cy="1428750"/>
          </a:xfrm>
          <a:prstGeom prst="rect">
            <a:avLst/>
          </a:prstGeom>
          <a:solidFill>
            <a:srgbClr val="F3F3F3"/>
          </a:solidFill>
          <a:ln>
            <a:noFill/>
          </a:ln>
        </p:spPr>
      </p:sp>
      <p:sp>
        <p:nvSpPr>
          <p:cNvPr id="44" name="TextBox 44"/>
          <p:cNvSpPr txBox="1"/>
          <p:nvPr/>
        </p:nvSpPr>
        <p:spPr>
          <a:xfrm>
            <a:off x="6689169" y="5060156"/>
            <a:ext cx="71866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配送节拍</a:t>
            </a:r>
          </a:p>
        </p:txBody>
      </p:sp>
      <p:sp>
        <p:nvSpPr>
          <p:cNvPr id="45" name="Rectangle 45"/>
          <p:cNvSpPr/>
          <p:nvPr/>
        </p:nvSpPr>
        <p:spPr>
          <a:xfrm>
            <a:off x="8092440" y="4419600"/>
            <a:ext cx="1783080" cy="1428750"/>
          </a:xfrm>
          <a:prstGeom prst="rect">
            <a:avLst/>
          </a:prstGeom>
          <a:solidFill>
            <a:srgbClr val="F3F3F3"/>
          </a:solidFill>
          <a:ln>
            <a:noFill/>
          </a:ln>
        </p:spPr>
      </p:sp>
      <p:sp>
        <p:nvSpPr>
          <p:cNvPr id="46" name="TextBox 46"/>
          <p:cNvSpPr txBox="1"/>
          <p:nvPr/>
        </p:nvSpPr>
        <p:spPr>
          <a:xfrm>
            <a:off x="8624649" y="5060156"/>
            <a:ext cx="71866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备件预置</a:t>
            </a:r>
          </a:p>
        </p:txBody>
      </p:sp>
      <p:sp>
        <p:nvSpPr>
          <p:cNvPr id="47" name="Rectangle 47"/>
          <p:cNvSpPr/>
          <p:nvPr/>
        </p:nvSpPr>
        <p:spPr>
          <a:xfrm>
            <a:off x="10027920" y="4419600"/>
            <a:ext cx="1783080" cy="1428750"/>
          </a:xfrm>
          <a:prstGeom prst="rect">
            <a:avLst/>
          </a:prstGeom>
          <a:solidFill>
            <a:srgbClr val="F3F3F3"/>
          </a:solidFill>
          <a:ln>
            <a:noFill/>
          </a:ln>
        </p:spPr>
      </p:sp>
      <p:sp>
        <p:nvSpPr>
          <p:cNvPr id="48" name="TextBox 48"/>
          <p:cNvSpPr txBox="1"/>
          <p:nvPr/>
        </p:nvSpPr>
        <p:spPr>
          <a:xfrm>
            <a:off x="10560129" y="5060156"/>
            <a:ext cx="71866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培训认证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370522" y="139541"/>
            <a:ext cx="1002959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改善方案 · 优先级</a:t>
            </a:r>
          </a:p>
        </p:txBody>
      </p:sp>
      <p:sp>
        <p:nvSpPr>
          <p:cNvPr id="4" name="Rectangle 4"/>
          <p:cNvSpPr/>
          <p:nvPr/>
        </p:nvSpPr>
        <p:spPr>
          <a:xfrm>
            <a:off x="11410950" y="152400"/>
            <a:ext cx="85725" cy="85725"/>
          </a:xfrm>
          <a:prstGeom prst="rect">
            <a:avLst/>
          </a:prstGeom>
          <a:solidFill>
            <a:srgbClr val="336EE8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1468329" y="131445"/>
            <a:ext cx="354101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Aham</a:t>
            </a:r>
          </a:p>
        </p:txBody>
      </p:sp>
      <p:sp>
        <p:nvSpPr>
          <p:cNvPr id="6" name="Line 6"/>
          <p:cNvSpPr/>
          <p:nvPr/>
        </p:nvSpPr>
        <p:spPr>
          <a:xfrm>
            <a:off x="381000" y="304800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7E7E7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50520" y="483870"/>
            <a:ext cx="7311466" cy="4876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400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先做高影响低投入：SMED 与停机采集是首选</a:t>
            </a:r>
          </a:p>
        </p:txBody>
      </p:sp>
      <p:sp>
        <p:nvSpPr>
          <p:cNvPr id="8" name="Line 8"/>
          <p:cNvSpPr/>
          <p:nvPr/>
        </p:nvSpPr>
        <p:spPr>
          <a:xfrm>
            <a:off x="381000" y="895350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7E7E7"/>
            </a:solidFill>
          </a:ln>
        </p:spPr>
      </p:sp>
      <p:sp>
        <p:nvSpPr>
          <p:cNvPr id="9" name="Line 9"/>
          <p:cNvSpPr/>
          <p:nvPr/>
        </p:nvSpPr>
        <p:spPr>
          <a:xfrm>
            <a:off x="381000" y="6572250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7E7E7"/>
            </a:solidFill>
          </a:ln>
        </p:spPr>
      </p:sp>
      <p:sp>
        <p:nvSpPr>
          <p:cNvPr id="10" name="TextBox 10"/>
          <p:cNvSpPr txBox="1"/>
          <p:nvPr/>
        </p:nvSpPr>
        <p:spPr>
          <a:xfrm>
            <a:off x="370522" y="6664166"/>
            <a:ext cx="1707832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来源：改善举措排序 · 2026-06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457122" y="6664166"/>
            <a:ext cx="364355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825" dirty="0">
                <a:solidFill>
                  <a:srgbClr val="9B9B9B"/>
                </a:solidFill>
                <a:latin typeface="JetBrains Mono"/>
                <a:ea typeface="Microsoft YaHei"/>
                <a:cs typeface="JetBrains Mono"/>
              </a:rPr>
              <a:t>08 / 11</a:t>
            </a:r>
          </a:p>
        </p:txBody>
      </p:sp>
      <p:sp>
        <p:nvSpPr>
          <p:cNvPr id="12" name="Line 12"/>
          <p:cNvSpPr/>
          <p:nvPr/>
        </p:nvSpPr>
        <p:spPr>
          <a:xfrm>
            <a:off x="1905000" y="3714750"/>
            <a:ext cx="8382000" cy="9525"/>
          </a:xfrm>
          <a:custGeom>
            <a:avLst/>
            <a:gdLst/>
            <a:ahLst/>
            <a:cxnLst/>
            <a:rect l="l" t="t" r="r" b="b"/>
            <a:pathLst>
              <a:path w="8382000" h="9525">
                <a:moveTo>
                  <a:pt x="0" y="0"/>
                </a:moveTo>
                <a:lnTo>
                  <a:pt x="8382000" y="0"/>
                </a:lnTo>
              </a:path>
            </a:pathLst>
          </a:custGeom>
          <a:noFill/>
          <a:ln w="9525">
            <a:solidFill>
              <a:srgbClr val="9B9B9B"/>
            </a:solidFill>
          </a:ln>
        </p:spPr>
      </p:sp>
      <p:sp>
        <p:nvSpPr>
          <p:cNvPr id="13" name="Line 13"/>
          <p:cNvSpPr/>
          <p:nvPr/>
        </p:nvSpPr>
        <p:spPr>
          <a:xfrm>
            <a:off x="6096000" y="1143000"/>
            <a:ext cx="9525" cy="5143500"/>
          </a:xfrm>
          <a:custGeom>
            <a:avLst/>
            <a:gdLst/>
            <a:ahLst/>
            <a:cxnLst/>
            <a:rect l="l" t="t" r="r" b="b"/>
            <a:pathLst>
              <a:path w="9525" h="5143500">
                <a:moveTo>
                  <a:pt x="0" y="0"/>
                </a:moveTo>
                <a:lnTo>
                  <a:pt x="0" y="5143500"/>
                </a:lnTo>
              </a:path>
            </a:pathLst>
          </a:custGeom>
          <a:noFill/>
          <a:ln w="9525">
            <a:solidFill>
              <a:srgbClr val="9B9B9B"/>
            </a:solidFill>
          </a:ln>
        </p:spPr>
      </p:sp>
      <p:sp>
        <p:nvSpPr>
          <p:cNvPr id="14" name="TextBox 14"/>
          <p:cNvSpPr txBox="1"/>
          <p:nvPr/>
        </p:nvSpPr>
        <p:spPr>
          <a:xfrm>
            <a:off x="1597819" y="1132999"/>
            <a:ext cx="16716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75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高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597819" y="6181249"/>
            <a:ext cx="16716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75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低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368618" y="999649"/>
            <a:ext cx="74993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b="1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↑ 改善影响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892618" y="6466999"/>
            <a:ext cx="45196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低投入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847421" y="6466999"/>
            <a:ext cx="45196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75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高投入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5738301" y="6466999"/>
            <a:ext cx="71539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实施投入 →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2175510" y="1280160"/>
            <a:ext cx="766572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336EE8"/>
                </a:solidFill>
                <a:latin typeface="Inter"/>
                <a:ea typeface="Microsoft YaHei"/>
                <a:cs typeface="Inter"/>
              </a:rPr>
              <a:t>优先实施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2180272" y="1511141"/>
            <a:ext cx="641485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B9B9B"/>
                </a:solidFill>
                <a:latin typeface="JetBrains Mono"/>
                <a:ea typeface="Microsoft YaHei"/>
                <a:cs typeface="JetBrains Mono"/>
              </a:rPr>
              <a:t>QUICK WINS</a:t>
            </a:r>
          </a:p>
        </p:txBody>
      </p:sp>
      <p:sp>
        <p:nvSpPr>
          <p:cNvPr id="22" name="Ellipse 22"/>
          <p:cNvSpPr/>
          <p:nvPr/>
        </p:nvSpPr>
        <p:spPr>
          <a:xfrm>
            <a:off x="2200275" y="1876425"/>
            <a:ext cx="57150" cy="57150"/>
          </a:xfrm>
          <a:prstGeom prst="ellipse">
            <a:avLst/>
          </a:prstGeom>
          <a:solidFill>
            <a:srgbClr val="336EE8"/>
          </a:solidFill>
          <a:ln>
            <a:noFill/>
          </a:ln>
        </p:spPr>
      </p:sp>
      <p:sp>
        <p:nvSpPr>
          <p:cNvPr id="23" name="TextBox 23"/>
          <p:cNvSpPr txBox="1"/>
          <p:nvPr/>
        </p:nvSpPr>
        <p:spPr>
          <a:xfrm>
            <a:off x="2347912" y="1821656"/>
            <a:ext cx="1184469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SMED 换型改造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2349818" y="2028349"/>
            <a:ext cx="879157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影响高 · 6 周</a:t>
            </a:r>
          </a:p>
        </p:txBody>
      </p:sp>
      <p:sp>
        <p:nvSpPr>
          <p:cNvPr id="25" name="Ellipse 25"/>
          <p:cNvSpPr/>
          <p:nvPr/>
        </p:nvSpPr>
        <p:spPr>
          <a:xfrm>
            <a:off x="2200275" y="2352675"/>
            <a:ext cx="57150" cy="57150"/>
          </a:xfrm>
          <a:prstGeom prst="ellipse">
            <a:avLst/>
          </a:prstGeom>
          <a:solidFill>
            <a:srgbClr val="336EE8"/>
          </a:solidFill>
          <a:ln>
            <a:noFill/>
          </a:ln>
        </p:spPr>
      </p:sp>
      <p:sp>
        <p:nvSpPr>
          <p:cNvPr id="26" name="TextBox 26"/>
          <p:cNvSpPr txBox="1"/>
          <p:nvPr/>
        </p:nvSpPr>
        <p:spPr>
          <a:xfrm>
            <a:off x="2347912" y="2297906"/>
            <a:ext cx="106370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停机自动采集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2349818" y="2504599"/>
            <a:ext cx="104291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影响高 · 投入低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6366510" y="1280160"/>
            <a:ext cx="766572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重点投入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6371272" y="1511141"/>
            <a:ext cx="490871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B9B9B"/>
                </a:solidFill>
                <a:latin typeface="JetBrains Mono"/>
                <a:ea typeface="Microsoft YaHei"/>
                <a:cs typeface="JetBrains Mono"/>
              </a:rPr>
              <a:t>BIG BETS</a:t>
            </a:r>
          </a:p>
        </p:txBody>
      </p:sp>
      <p:sp>
        <p:nvSpPr>
          <p:cNvPr id="30" name="Ellipse 30"/>
          <p:cNvSpPr/>
          <p:nvPr/>
        </p:nvSpPr>
        <p:spPr>
          <a:xfrm>
            <a:off x="6391275" y="1876425"/>
            <a:ext cx="57150" cy="57150"/>
          </a:xfrm>
          <a:prstGeom prst="ellipse">
            <a:avLst/>
          </a:prstGeom>
          <a:solidFill>
            <a:srgbClr val="9B9B9B"/>
          </a:solidFill>
          <a:ln>
            <a:noFill/>
          </a:ln>
        </p:spPr>
      </p:sp>
      <p:sp>
        <p:nvSpPr>
          <p:cNvPr id="31" name="TextBox 31"/>
          <p:cNvSpPr txBox="1"/>
          <p:nvPr/>
        </p:nvSpPr>
        <p:spPr>
          <a:xfrm>
            <a:off x="6538912" y="1821656"/>
            <a:ext cx="1089583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MES 系统升级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6540818" y="2028349"/>
            <a:ext cx="921877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影响高 · 12 周</a:t>
            </a:r>
          </a:p>
        </p:txBody>
      </p:sp>
      <p:sp>
        <p:nvSpPr>
          <p:cNvPr id="33" name="Ellipse 33"/>
          <p:cNvSpPr/>
          <p:nvPr/>
        </p:nvSpPr>
        <p:spPr>
          <a:xfrm>
            <a:off x="6391275" y="2352675"/>
            <a:ext cx="57150" cy="57150"/>
          </a:xfrm>
          <a:prstGeom prst="ellipse">
            <a:avLst/>
          </a:prstGeom>
          <a:solidFill>
            <a:srgbClr val="9B9B9B"/>
          </a:solidFill>
          <a:ln>
            <a:noFill/>
          </a:ln>
        </p:spPr>
      </p:sp>
      <p:sp>
        <p:nvSpPr>
          <p:cNvPr id="34" name="TextBox 34"/>
          <p:cNvSpPr txBox="1"/>
          <p:nvPr/>
        </p:nvSpPr>
        <p:spPr>
          <a:xfrm>
            <a:off x="6538912" y="2297906"/>
            <a:ext cx="106370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产线节拍重排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6540818" y="2504599"/>
            <a:ext cx="104291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影响高 · 投入大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2175510" y="3851910"/>
            <a:ext cx="582549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顺手做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2180272" y="4082891"/>
            <a:ext cx="490871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B9B9B"/>
                </a:solidFill>
                <a:latin typeface="JetBrains Mono"/>
                <a:ea typeface="Microsoft YaHei"/>
                <a:cs typeface="JetBrains Mono"/>
              </a:rPr>
              <a:t>FILL-INS</a:t>
            </a:r>
          </a:p>
        </p:txBody>
      </p:sp>
      <p:sp>
        <p:nvSpPr>
          <p:cNvPr id="38" name="Ellipse 38"/>
          <p:cNvSpPr/>
          <p:nvPr/>
        </p:nvSpPr>
        <p:spPr>
          <a:xfrm>
            <a:off x="2200275" y="4448175"/>
            <a:ext cx="57150" cy="57150"/>
          </a:xfrm>
          <a:prstGeom prst="ellipse">
            <a:avLst/>
          </a:prstGeom>
          <a:solidFill>
            <a:srgbClr val="9B9B9B"/>
          </a:solidFill>
          <a:ln>
            <a:noFill/>
          </a:ln>
        </p:spPr>
      </p:sp>
      <p:sp>
        <p:nvSpPr>
          <p:cNvPr id="39" name="TextBox 39"/>
          <p:cNvSpPr txBox="1"/>
          <p:nvPr/>
        </p:nvSpPr>
        <p:spPr>
          <a:xfrm>
            <a:off x="2347912" y="4393406"/>
            <a:ext cx="106370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点检表电子化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2349818" y="4600099"/>
            <a:ext cx="104291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影响中 · 投入低</a:t>
            </a:r>
          </a:p>
        </p:txBody>
      </p:sp>
      <p:sp>
        <p:nvSpPr>
          <p:cNvPr id="41" name="Ellipse 41"/>
          <p:cNvSpPr/>
          <p:nvPr/>
        </p:nvSpPr>
        <p:spPr>
          <a:xfrm>
            <a:off x="2200275" y="4924425"/>
            <a:ext cx="57150" cy="57150"/>
          </a:xfrm>
          <a:prstGeom prst="ellipse">
            <a:avLst/>
          </a:prstGeom>
          <a:solidFill>
            <a:srgbClr val="9B9B9B"/>
          </a:solidFill>
          <a:ln>
            <a:noFill/>
          </a:ln>
        </p:spPr>
      </p:sp>
      <p:sp>
        <p:nvSpPr>
          <p:cNvPr id="42" name="TextBox 42"/>
          <p:cNvSpPr txBox="1"/>
          <p:nvPr/>
        </p:nvSpPr>
        <p:spPr>
          <a:xfrm>
            <a:off x="2347912" y="4869656"/>
            <a:ext cx="891183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看板可视化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2349818" y="5076349"/>
            <a:ext cx="104291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影响中 · 投入低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6366510" y="3851910"/>
            <a:ext cx="398526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暂缓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6371272" y="4082891"/>
            <a:ext cx="671608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B9B9B"/>
                </a:solidFill>
                <a:latin typeface="JetBrains Mono"/>
                <a:ea typeface="Microsoft YaHei"/>
                <a:cs typeface="JetBrains Mono"/>
              </a:rPr>
              <a:t>MONEY PITS</a:t>
            </a:r>
          </a:p>
        </p:txBody>
      </p:sp>
      <p:sp>
        <p:nvSpPr>
          <p:cNvPr id="46" name="Ellipse 46"/>
          <p:cNvSpPr/>
          <p:nvPr/>
        </p:nvSpPr>
        <p:spPr>
          <a:xfrm>
            <a:off x="6391275" y="4448175"/>
            <a:ext cx="57150" cy="57150"/>
          </a:xfrm>
          <a:prstGeom prst="ellipse">
            <a:avLst/>
          </a:prstGeom>
          <a:solidFill>
            <a:srgbClr val="9B9B9B"/>
          </a:solidFill>
          <a:ln>
            <a:noFill/>
          </a:ln>
        </p:spPr>
      </p:sp>
      <p:sp>
        <p:nvSpPr>
          <p:cNvPr id="47" name="TextBox 47"/>
          <p:cNvSpPr txBox="1"/>
          <p:nvPr/>
        </p:nvSpPr>
        <p:spPr>
          <a:xfrm>
            <a:off x="6538912" y="4393406"/>
            <a:ext cx="106370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整线产线重构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6540818" y="4600099"/>
            <a:ext cx="104291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影响中 · 投入巨</a:t>
            </a:r>
          </a:p>
        </p:txBody>
      </p:sp>
      <p:sp>
        <p:nvSpPr>
          <p:cNvPr id="49" name="Ellipse 49"/>
          <p:cNvSpPr/>
          <p:nvPr/>
        </p:nvSpPr>
        <p:spPr>
          <a:xfrm>
            <a:off x="6391275" y="4924425"/>
            <a:ext cx="57150" cy="57150"/>
          </a:xfrm>
          <a:prstGeom prst="ellipse">
            <a:avLst/>
          </a:prstGeom>
          <a:solidFill>
            <a:srgbClr val="9B9B9B"/>
          </a:solidFill>
          <a:ln>
            <a:noFill/>
          </a:ln>
        </p:spPr>
      </p:sp>
      <p:sp>
        <p:nvSpPr>
          <p:cNvPr id="50" name="TextBox 50"/>
          <p:cNvSpPr txBox="1"/>
          <p:nvPr/>
        </p:nvSpPr>
        <p:spPr>
          <a:xfrm>
            <a:off x="6538912" y="4869656"/>
            <a:ext cx="1141339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全厂 MES 替换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6540818" y="5076349"/>
            <a:ext cx="104291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投入大 · 周期长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370522" y="139541"/>
            <a:ext cx="1123450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改善方案 · 运行机制</a:t>
            </a:r>
          </a:p>
        </p:txBody>
      </p:sp>
      <p:sp>
        <p:nvSpPr>
          <p:cNvPr id="4" name="Rectangle 4"/>
          <p:cNvSpPr/>
          <p:nvPr/>
        </p:nvSpPr>
        <p:spPr>
          <a:xfrm>
            <a:off x="11410950" y="152400"/>
            <a:ext cx="85725" cy="85725"/>
          </a:xfrm>
          <a:prstGeom prst="rect">
            <a:avLst/>
          </a:prstGeom>
          <a:solidFill>
            <a:srgbClr val="336EE8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1468329" y="131445"/>
            <a:ext cx="354101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Aham</a:t>
            </a:r>
          </a:p>
        </p:txBody>
      </p:sp>
      <p:sp>
        <p:nvSpPr>
          <p:cNvPr id="6" name="Line 6"/>
          <p:cNvSpPr/>
          <p:nvPr/>
        </p:nvSpPr>
        <p:spPr>
          <a:xfrm>
            <a:off x="381000" y="304800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7E7E7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50520" y="483870"/>
            <a:ext cx="7421880" cy="4876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400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改善以四步闭环推进，月度复盘驱动持续迭代</a:t>
            </a:r>
          </a:p>
        </p:txBody>
      </p:sp>
      <p:sp>
        <p:nvSpPr>
          <p:cNvPr id="8" name="Line 8"/>
          <p:cNvSpPr/>
          <p:nvPr/>
        </p:nvSpPr>
        <p:spPr>
          <a:xfrm>
            <a:off x="381000" y="895350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7E7E7"/>
            </a:solidFill>
          </a:ln>
        </p:spPr>
      </p:sp>
      <p:sp>
        <p:nvSpPr>
          <p:cNvPr id="9" name="Line 9"/>
          <p:cNvSpPr/>
          <p:nvPr/>
        </p:nvSpPr>
        <p:spPr>
          <a:xfrm>
            <a:off x="381000" y="6572250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7E7E7"/>
            </a:solidFill>
          </a:ln>
        </p:spPr>
      </p:sp>
      <p:sp>
        <p:nvSpPr>
          <p:cNvPr id="10" name="TextBox 10"/>
          <p:cNvSpPr txBox="1"/>
          <p:nvPr/>
        </p:nvSpPr>
        <p:spPr>
          <a:xfrm>
            <a:off x="370522" y="6664166"/>
            <a:ext cx="864394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来源：内部测算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457122" y="6664166"/>
            <a:ext cx="364355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825" dirty="0">
                <a:solidFill>
                  <a:srgbClr val="9B9B9B"/>
                </a:solidFill>
                <a:latin typeface="JetBrains Mono"/>
                <a:ea typeface="Microsoft YaHei"/>
                <a:cs typeface="JetBrains Mono"/>
              </a:rPr>
              <a:t>09 / 11</a:t>
            </a:r>
          </a:p>
        </p:txBody>
      </p:sp>
      <p:sp>
        <p:nvSpPr>
          <p:cNvPr id="12" name="Rectangle 12"/>
          <p:cNvSpPr/>
          <p:nvPr/>
        </p:nvSpPr>
        <p:spPr>
          <a:xfrm>
            <a:off x="381000" y="1905000"/>
            <a:ext cx="1828800" cy="1428750"/>
          </a:xfrm>
          <a:prstGeom prst="rect">
            <a:avLst/>
          </a:prstGeom>
          <a:solidFill>
            <a:srgbClr val="F3F3F3"/>
          </a:solidFill>
          <a:ln>
            <a:noFill/>
          </a:ln>
        </p:spPr>
      </p:sp>
      <p:sp>
        <p:nvSpPr>
          <p:cNvPr id="13" name="TextBox 13"/>
          <p:cNvSpPr txBox="1"/>
          <p:nvPr/>
        </p:nvSpPr>
        <p:spPr>
          <a:xfrm>
            <a:off x="531495" y="2107882"/>
            <a:ext cx="256987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C4C4C4"/>
                </a:solidFill>
                <a:latin typeface="JetBrains Mono"/>
                <a:ea typeface="Microsoft YaHei"/>
                <a:cs typeface="JetBrains Mono"/>
              </a:rPr>
              <a:t>01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35305" y="2502218"/>
            <a:ext cx="448342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测量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60120" y="2550795"/>
            <a:ext cx="55521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Measure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540068" y="2866549"/>
            <a:ext cx="129923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OEE/停机/不良采集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541972" y="3530441"/>
            <a:ext cx="261937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交付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539115" y="3715702"/>
            <a:ext cx="91228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262626"/>
                </a:solidFill>
                <a:latin typeface="JetBrains Mono"/>
                <a:ea typeface="Microsoft YaHei"/>
                <a:cs typeface="JetBrains Mono"/>
              </a:rPr>
              <a:t>采集率 ≥95%</a:t>
            </a:r>
          </a:p>
        </p:txBody>
      </p:sp>
      <p:sp>
        <p:nvSpPr>
          <p:cNvPr id="19" name="Line 19"/>
          <p:cNvSpPr/>
          <p:nvPr/>
        </p:nvSpPr>
        <p:spPr>
          <a:xfrm>
            <a:off x="2305050" y="2619375"/>
            <a:ext cx="342900" cy="9525"/>
          </a:xfrm>
          <a:custGeom>
            <a:avLst/>
            <a:gdLst/>
            <a:ahLst/>
            <a:cxnLst/>
            <a:rect l="l" t="t" r="r" b="b"/>
            <a:pathLst>
              <a:path w="342900" h="9525">
                <a:moveTo>
                  <a:pt x="0" y="0"/>
                </a:moveTo>
                <a:lnTo>
                  <a:pt x="342900" y="0"/>
                </a:lnTo>
              </a:path>
            </a:pathLst>
          </a:custGeom>
          <a:noFill/>
          <a:ln w="19050">
            <a:solidFill>
              <a:srgbClr val="9B9B9B"/>
            </a:solidFill>
          </a:ln>
        </p:spPr>
      </p:sp>
      <p:sp>
        <p:nvSpPr>
          <p:cNvPr id="20" name="Polygon 20"/>
          <p:cNvSpPr/>
          <p:nvPr/>
        </p:nvSpPr>
        <p:spPr>
          <a:xfrm>
            <a:off x="2647950" y="2571750"/>
            <a:ext cx="76200" cy="95250"/>
          </a:xfrm>
          <a:custGeom>
            <a:avLst/>
            <a:gdLst/>
            <a:ahLst/>
            <a:cxnLst/>
            <a:rect l="l" t="t" r="r" b="b"/>
            <a:pathLst>
              <a:path w="76200" h="95250">
                <a:moveTo>
                  <a:pt x="0" y="0"/>
                </a:moveTo>
                <a:lnTo>
                  <a:pt x="76200" y="47625"/>
                </a:lnTo>
                <a:lnTo>
                  <a:pt x="0" y="95250"/>
                </a:lnTo>
                <a:close/>
              </a:path>
            </a:pathLst>
          </a:custGeom>
          <a:solidFill>
            <a:srgbClr val="9B9B9B"/>
          </a:solidFill>
          <a:ln>
            <a:noFill/>
          </a:ln>
        </p:spPr>
      </p:sp>
      <p:sp>
        <p:nvSpPr>
          <p:cNvPr id="21" name="Rectangle 21"/>
          <p:cNvSpPr/>
          <p:nvPr/>
        </p:nvSpPr>
        <p:spPr>
          <a:xfrm>
            <a:off x="2781300" y="1905000"/>
            <a:ext cx="1828800" cy="1428750"/>
          </a:xfrm>
          <a:prstGeom prst="rect">
            <a:avLst/>
          </a:prstGeom>
          <a:solidFill>
            <a:srgbClr val="F3F3F3"/>
          </a:solidFill>
          <a:ln>
            <a:noFill/>
          </a:ln>
        </p:spPr>
      </p:sp>
      <p:sp>
        <p:nvSpPr>
          <p:cNvPr id="22" name="TextBox 22"/>
          <p:cNvSpPr txBox="1"/>
          <p:nvPr/>
        </p:nvSpPr>
        <p:spPr>
          <a:xfrm>
            <a:off x="2931795" y="2107882"/>
            <a:ext cx="320245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C4C4C4"/>
                </a:solidFill>
                <a:latin typeface="JetBrains Mono"/>
                <a:ea typeface="Microsoft YaHei"/>
                <a:cs typeface="JetBrains Mono"/>
              </a:rPr>
              <a:t>02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2935605" y="2502218"/>
            <a:ext cx="448342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诊断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3360420" y="2550795"/>
            <a:ext cx="56835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Diagnose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2940368" y="2866549"/>
            <a:ext cx="130635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根因定位、瓶颈识别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2942272" y="3530441"/>
            <a:ext cx="261937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交付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2939415" y="3715702"/>
            <a:ext cx="75126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262626"/>
                </a:solidFill>
                <a:latin typeface="JetBrains Mono"/>
                <a:ea typeface="Microsoft YaHei"/>
                <a:cs typeface="JetBrains Mono"/>
              </a:rPr>
              <a:t>锁定 Top3</a:t>
            </a:r>
          </a:p>
        </p:txBody>
      </p:sp>
      <p:sp>
        <p:nvSpPr>
          <p:cNvPr id="28" name="Line 28"/>
          <p:cNvSpPr/>
          <p:nvPr/>
        </p:nvSpPr>
        <p:spPr>
          <a:xfrm>
            <a:off x="4705350" y="2619375"/>
            <a:ext cx="342900" cy="9525"/>
          </a:xfrm>
          <a:custGeom>
            <a:avLst/>
            <a:gdLst/>
            <a:ahLst/>
            <a:cxnLst/>
            <a:rect l="l" t="t" r="r" b="b"/>
            <a:pathLst>
              <a:path w="342900" h="9525">
                <a:moveTo>
                  <a:pt x="0" y="0"/>
                </a:moveTo>
                <a:lnTo>
                  <a:pt x="342900" y="0"/>
                </a:lnTo>
              </a:path>
            </a:pathLst>
          </a:custGeom>
          <a:noFill/>
          <a:ln w="19050">
            <a:solidFill>
              <a:srgbClr val="9B9B9B"/>
            </a:solidFill>
          </a:ln>
        </p:spPr>
      </p:sp>
      <p:sp>
        <p:nvSpPr>
          <p:cNvPr id="29" name="Polygon 29"/>
          <p:cNvSpPr/>
          <p:nvPr/>
        </p:nvSpPr>
        <p:spPr>
          <a:xfrm>
            <a:off x="5048250" y="2571750"/>
            <a:ext cx="76200" cy="95250"/>
          </a:xfrm>
          <a:custGeom>
            <a:avLst/>
            <a:gdLst/>
            <a:ahLst/>
            <a:cxnLst/>
            <a:rect l="l" t="t" r="r" b="b"/>
            <a:pathLst>
              <a:path w="76200" h="95250">
                <a:moveTo>
                  <a:pt x="0" y="0"/>
                </a:moveTo>
                <a:lnTo>
                  <a:pt x="76200" y="47625"/>
                </a:lnTo>
                <a:lnTo>
                  <a:pt x="0" y="95250"/>
                </a:lnTo>
                <a:close/>
              </a:path>
            </a:pathLst>
          </a:custGeom>
          <a:solidFill>
            <a:srgbClr val="9B9B9B"/>
          </a:solidFill>
          <a:ln>
            <a:noFill/>
          </a:ln>
        </p:spPr>
      </p:sp>
      <p:sp>
        <p:nvSpPr>
          <p:cNvPr id="30" name="Rectangle 30"/>
          <p:cNvSpPr/>
          <p:nvPr/>
        </p:nvSpPr>
        <p:spPr>
          <a:xfrm>
            <a:off x="5181600" y="1905000"/>
            <a:ext cx="1828800" cy="1428750"/>
          </a:xfrm>
          <a:prstGeom prst="rect">
            <a:avLst/>
          </a:prstGeom>
          <a:solidFill>
            <a:srgbClr val="F3F3F3"/>
          </a:solidFill>
          <a:ln>
            <a:noFill/>
          </a:ln>
        </p:spPr>
      </p:sp>
      <p:sp>
        <p:nvSpPr>
          <p:cNvPr id="31" name="TextBox 31"/>
          <p:cNvSpPr txBox="1"/>
          <p:nvPr/>
        </p:nvSpPr>
        <p:spPr>
          <a:xfrm>
            <a:off x="5332095" y="2107882"/>
            <a:ext cx="320245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C4C4C4"/>
                </a:solidFill>
                <a:latin typeface="JetBrains Mono"/>
                <a:ea typeface="Microsoft YaHei"/>
                <a:cs typeface="JetBrains Mono"/>
              </a:rPr>
              <a:t>03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5335905" y="2502218"/>
            <a:ext cx="448342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改善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5760720" y="2550795"/>
            <a:ext cx="522351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Improve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5340668" y="2866549"/>
            <a:ext cx="109275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SMED/点检/看板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5342572" y="3530441"/>
            <a:ext cx="261937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交付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5339715" y="3715702"/>
            <a:ext cx="92033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262626"/>
                </a:solidFill>
                <a:latin typeface="JetBrains Mono"/>
                <a:ea typeface="Microsoft YaHei"/>
                <a:cs typeface="JetBrains Mono"/>
              </a:rPr>
              <a:t>换型 −25min</a:t>
            </a:r>
          </a:p>
        </p:txBody>
      </p:sp>
      <p:sp>
        <p:nvSpPr>
          <p:cNvPr id="37" name="Line 37"/>
          <p:cNvSpPr/>
          <p:nvPr/>
        </p:nvSpPr>
        <p:spPr>
          <a:xfrm>
            <a:off x="7105650" y="2619375"/>
            <a:ext cx="342900" cy="9525"/>
          </a:xfrm>
          <a:custGeom>
            <a:avLst/>
            <a:gdLst/>
            <a:ahLst/>
            <a:cxnLst/>
            <a:rect l="l" t="t" r="r" b="b"/>
            <a:pathLst>
              <a:path w="342900" h="9525">
                <a:moveTo>
                  <a:pt x="0" y="0"/>
                </a:moveTo>
                <a:lnTo>
                  <a:pt x="342900" y="0"/>
                </a:lnTo>
              </a:path>
            </a:pathLst>
          </a:custGeom>
          <a:noFill/>
          <a:ln w="19050">
            <a:solidFill>
              <a:srgbClr val="9B9B9B"/>
            </a:solidFill>
          </a:ln>
        </p:spPr>
      </p:sp>
      <p:sp>
        <p:nvSpPr>
          <p:cNvPr id="38" name="Polygon 38"/>
          <p:cNvSpPr/>
          <p:nvPr/>
        </p:nvSpPr>
        <p:spPr>
          <a:xfrm>
            <a:off x="7448550" y="2571750"/>
            <a:ext cx="76200" cy="95250"/>
          </a:xfrm>
          <a:custGeom>
            <a:avLst/>
            <a:gdLst/>
            <a:ahLst/>
            <a:cxnLst/>
            <a:rect l="l" t="t" r="r" b="b"/>
            <a:pathLst>
              <a:path w="76200" h="95250">
                <a:moveTo>
                  <a:pt x="0" y="0"/>
                </a:moveTo>
                <a:lnTo>
                  <a:pt x="76200" y="47625"/>
                </a:lnTo>
                <a:lnTo>
                  <a:pt x="0" y="95250"/>
                </a:lnTo>
                <a:close/>
              </a:path>
            </a:pathLst>
          </a:custGeom>
          <a:solidFill>
            <a:srgbClr val="9B9B9B"/>
          </a:solidFill>
          <a:ln>
            <a:noFill/>
          </a:ln>
        </p:spPr>
      </p:sp>
      <p:sp>
        <p:nvSpPr>
          <p:cNvPr id="39" name="Rectangle 39"/>
          <p:cNvSpPr/>
          <p:nvPr/>
        </p:nvSpPr>
        <p:spPr>
          <a:xfrm>
            <a:off x="7581900" y="1905000"/>
            <a:ext cx="1828800" cy="1428750"/>
          </a:xfrm>
          <a:prstGeom prst="rect">
            <a:avLst/>
          </a:prstGeom>
          <a:solidFill>
            <a:srgbClr val="F3F3F3"/>
          </a:solidFill>
          <a:ln>
            <a:noFill/>
          </a:ln>
        </p:spPr>
      </p:sp>
      <p:sp>
        <p:nvSpPr>
          <p:cNvPr id="40" name="TextBox 40"/>
          <p:cNvSpPr txBox="1"/>
          <p:nvPr/>
        </p:nvSpPr>
        <p:spPr>
          <a:xfrm>
            <a:off x="7732395" y="2107882"/>
            <a:ext cx="320245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C4C4C4"/>
                </a:solidFill>
                <a:latin typeface="JetBrains Mono"/>
                <a:ea typeface="Microsoft YaHei"/>
                <a:cs typeface="JetBrains Mono"/>
              </a:rPr>
              <a:t>04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7736205" y="2502218"/>
            <a:ext cx="655368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标准化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8161020" y="2550795"/>
            <a:ext cx="785241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Standardize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7740968" y="2866549"/>
            <a:ext cx="957477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标准作业+培训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7742872" y="3530441"/>
            <a:ext cx="261937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交付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7740015" y="3715702"/>
            <a:ext cx="662699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262626"/>
                </a:solidFill>
                <a:latin typeface="JetBrains Mono"/>
                <a:ea typeface="Microsoft YaHei"/>
                <a:cs typeface="JetBrains Mono"/>
              </a:rPr>
              <a:t>稽核 ≥90</a:t>
            </a:r>
          </a:p>
        </p:txBody>
      </p:sp>
      <p:sp>
        <p:nvSpPr>
          <p:cNvPr id="46" name="Line 46"/>
          <p:cNvSpPr/>
          <p:nvPr/>
        </p:nvSpPr>
        <p:spPr>
          <a:xfrm>
            <a:off x="9505950" y="2619375"/>
            <a:ext cx="342900" cy="9525"/>
          </a:xfrm>
          <a:custGeom>
            <a:avLst/>
            <a:gdLst/>
            <a:ahLst/>
            <a:cxnLst/>
            <a:rect l="l" t="t" r="r" b="b"/>
            <a:pathLst>
              <a:path w="342900" h="9525">
                <a:moveTo>
                  <a:pt x="0" y="0"/>
                </a:moveTo>
                <a:lnTo>
                  <a:pt x="342900" y="0"/>
                </a:lnTo>
              </a:path>
            </a:pathLst>
          </a:custGeom>
          <a:noFill/>
          <a:ln w="19050">
            <a:solidFill>
              <a:srgbClr val="9B9B9B"/>
            </a:solidFill>
          </a:ln>
        </p:spPr>
      </p:sp>
      <p:sp>
        <p:nvSpPr>
          <p:cNvPr id="47" name="Polygon 47"/>
          <p:cNvSpPr/>
          <p:nvPr/>
        </p:nvSpPr>
        <p:spPr>
          <a:xfrm>
            <a:off x="9848850" y="2571750"/>
            <a:ext cx="76200" cy="95250"/>
          </a:xfrm>
          <a:custGeom>
            <a:avLst/>
            <a:gdLst/>
            <a:ahLst/>
            <a:cxnLst/>
            <a:rect l="l" t="t" r="r" b="b"/>
            <a:pathLst>
              <a:path w="76200" h="95250">
                <a:moveTo>
                  <a:pt x="0" y="0"/>
                </a:moveTo>
                <a:lnTo>
                  <a:pt x="76200" y="47625"/>
                </a:lnTo>
                <a:lnTo>
                  <a:pt x="0" y="95250"/>
                </a:lnTo>
                <a:close/>
              </a:path>
            </a:pathLst>
          </a:custGeom>
          <a:solidFill>
            <a:srgbClr val="9B9B9B"/>
          </a:solidFill>
          <a:ln>
            <a:noFill/>
          </a:ln>
        </p:spPr>
      </p:sp>
      <p:sp>
        <p:nvSpPr>
          <p:cNvPr id="48" name="Rectangle 48"/>
          <p:cNvSpPr/>
          <p:nvPr/>
        </p:nvSpPr>
        <p:spPr>
          <a:xfrm>
            <a:off x="9982200" y="1905000"/>
            <a:ext cx="1828800" cy="1428750"/>
          </a:xfrm>
          <a:prstGeom prst="rect">
            <a:avLst/>
          </a:prstGeom>
          <a:solidFill>
            <a:srgbClr val="F3F3F3"/>
          </a:solidFill>
          <a:ln>
            <a:noFill/>
          </a:ln>
        </p:spPr>
      </p:sp>
      <p:sp>
        <p:nvSpPr>
          <p:cNvPr id="49" name="TextBox 49"/>
          <p:cNvSpPr txBox="1"/>
          <p:nvPr/>
        </p:nvSpPr>
        <p:spPr>
          <a:xfrm>
            <a:off x="10132695" y="2107882"/>
            <a:ext cx="320245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C4C4C4"/>
                </a:solidFill>
                <a:latin typeface="JetBrains Mono"/>
                <a:ea typeface="Microsoft YaHei"/>
                <a:cs typeface="JetBrains Mono"/>
              </a:rPr>
              <a:t>05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10136505" y="2502218"/>
            <a:ext cx="448342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复盘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10561320" y="2550795"/>
            <a:ext cx="450056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Review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10141268" y="2866549"/>
            <a:ext cx="957477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月度例会+迭代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10143172" y="3530441"/>
            <a:ext cx="261937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交付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10140315" y="3715702"/>
            <a:ext cx="69490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262626"/>
                </a:solidFill>
                <a:latin typeface="JetBrains Mono"/>
                <a:ea typeface="Microsoft YaHei"/>
                <a:cs typeface="JetBrains Mono"/>
              </a:rPr>
              <a:t>OEE 月升</a:t>
            </a:r>
          </a:p>
        </p:txBody>
      </p:sp>
      <p:sp>
        <p:nvSpPr>
          <p:cNvPr id="55" name="Line 55"/>
          <p:cNvSpPr/>
          <p:nvPr/>
        </p:nvSpPr>
        <p:spPr>
          <a:xfrm>
            <a:off x="10896600" y="3962400"/>
            <a:ext cx="9525" cy="247650"/>
          </a:xfrm>
          <a:custGeom>
            <a:avLst/>
            <a:gdLst/>
            <a:ahLst/>
            <a:cxnLst/>
            <a:rect l="l" t="t" r="r" b="b"/>
            <a:pathLst>
              <a:path w="9525"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  <a:noFill/>
          <a:ln w="14288">
            <a:solidFill>
              <a:srgbClr val="9B9B9B"/>
            </a:solidFill>
          </a:ln>
        </p:spPr>
      </p:sp>
      <p:sp>
        <p:nvSpPr>
          <p:cNvPr id="56" name="Line 56"/>
          <p:cNvSpPr/>
          <p:nvPr/>
        </p:nvSpPr>
        <p:spPr>
          <a:xfrm>
            <a:off x="1295400" y="4210050"/>
            <a:ext cx="9601200" cy="9525"/>
          </a:xfrm>
          <a:custGeom>
            <a:avLst/>
            <a:gdLst/>
            <a:ahLst/>
            <a:cxnLst/>
            <a:rect l="l" t="t" r="r" b="b"/>
            <a:pathLst>
              <a:path w="9601200" h="9525">
                <a:moveTo>
                  <a:pt x="9601200" y="0"/>
                </a:moveTo>
                <a:lnTo>
                  <a:pt x="0" y="0"/>
                </a:lnTo>
              </a:path>
            </a:pathLst>
          </a:custGeom>
          <a:noFill/>
          <a:ln w="14288">
            <a:solidFill>
              <a:srgbClr val="9B9B9B"/>
            </a:solidFill>
          </a:ln>
        </p:spPr>
      </p:sp>
      <p:sp>
        <p:nvSpPr>
          <p:cNvPr id="57" name="Line 57"/>
          <p:cNvSpPr/>
          <p:nvPr/>
        </p:nvSpPr>
        <p:spPr>
          <a:xfrm>
            <a:off x="1295400" y="3962400"/>
            <a:ext cx="9525" cy="247650"/>
          </a:xfrm>
          <a:custGeom>
            <a:avLst/>
            <a:gdLst/>
            <a:ahLst/>
            <a:cxnLst/>
            <a:rect l="l" t="t" r="r" b="b"/>
            <a:pathLst>
              <a:path w="9525" h="247650">
                <a:moveTo>
                  <a:pt x="0" y="247650"/>
                </a:moveTo>
                <a:lnTo>
                  <a:pt x="0" y="0"/>
                </a:lnTo>
              </a:path>
            </a:pathLst>
          </a:custGeom>
          <a:noFill/>
          <a:ln w="14288">
            <a:solidFill>
              <a:srgbClr val="9B9B9B"/>
            </a:solidFill>
          </a:ln>
        </p:spPr>
      </p:sp>
      <p:sp>
        <p:nvSpPr>
          <p:cNvPr id="58" name="Polygon 58"/>
          <p:cNvSpPr/>
          <p:nvPr/>
        </p:nvSpPr>
        <p:spPr>
          <a:xfrm>
            <a:off x="1247775" y="3962400"/>
            <a:ext cx="95250" cy="76200"/>
          </a:xfrm>
          <a:custGeom>
            <a:avLst/>
            <a:gdLst/>
            <a:ahLst/>
            <a:cxnLst/>
            <a:rect l="l" t="t" r="r" b="b"/>
            <a:pathLst>
              <a:path w="95250" h="76200">
                <a:moveTo>
                  <a:pt x="0" y="76200"/>
                </a:moveTo>
                <a:lnTo>
                  <a:pt x="47625" y="0"/>
                </a:lnTo>
                <a:lnTo>
                  <a:pt x="95250" y="76200"/>
                </a:lnTo>
                <a:close/>
              </a:path>
            </a:pathLst>
          </a:custGeom>
          <a:solidFill>
            <a:srgbClr val="9B9B9B"/>
          </a:solidFill>
          <a:ln>
            <a:noFill/>
          </a:ln>
        </p:spPr>
      </p:sp>
      <p:sp>
        <p:nvSpPr>
          <p:cNvPr id="59" name="TextBox 59"/>
          <p:cNvSpPr txBox="1"/>
          <p:nvPr/>
        </p:nvSpPr>
        <p:spPr>
          <a:xfrm>
            <a:off x="4997696" y="4306252"/>
            <a:ext cx="219660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每月复盘 · 持续迭代，避免回潮</a:t>
            </a:r>
          </a:p>
        </p:txBody>
      </p:sp>
      <p:sp>
        <p:nvSpPr>
          <p:cNvPr id="60" name="Ellipse 60"/>
          <p:cNvSpPr/>
          <p:nvPr/>
        </p:nvSpPr>
        <p:spPr>
          <a:xfrm>
            <a:off x="390525" y="5934075"/>
            <a:ext cx="57150" cy="57150"/>
          </a:xfrm>
          <a:prstGeom prst="ellipse">
            <a:avLst/>
          </a:prstGeom>
          <a:solidFill>
            <a:srgbClr val="336EE8"/>
          </a:solidFill>
          <a:ln>
            <a:noFill/>
          </a:ln>
        </p:spPr>
      </p:sp>
      <p:sp>
        <p:nvSpPr>
          <p:cNvPr id="61" name="TextBox 61"/>
          <p:cNvSpPr txBox="1"/>
          <p:nvPr/>
        </p:nvSpPr>
        <p:spPr>
          <a:xfrm>
            <a:off x="557212" y="5898356"/>
            <a:ext cx="495776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闭环每月跑一轮：数据驱动诊断、诊断驱动改善、改善沉淀为标准。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370522" y="139541"/>
            <a:ext cx="882467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改善方案 · 决策</a:t>
            </a:r>
          </a:p>
        </p:txBody>
      </p:sp>
      <p:sp>
        <p:nvSpPr>
          <p:cNvPr id="4" name="Rectangle 4"/>
          <p:cNvSpPr/>
          <p:nvPr/>
        </p:nvSpPr>
        <p:spPr>
          <a:xfrm>
            <a:off x="11410950" y="152400"/>
            <a:ext cx="85725" cy="85725"/>
          </a:xfrm>
          <a:prstGeom prst="rect">
            <a:avLst/>
          </a:prstGeom>
          <a:solidFill>
            <a:srgbClr val="336EE8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1468329" y="131445"/>
            <a:ext cx="354101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Aham</a:t>
            </a:r>
          </a:p>
        </p:txBody>
      </p:sp>
      <p:sp>
        <p:nvSpPr>
          <p:cNvPr id="6" name="Line 6"/>
          <p:cNvSpPr/>
          <p:nvPr/>
        </p:nvSpPr>
        <p:spPr>
          <a:xfrm>
            <a:off x="381000" y="304800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7E7E7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50520" y="483870"/>
            <a:ext cx="7145846" cy="4876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400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维持现状年损 ¥420 万，立即改善 12 周回本</a:t>
            </a:r>
          </a:p>
        </p:txBody>
      </p:sp>
      <p:sp>
        <p:nvSpPr>
          <p:cNvPr id="8" name="Line 8"/>
          <p:cNvSpPr/>
          <p:nvPr/>
        </p:nvSpPr>
        <p:spPr>
          <a:xfrm>
            <a:off x="381000" y="895350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7E7E7"/>
            </a:solidFill>
          </a:ln>
        </p:spPr>
      </p:sp>
      <p:sp>
        <p:nvSpPr>
          <p:cNvPr id="9" name="Line 9"/>
          <p:cNvSpPr/>
          <p:nvPr/>
        </p:nvSpPr>
        <p:spPr>
          <a:xfrm>
            <a:off x="381000" y="6572250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7E7E7"/>
            </a:solidFill>
          </a:ln>
        </p:spPr>
      </p:sp>
      <p:sp>
        <p:nvSpPr>
          <p:cNvPr id="10" name="TextBox 10"/>
          <p:cNvSpPr txBox="1"/>
          <p:nvPr/>
        </p:nvSpPr>
        <p:spPr>
          <a:xfrm>
            <a:off x="370522" y="6664166"/>
            <a:ext cx="864394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来源：内部测算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487245" y="6664166"/>
            <a:ext cx="334232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825" dirty="0">
                <a:solidFill>
                  <a:srgbClr val="9B9B9B"/>
                </a:solidFill>
                <a:latin typeface="JetBrains Mono"/>
                <a:ea typeface="Microsoft YaHei"/>
                <a:cs typeface="JetBrains Mono"/>
              </a:rPr>
              <a:t>10 / 11</a:t>
            </a:r>
          </a:p>
        </p:txBody>
      </p:sp>
      <p:sp>
        <p:nvSpPr>
          <p:cNvPr id="12" name="Rectangle 12"/>
          <p:cNvSpPr/>
          <p:nvPr/>
        </p:nvSpPr>
        <p:spPr>
          <a:xfrm>
            <a:off x="6286500" y="1428750"/>
            <a:ext cx="5524500" cy="4114800"/>
          </a:xfrm>
          <a:prstGeom prst="rect">
            <a:avLst/>
          </a:prstGeom>
          <a:solidFill>
            <a:srgbClr val="F3F3F3"/>
          </a:solidFill>
          <a:ln>
            <a:noFill/>
          </a:ln>
        </p:spPr>
      </p:sp>
      <p:sp>
        <p:nvSpPr>
          <p:cNvPr id="13" name="TextBox 13"/>
          <p:cNvSpPr txBox="1"/>
          <p:nvPr/>
        </p:nvSpPr>
        <p:spPr>
          <a:xfrm>
            <a:off x="645795" y="1707832"/>
            <a:ext cx="1054036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维持现状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55320" y="2017395"/>
            <a:ext cx="73266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DO NOTHING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646545" y="1707832"/>
            <a:ext cx="1054036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立即改善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7797165" y="1772602"/>
            <a:ext cx="34871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336EE8"/>
                </a:solidFill>
                <a:latin typeface="Inter"/>
                <a:ea typeface="Microsoft YaHei"/>
                <a:cs typeface="Inter"/>
              </a:rPr>
              <a:t>推荐</a:t>
            </a:r>
          </a:p>
        </p:txBody>
      </p:sp>
      <p:sp>
        <p:nvSpPr>
          <p:cNvPr id="17" name="Rectangle 17"/>
          <p:cNvSpPr/>
          <p:nvPr/>
        </p:nvSpPr>
        <p:spPr>
          <a:xfrm>
            <a:off x="7810500" y="1962150"/>
            <a:ext cx="381000" cy="19050"/>
          </a:xfrm>
          <a:prstGeom prst="rect">
            <a:avLst/>
          </a:prstGeom>
          <a:solidFill>
            <a:srgbClr val="336EE8"/>
          </a:solidFill>
          <a:ln>
            <a:noFill/>
          </a:ln>
        </p:spPr>
      </p:sp>
      <p:sp>
        <p:nvSpPr>
          <p:cNvPr id="18" name="TextBox 18"/>
          <p:cNvSpPr txBox="1"/>
          <p:nvPr/>
        </p:nvSpPr>
        <p:spPr>
          <a:xfrm>
            <a:off x="6656070" y="2017395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ACT NOW</a:t>
            </a:r>
          </a:p>
        </p:txBody>
      </p:sp>
      <p:sp>
        <p:nvSpPr>
          <p:cNvPr id="19" name="Ellipse 19"/>
          <p:cNvSpPr/>
          <p:nvPr/>
        </p:nvSpPr>
        <p:spPr>
          <a:xfrm>
            <a:off x="5848350" y="1714500"/>
            <a:ext cx="495300" cy="495300"/>
          </a:xfrm>
          <a:prstGeom prst="ellipse">
            <a:avLst/>
          </a:prstGeom>
          <a:solidFill>
            <a:srgbClr val="FFFFFF"/>
          </a:solidFill>
          <a:ln w="14288">
            <a:solidFill>
              <a:srgbClr val="E7E7E7"/>
            </a:solidFill>
          </a:ln>
        </p:spPr>
      </p:sp>
      <p:sp>
        <p:nvSpPr>
          <p:cNvPr id="20" name="TextBox 20"/>
          <p:cNvSpPr txBox="1"/>
          <p:nvPr/>
        </p:nvSpPr>
        <p:spPr>
          <a:xfrm>
            <a:off x="5979547" y="1899285"/>
            <a:ext cx="232905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b="1" dirty="0">
                <a:solidFill>
                  <a:srgbClr val="9B9B9B"/>
                </a:solidFill>
                <a:latin typeface="Inter"/>
                <a:ea typeface="Microsoft YaHei"/>
                <a:cs typeface="Inter"/>
              </a:rPr>
              <a:t>VS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653415" y="2706052"/>
            <a:ext cx="66308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综合 OEE</a:t>
            </a:r>
          </a:p>
        </p:txBody>
      </p:sp>
      <p:sp>
        <p:nvSpPr>
          <p:cNvPr id="22" name="Ellipse 22"/>
          <p:cNvSpPr/>
          <p:nvPr/>
        </p:nvSpPr>
        <p:spPr>
          <a:xfrm>
            <a:off x="2686050" y="2733675"/>
            <a:ext cx="76200" cy="76200"/>
          </a:xfrm>
          <a:prstGeom prst="ellipse">
            <a:avLst/>
          </a:prstGeom>
          <a:solidFill>
            <a:srgbClr val="9E3D31"/>
          </a:solidFill>
          <a:ln>
            <a:noFill/>
          </a:ln>
        </p:spPr>
      </p:sp>
      <p:sp>
        <p:nvSpPr>
          <p:cNvPr id="23" name="TextBox 23"/>
          <p:cNvSpPr txBox="1"/>
          <p:nvPr/>
        </p:nvSpPr>
        <p:spPr>
          <a:xfrm>
            <a:off x="2860358" y="2681764"/>
            <a:ext cx="293084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262626"/>
                </a:solidFill>
                <a:latin typeface="JetBrains Mono"/>
                <a:ea typeface="Microsoft YaHei"/>
                <a:cs typeface="JetBrains Mono"/>
              </a:rPr>
              <a:t>71%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6654165" y="2706052"/>
            <a:ext cx="66308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综合 OEE</a:t>
            </a:r>
          </a:p>
        </p:txBody>
      </p:sp>
      <p:sp>
        <p:nvSpPr>
          <p:cNvPr id="25" name="Ellipse 25"/>
          <p:cNvSpPr/>
          <p:nvPr/>
        </p:nvSpPr>
        <p:spPr>
          <a:xfrm>
            <a:off x="8686800" y="2733675"/>
            <a:ext cx="76200" cy="76200"/>
          </a:xfrm>
          <a:prstGeom prst="ellipse">
            <a:avLst/>
          </a:prstGeom>
          <a:solidFill>
            <a:srgbClr val="5A7A60"/>
          </a:solidFill>
          <a:ln>
            <a:noFill/>
          </a:ln>
        </p:spPr>
      </p:sp>
      <p:sp>
        <p:nvSpPr>
          <p:cNvPr id="26" name="TextBox 26"/>
          <p:cNvSpPr txBox="1"/>
          <p:nvPr/>
        </p:nvSpPr>
        <p:spPr>
          <a:xfrm>
            <a:off x="8861108" y="2681764"/>
            <a:ext cx="442055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262626"/>
                </a:solidFill>
                <a:latin typeface="JetBrains Mono"/>
                <a:ea typeface="Microsoft YaHei"/>
                <a:cs typeface="JetBrains Mono"/>
              </a:rPr>
              <a:t>85%+</a:t>
            </a:r>
          </a:p>
        </p:txBody>
      </p:sp>
      <p:sp>
        <p:nvSpPr>
          <p:cNvPr id="27" name="Line 27"/>
          <p:cNvSpPr/>
          <p:nvPr/>
        </p:nvSpPr>
        <p:spPr>
          <a:xfrm>
            <a:off x="666750" y="2990850"/>
            <a:ext cx="5048250" cy="9525"/>
          </a:xfrm>
          <a:custGeom>
            <a:avLst/>
            <a:gdLst/>
            <a:ahLst/>
            <a:cxnLst/>
            <a:rect l="l" t="t" r="r" b="b"/>
            <a:pathLst>
              <a:path w="5048250" h="9525">
                <a:moveTo>
                  <a:pt x="0" y="0"/>
                </a:moveTo>
                <a:lnTo>
                  <a:pt x="5048250" y="0"/>
                </a:lnTo>
              </a:path>
            </a:pathLst>
          </a:custGeom>
          <a:noFill/>
          <a:ln w="7144">
            <a:solidFill>
              <a:srgbClr val="E7E7E7"/>
            </a:solidFill>
          </a:ln>
        </p:spPr>
      </p:sp>
      <p:sp>
        <p:nvSpPr>
          <p:cNvPr id="28" name="Line 28"/>
          <p:cNvSpPr/>
          <p:nvPr/>
        </p:nvSpPr>
        <p:spPr>
          <a:xfrm>
            <a:off x="6667500" y="2990850"/>
            <a:ext cx="4914900" cy="9525"/>
          </a:xfrm>
          <a:custGeom>
            <a:avLst/>
            <a:gdLst/>
            <a:ahLst/>
            <a:cxnLst/>
            <a:rect l="l" t="t" r="r" b="b"/>
            <a:pathLst>
              <a:path w="4914900" h="9525">
                <a:moveTo>
                  <a:pt x="0" y="0"/>
                </a:moveTo>
                <a:lnTo>
                  <a:pt x="4914900" y="0"/>
                </a:lnTo>
              </a:path>
            </a:pathLst>
          </a:custGeom>
          <a:noFill/>
          <a:ln w="7144">
            <a:solidFill>
              <a:srgbClr val="E7E7E7"/>
            </a:solidFill>
          </a:ln>
        </p:spPr>
      </p:sp>
      <p:sp>
        <p:nvSpPr>
          <p:cNvPr id="29" name="TextBox 29"/>
          <p:cNvSpPr txBox="1"/>
          <p:nvPr/>
        </p:nvSpPr>
        <p:spPr>
          <a:xfrm>
            <a:off x="653415" y="3239452"/>
            <a:ext cx="79343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年停机损失</a:t>
            </a:r>
          </a:p>
        </p:txBody>
      </p:sp>
      <p:sp>
        <p:nvSpPr>
          <p:cNvPr id="30" name="Ellipse 30"/>
          <p:cNvSpPr/>
          <p:nvPr/>
        </p:nvSpPr>
        <p:spPr>
          <a:xfrm>
            <a:off x="2686050" y="3267075"/>
            <a:ext cx="76200" cy="76200"/>
          </a:xfrm>
          <a:prstGeom prst="ellipse">
            <a:avLst/>
          </a:prstGeom>
          <a:solidFill>
            <a:srgbClr val="9E3D31"/>
          </a:solidFill>
          <a:ln>
            <a:noFill/>
          </a:ln>
        </p:spPr>
      </p:sp>
      <p:sp>
        <p:nvSpPr>
          <p:cNvPr id="31" name="TextBox 31"/>
          <p:cNvSpPr txBox="1"/>
          <p:nvPr/>
        </p:nvSpPr>
        <p:spPr>
          <a:xfrm>
            <a:off x="2860358" y="3215164"/>
            <a:ext cx="684133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¥420 万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6654165" y="3239452"/>
            <a:ext cx="79343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年停机损失</a:t>
            </a:r>
          </a:p>
        </p:txBody>
      </p:sp>
      <p:sp>
        <p:nvSpPr>
          <p:cNvPr id="33" name="Ellipse 33"/>
          <p:cNvSpPr/>
          <p:nvPr/>
        </p:nvSpPr>
        <p:spPr>
          <a:xfrm>
            <a:off x="8686800" y="3267075"/>
            <a:ext cx="76200" cy="76200"/>
          </a:xfrm>
          <a:prstGeom prst="ellipse">
            <a:avLst/>
          </a:prstGeom>
          <a:solidFill>
            <a:srgbClr val="5A7A60"/>
          </a:solidFill>
          <a:ln>
            <a:noFill/>
          </a:ln>
        </p:spPr>
      </p:sp>
      <p:sp>
        <p:nvSpPr>
          <p:cNvPr id="34" name="TextBox 34"/>
          <p:cNvSpPr txBox="1"/>
          <p:nvPr/>
        </p:nvSpPr>
        <p:spPr>
          <a:xfrm>
            <a:off x="8861108" y="3215164"/>
            <a:ext cx="926211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省 ¥340 万</a:t>
            </a:r>
          </a:p>
        </p:txBody>
      </p:sp>
      <p:sp>
        <p:nvSpPr>
          <p:cNvPr id="35" name="Line 35"/>
          <p:cNvSpPr/>
          <p:nvPr/>
        </p:nvSpPr>
        <p:spPr>
          <a:xfrm>
            <a:off x="666750" y="3524250"/>
            <a:ext cx="5048250" cy="9525"/>
          </a:xfrm>
          <a:custGeom>
            <a:avLst/>
            <a:gdLst/>
            <a:ahLst/>
            <a:cxnLst/>
            <a:rect l="l" t="t" r="r" b="b"/>
            <a:pathLst>
              <a:path w="5048250" h="9525">
                <a:moveTo>
                  <a:pt x="0" y="0"/>
                </a:moveTo>
                <a:lnTo>
                  <a:pt x="5048250" y="0"/>
                </a:lnTo>
              </a:path>
            </a:pathLst>
          </a:custGeom>
          <a:noFill/>
          <a:ln w="7144">
            <a:solidFill>
              <a:srgbClr val="E7E7E7"/>
            </a:solidFill>
          </a:ln>
        </p:spPr>
      </p:sp>
      <p:sp>
        <p:nvSpPr>
          <p:cNvPr id="36" name="Line 36"/>
          <p:cNvSpPr/>
          <p:nvPr/>
        </p:nvSpPr>
        <p:spPr>
          <a:xfrm>
            <a:off x="6667500" y="3524250"/>
            <a:ext cx="4914900" cy="9525"/>
          </a:xfrm>
          <a:custGeom>
            <a:avLst/>
            <a:gdLst/>
            <a:ahLst/>
            <a:cxnLst/>
            <a:rect l="l" t="t" r="r" b="b"/>
            <a:pathLst>
              <a:path w="4914900" h="9525">
                <a:moveTo>
                  <a:pt x="0" y="0"/>
                </a:moveTo>
                <a:lnTo>
                  <a:pt x="4914900" y="0"/>
                </a:lnTo>
              </a:path>
            </a:pathLst>
          </a:custGeom>
          <a:noFill/>
          <a:ln w="7144">
            <a:solidFill>
              <a:srgbClr val="E7E7E7"/>
            </a:solidFill>
          </a:ln>
        </p:spPr>
      </p:sp>
      <p:sp>
        <p:nvSpPr>
          <p:cNvPr id="37" name="TextBox 37"/>
          <p:cNvSpPr txBox="1"/>
          <p:nvPr/>
        </p:nvSpPr>
        <p:spPr>
          <a:xfrm>
            <a:off x="653415" y="3772852"/>
            <a:ext cx="64008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效率趋势</a:t>
            </a:r>
          </a:p>
        </p:txBody>
      </p:sp>
      <p:sp>
        <p:nvSpPr>
          <p:cNvPr id="38" name="Ellipse 38"/>
          <p:cNvSpPr/>
          <p:nvPr/>
        </p:nvSpPr>
        <p:spPr>
          <a:xfrm>
            <a:off x="2686050" y="3800475"/>
            <a:ext cx="76200" cy="76200"/>
          </a:xfrm>
          <a:prstGeom prst="ellipse">
            <a:avLst/>
          </a:prstGeom>
          <a:solidFill>
            <a:srgbClr val="9E3D31"/>
          </a:solidFill>
          <a:ln>
            <a:noFill/>
          </a:ln>
        </p:spPr>
      </p:sp>
      <p:sp>
        <p:nvSpPr>
          <p:cNvPr id="39" name="TextBox 39"/>
          <p:cNvSpPr txBox="1"/>
          <p:nvPr/>
        </p:nvSpPr>
        <p:spPr>
          <a:xfrm>
            <a:off x="2860358" y="3748564"/>
            <a:ext cx="777240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持续下滑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6654165" y="3772852"/>
            <a:ext cx="64008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效率趋势</a:t>
            </a:r>
          </a:p>
        </p:txBody>
      </p:sp>
      <p:sp>
        <p:nvSpPr>
          <p:cNvPr id="41" name="Ellipse 41"/>
          <p:cNvSpPr/>
          <p:nvPr/>
        </p:nvSpPr>
        <p:spPr>
          <a:xfrm>
            <a:off x="8686800" y="3800475"/>
            <a:ext cx="76200" cy="76200"/>
          </a:xfrm>
          <a:prstGeom prst="ellipse">
            <a:avLst/>
          </a:prstGeom>
          <a:solidFill>
            <a:srgbClr val="5A7A60"/>
          </a:solidFill>
          <a:ln>
            <a:noFill/>
          </a:ln>
        </p:spPr>
      </p:sp>
      <p:sp>
        <p:nvSpPr>
          <p:cNvPr id="42" name="TextBox 42"/>
          <p:cNvSpPr txBox="1"/>
          <p:nvPr/>
        </p:nvSpPr>
        <p:spPr>
          <a:xfrm>
            <a:off x="8861108" y="3748564"/>
            <a:ext cx="805172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12 周回本</a:t>
            </a:r>
          </a:p>
        </p:txBody>
      </p:sp>
      <p:sp>
        <p:nvSpPr>
          <p:cNvPr id="43" name="Line 43"/>
          <p:cNvSpPr/>
          <p:nvPr/>
        </p:nvSpPr>
        <p:spPr>
          <a:xfrm>
            <a:off x="666750" y="4057650"/>
            <a:ext cx="5048250" cy="9525"/>
          </a:xfrm>
          <a:custGeom>
            <a:avLst/>
            <a:gdLst/>
            <a:ahLst/>
            <a:cxnLst/>
            <a:rect l="l" t="t" r="r" b="b"/>
            <a:pathLst>
              <a:path w="5048250" h="9525">
                <a:moveTo>
                  <a:pt x="0" y="0"/>
                </a:moveTo>
                <a:lnTo>
                  <a:pt x="5048250" y="0"/>
                </a:lnTo>
              </a:path>
            </a:pathLst>
          </a:custGeom>
          <a:noFill/>
          <a:ln w="7144">
            <a:solidFill>
              <a:srgbClr val="E7E7E7"/>
            </a:solidFill>
          </a:ln>
        </p:spPr>
      </p:sp>
      <p:sp>
        <p:nvSpPr>
          <p:cNvPr id="44" name="Line 44"/>
          <p:cNvSpPr/>
          <p:nvPr/>
        </p:nvSpPr>
        <p:spPr>
          <a:xfrm>
            <a:off x="6667500" y="4057650"/>
            <a:ext cx="4914900" cy="9525"/>
          </a:xfrm>
          <a:custGeom>
            <a:avLst/>
            <a:gdLst/>
            <a:ahLst/>
            <a:cxnLst/>
            <a:rect l="l" t="t" r="r" b="b"/>
            <a:pathLst>
              <a:path w="4914900" h="9525">
                <a:moveTo>
                  <a:pt x="0" y="0"/>
                </a:moveTo>
                <a:lnTo>
                  <a:pt x="4914900" y="0"/>
                </a:lnTo>
              </a:path>
            </a:pathLst>
          </a:custGeom>
          <a:noFill/>
          <a:ln w="7144">
            <a:solidFill>
              <a:srgbClr val="E7E7E7"/>
            </a:solidFill>
          </a:ln>
        </p:spPr>
      </p:sp>
      <p:sp>
        <p:nvSpPr>
          <p:cNvPr id="45" name="TextBox 45"/>
          <p:cNvSpPr txBox="1"/>
          <p:nvPr/>
        </p:nvSpPr>
        <p:spPr>
          <a:xfrm>
            <a:off x="653415" y="4306252"/>
            <a:ext cx="64008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实施风险</a:t>
            </a:r>
          </a:p>
        </p:txBody>
      </p:sp>
      <p:sp>
        <p:nvSpPr>
          <p:cNvPr id="46" name="Ellipse 46"/>
          <p:cNvSpPr/>
          <p:nvPr/>
        </p:nvSpPr>
        <p:spPr>
          <a:xfrm>
            <a:off x="2686050" y="4333875"/>
            <a:ext cx="76200" cy="76200"/>
          </a:xfrm>
          <a:prstGeom prst="ellipse">
            <a:avLst/>
          </a:prstGeom>
          <a:solidFill>
            <a:srgbClr val="8A7333"/>
          </a:solidFill>
          <a:ln>
            <a:noFill/>
          </a:ln>
        </p:spPr>
      </p:sp>
      <p:sp>
        <p:nvSpPr>
          <p:cNvPr id="47" name="TextBox 47"/>
          <p:cNvSpPr txBox="1"/>
          <p:nvPr/>
        </p:nvSpPr>
        <p:spPr>
          <a:xfrm>
            <a:off x="2860358" y="4281964"/>
            <a:ext cx="777240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风险累积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6654165" y="4306252"/>
            <a:ext cx="64008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实施风险</a:t>
            </a:r>
          </a:p>
        </p:txBody>
      </p:sp>
      <p:sp>
        <p:nvSpPr>
          <p:cNvPr id="49" name="Ellipse 49"/>
          <p:cNvSpPr/>
          <p:nvPr/>
        </p:nvSpPr>
        <p:spPr>
          <a:xfrm>
            <a:off x="8686800" y="4333875"/>
            <a:ext cx="76200" cy="76200"/>
          </a:xfrm>
          <a:prstGeom prst="ellipse">
            <a:avLst/>
          </a:prstGeom>
          <a:solidFill>
            <a:srgbClr val="5A7A60"/>
          </a:solidFill>
          <a:ln>
            <a:noFill/>
          </a:ln>
        </p:spPr>
      </p:sp>
      <p:sp>
        <p:nvSpPr>
          <p:cNvPr id="50" name="TextBox 50"/>
          <p:cNvSpPr txBox="1"/>
          <p:nvPr/>
        </p:nvSpPr>
        <p:spPr>
          <a:xfrm>
            <a:off x="8861108" y="4281964"/>
            <a:ext cx="777240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中等可控</a:t>
            </a:r>
          </a:p>
        </p:txBody>
      </p:sp>
      <p:sp>
        <p:nvSpPr>
          <p:cNvPr id="51" name="Line 51"/>
          <p:cNvSpPr/>
          <p:nvPr/>
        </p:nvSpPr>
        <p:spPr>
          <a:xfrm>
            <a:off x="666750" y="4591050"/>
            <a:ext cx="5048250" cy="9525"/>
          </a:xfrm>
          <a:custGeom>
            <a:avLst/>
            <a:gdLst/>
            <a:ahLst/>
            <a:cxnLst/>
            <a:rect l="l" t="t" r="r" b="b"/>
            <a:pathLst>
              <a:path w="5048250" h="9525">
                <a:moveTo>
                  <a:pt x="0" y="0"/>
                </a:moveTo>
                <a:lnTo>
                  <a:pt x="5048250" y="0"/>
                </a:lnTo>
              </a:path>
            </a:pathLst>
          </a:custGeom>
          <a:noFill/>
          <a:ln w="7144">
            <a:solidFill>
              <a:srgbClr val="E7E7E7"/>
            </a:solidFill>
          </a:ln>
        </p:spPr>
      </p:sp>
      <p:sp>
        <p:nvSpPr>
          <p:cNvPr id="52" name="Line 52"/>
          <p:cNvSpPr/>
          <p:nvPr/>
        </p:nvSpPr>
        <p:spPr>
          <a:xfrm>
            <a:off x="6667500" y="4591050"/>
            <a:ext cx="4914900" cy="9525"/>
          </a:xfrm>
          <a:custGeom>
            <a:avLst/>
            <a:gdLst/>
            <a:ahLst/>
            <a:cxnLst/>
            <a:rect l="l" t="t" r="r" b="b"/>
            <a:pathLst>
              <a:path w="4914900" h="9525">
                <a:moveTo>
                  <a:pt x="0" y="0"/>
                </a:moveTo>
                <a:lnTo>
                  <a:pt x="4914900" y="0"/>
                </a:lnTo>
              </a:path>
            </a:pathLst>
          </a:custGeom>
          <a:noFill/>
          <a:ln w="7144">
            <a:solidFill>
              <a:srgbClr val="E7E7E7"/>
            </a:solidFill>
          </a:ln>
        </p:spPr>
      </p:sp>
      <p:sp>
        <p:nvSpPr>
          <p:cNvPr id="53" name="TextBox 53"/>
          <p:cNvSpPr txBox="1"/>
          <p:nvPr/>
        </p:nvSpPr>
        <p:spPr>
          <a:xfrm>
            <a:off x="653415" y="4839652"/>
            <a:ext cx="66308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12 个月后</a:t>
            </a:r>
          </a:p>
        </p:txBody>
      </p:sp>
      <p:sp>
        <p:nvSpPr>
          <p:cNvPr id="54" name="Ellipse 54"/>
          <p:cNvSpPr/>
          <p:nvPr/>
        </p:nvSpPr>
        <p:spPr>
          <a:xfrm>
            <a:off x="2686050" y="4867275"/>
            <a:ext cx="76200" cy="76200"/>
          </a:xfrm>
          <a:prstGeom prst="ellipse">
            <a:avLst/>
          </a:prstGeom>
          <a:solidFill>
            <a:srgbClr val="9E3D31"/>
          </a:solidFill>
          <a:ln>
            <a:noFill/>
          </a:ln>
        </p:spPr>
      </p:sp>
      <p:sp>
        <p:nvSpPr>
          <p:cNvPr id="55" name="TextBox 55"/>
          <p:cNvSpPr txBox="1"/>
          <p:nvPr/>
        </p:nvSpPr>
        <p:spPr>
          <a:xfrm>
            <a:off x="2860358" y="4815364"/>
            <a:ext cx="963454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进一步恶化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6654165" y="4839652"/>
            <a:ext cx="663083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E6E6E"/>
                </a:solidFill>
                <a:latin typeface="Inter"/>
                <a:ea typeface="Microsoft YaHei"/>
                <a:cs typeface="Inter"/>
              </a:rPr>
              <a:t>12 个月后</a:t>
            </a:r>
          </a:p>
        </p:txBody>
      </p:sp>
      <p:sp>
        <p:nvSpPr>
          <p:cNvPr id="57" name="Ellipse 57"/>
          <p:cNvSpPr/>
          <p:nvPr/>
        </p:nvSpPr>
        <p:spPr>
          <a:xfrm>
            <a:off x="8686800" y="4867275"/>
            <a:ext cx="76200" cy="76200"/>
          </a:xfrm>
          <a:prstGeom prst="ellipse">
            <a:avLst/>
          </a:prstGeom>
          <a:solidFill>
            <a:srgbClr val="5A7A60"/>
          </a:solidFill>
          <a:ln>
            <a:noFill/>
          </a:ln>
        </p:spPr>
      </p:sp>
      <p:sp>
        <p:nvSpPr>
          <p:cNvPr id="58" name="TextBox 58"/>
          <p:cNvSpPr txBox="1"/>
          <p:nvPr/>
        </p:nvSpPr>
        <p:spPr>
          <a:xfrm>
            <a:off x="8861108" y="4815364"/>
            <a:ext cx="1149668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进入良性循环</a:t>
            </a:r>
          </a:p>
        </p:txBody>
      </p:sp>
      <p:sp>
        <p:nvSpPr>
          <p:cNvPr id="59" name="Line 59"/>
          <p:cNvSpPr/>
          <p:nvPr/>
        </p:nvSpPr>
        <p:spPr>
          <a:xfrm>
            <a:off x="666750" y="5124450"/>
            <a:ext cx="5048250" cy="9525"/>
          </a:xfrm>
          <a:custGeom>
            <a:avLst/>
            <a:gdLst/>
            <a:ahLst/>
            <a:cxnLst/>
            <a:rect l="l" t="t" r="r" b="b"/>
            <a:pathLst>
              <a:path w="5048250" h="9525">
                <a:moveTo>
                  <a:pt x="0" y="0"/>
                </a:moveTo>
                <a:lnTo>
                  <a:pt x="5048250" y="0"/>
                </a:lnTo>
              </a:path>
            </a:pathLst>
          </a:custGeom>
          <a:noFill/>
          <a:ln w="7144">
            <a:solidFill>
              <a:srgbClr val="E7E7E7"/>
            </a:solidFill>
          </a:ln>
        </p:spPr>
      </p:sp>
      <p:sp>
        <p:nvSpPr>
          <p:cNvPr id="60" name="Line 60"/>
          <p:cNvSpPr/>
          <p:nvPr/>
        </p:nvSpPr>
        <p:spPr>
          <a:xfrm>
            <a:off x="6667500" y="5124450"/>
            <a:ext cx="4914900" cy="9525"/>
          </a:xfrm>
          <a:custGeom>
            <a:avLst/>
            <a:gdLst/>
            <a:ahLst/>
            <a:cxnLst/>
            <a:rect l="l" t="t" r="r" b="b"/>
            <a:pathLst>
              <a:path w="4914900" h="9525">
                <a:moveTo>
                  <a:pt x="0" y="0"/>
                </a:moveTo>
                <a:lnTo>
                  <a:pt x="4914900" y="0"/>
                </a:lnTo>
              </a:path>
            </a:pathLst>
          </a:custGeom>
          <a:noFill/>
          <a:ln w="7144">
            <a:solidFill>
              <a:srgbClr val="E7E7E7"/>
            </a:solidFill>
          </a:ln>
        </p:spPr>
      </p:sp>
      <p:sp>
        <p:nvSpPr>
          <p:cNvPr id="61" name="Ellipse 61"/>
          <p:cNvSpPr/>
          <p:nvPr/>
        </p:nvSpPr>
        <p:spPr>
          <a:xfrm>
            <a:off x="390525" y="5934075"/>
            <a:ext cx="57150" cy="57150"/>
          </a:xfrm>
          <a:prstGeom prst="ellipse">
            <a:avLst/>
          </a:prstGeom>
          <a:solidFill>
            <a:srgbClr val="336EE8"/>
          </a:solidFill>
          <a:ln>
            <a:noFill/>
          </a:ln>
        </p:spPr>
      </p:sp>
      <p:sp>
        <p:nvSpPr>
          <p:cNvPr id="62" name="TextBox 62"/>
          <p:cNvSpPr txBox="1"/>
          <p:nvPr/>
        </p:nvSpPr>
        <p:spPr>
          <a:xfrm>
            <a:off x="557212" y="5898356"/>
            <a:ext cx="5401389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262626"/>
                </a:solidFill>
                <a:latin typeface="Inter"/>
                <a:ea typeface="Microsoft YaHei"/>
                <a:cs typeface="Inter"/>
              </a:rPr>
              <a:t>同样 12 周：要么继续亏 ¥420 万/年，要么省下 ¥340 万——选择显而易见。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C1C1C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368618" y="656749"/>
            <a:ext cx="127075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767676"/>
                </a:solidFill>
                <a:latin typeface="Inter"/>
                <a:ea typeface="Microsoft YaHei"/>
                <a:cs typeface="Inter"/>
              </a:rPr>
              <a:t>PART 03 — 改善方案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339090" y="2806065"/>
            <a:ext cx="4638389" cy="6705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300" b="1" dirty="0">
                <a:solidFill>
                  <a:srgbClr val="F5F5F5"/>
                </a:solidFill>
                <a:latin typeface="Inter"/>
                <a:ea typeface="Microsoft YaHei"/>
                <a:cs typeface="Inter"/>
              </a:rPr>
              <a:t>已经看清问题在哪，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339090" y="3472815"/>
            <a:ext cx="5650516" cy="6705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300" b="1" dirty="0">
                <a:solidFill>
                  <a:srgbClr val="F5F5F5"/>
                </a:solidFill>
                <a:latin typeface="Inter"/>
                <a:ea typeface="Microsoft YaHei"/>
                <a:cs typeface="Inter"/>
              </a:rPr>
              <a:t>接下来是怎么把它解决。</a:t>
            </a:r>
          </a:p>
        </p:txBody>
      </p:sp>
      <p:sp>
        <p:nvSpPr>
          <p:cNvPr id="6" name="Rectangle 6"/>
          <p:cNvSpPr/>
          <p:nvPr/>
        </p:nvSpPr>
        <p:spPr>
          <a:xfrm>
            <a:off x="400050" y="4114800"/>
            <a:ext cx="1104900" cy="28575"/>
          </a:xfrm>
          <a:prstGeom prst="rect">
            <a:avLst/>
          </a:prstGeom>
          <a:solidFill>
            <a:srgbClr val="5C8BED"/>
          </a:solidFill>
          <a:ln>
            <a:noFill/>
          </a:ln>
        </p:spPr>
      </p:sp>
      <p:sp>
        <p:nvSpPr>
          <p:cNvPr id="7" name="TextBox 7"/>
          <p:cNvSpPr txBox="1"/>
          <p:nvPr/>
        </p:nvSpPr>
        <p:spPr>
          <a:xfrm>
            <a:off x="363855" y="4426268"/>
            <a:ext cx="4450842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A8A8A8"/>
                </a:solidFill>
                <a:latin typeface="Inter"/>
                <a:ea typeface="Microsoft YaHei"/>
                <a:cs typeface="Inter"/>
              </a:rPr>
              <a:t>从根因到闭环：方案选型、体系架构、90 天落地。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70522" y="6578441"/>
            <a:ext cx="1171646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767676"/>
                </a:solidFill>
                <a:latin typeface="Inter"/>
                <a:ea typeface="Microsoft YaHei"/>
                <a:cs typeface="Inter"/>
              </a:rPr>
              <a:t>Aham · 运营改善咨询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517368" y="6578441"/>
            <a:ext cx="304109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825" dirty="0">
                <a:solidFill>
                  <a:srgbClr val="767676"/>
                </a:solidFill>
                <a:latin typeface="JetBrains Mono"/>
                <a:ea typeface="Microsoft YaHei"/>
                <a:cs typeface="JetBrains Mono"/>
              </a:rPr>
              <a:t>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