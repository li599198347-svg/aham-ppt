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2452" y="570071"/>
            <a:ext cx="5606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9662" y="602456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· 运营改善咨询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5280" y="26593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三条产线运营诊断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5280" y="3268980"/>
            <a:ext cx="3955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与改善实施方案</a:t>
            </a:r>
          </a:p>
        </p:txBody>
      </p:sp>
      <p:sp>
        <p:nvSpPr>
          <p:cNvPr id="8" name="Rectangle 8"/>
          <p:cNvSpPr/>
          <p:nvPr/>
        </p:nvSpPr>
        <p:spPr>
          <a:xfrm>
            <a:off x="400050" y="3905250"/>
            <a:ext cx="1104900" cy="381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1950" y="4200525"/>
            <a:ext cx="33899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综合效率</a:t>
            </a:r>
            <a:r>
              <a:rPr lang="zh-CN" sz="1500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71%</a:t>
            </a:r>
            <a:r>
              <a:rPr lang="zh-CN" sz="15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→</a:t>
            </a:r>
            <a:r>
              <a:rPr lang="zh-CN" sz="1500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85%</a:t>
            </a:r>
            <a:r>
              <a:rPr lang="zh-CN" sz="15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的 90 天改善路径</a:t>
            </a:r>
          </a:p>
        </p:txBody>
      </p:sp>
      <p:sp>
        <p:nvSpPr>
          <p:cNvPr id="10" name="Line 10"/>
          <p:cNvSpPr/>
          <p:nvPr/>
        </p:nvSpPr>
        <p:spPr>
          <a:xfrm>
            <a:off x="8153400" y="2724150"/>
            <a:ext cx="9525" cy="2038350"/>
          </a:xfrm>
          <a:custGeom>
            <a:avLst/>
            <a:gdLst/>
            <a:ahLst/>
            <a:cxnLst/>
            <a:rect l="l" t="t" r="r" b="b"/>
            <a:pathLst>
              <a:path w="9525" h="2038350">
                <a:moveTo>
                  <a:pt x="0" y="0"/>
                </a:moveTo>
                <a:lnTo>
                  <a:pt x="0" y="20383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83918" y="2790349"/>
            <a:ext cx="1007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目录 CONTENTS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0" y="3223260"/>
            <a:ext cx="179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99208" y="321516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现状诊断与基准对标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1060" y="36233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9208" y="361521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停机与不良根因分析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81060" y="402336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99208" y="4015264"/>
            <a:ext cx="15220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改善方案选型对照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1060" y="442341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99208" y="4415314"/>
            <a:ext cx="17827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90 天实施与责任矩阵</a:t>
            </a:r>
          </a:p>
        </p:txBody>
      </p:sp>
      <p:sp>
        <p:nvSpPr>
          <p:cNvPr id="20" name="Line 20"/>
          <p:cNvSpPr/>
          <p:nvPr/>
        </p:nvSpPr>
        <p:spPr>
          <a:xfrm>
            <a:off x="381000" y="6172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68618" y="6390799"/>
            <a:ext cx="39834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受众：工厂管理层 · 日期：</a:t>
            </a:r>
            <a:r>
              <a:rPr lang="zh-CN" sz="97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2026-06-21</a:t>
            </a:r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· 编号：</a:t>
            </a:r>
            <a:r>
              <a:rPr lang="zh-CN" sz="97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OPS-2026-014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80466" y="63907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机密 · 仅限内部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641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产线运营诊断 · 第一部分 现状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1095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68329" y="131445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71458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综合效率 71.2%，低于行业基准 14 个百分点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0522" y="6664166"/>
            <a:ext cx="19970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来源：MES 系统 · 2026-Q1 现场测算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877" y="66641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02 / 08</a:t>
            </a:r>
          </a:p>
        </p:txBody>
      </p:sp>
      <p:sp>
        <p:nvSpPr>
          <p:cNvPr id="12" name="Line 12"/>
          <p:cNvSpPr/>
          <p:nvPr/>
        </p:nvSpPr>
        <p:spPr>
          <a:xfrm>
            <a:off x="3009900" y="1143000"/>
            <a:ext cx="9525" cy="895350"/>
          </a:xfrm>
          <a:custGeom>
            <a:avLst/>
            <a:gdLst/>
            <a:ahLst/>
            <a:cxnLst/>
            <a:rect l="l" t="t" r="r" b="b"/>
            <a:pathLst>
              <a:path w="952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3" name="Line 13"/>
          <p:cNvSpPr/>
          <p:nvPr/>
        </p:nvSpPr>
        <p:spPr>
          <a:xfrm>
            <a:off x="5867400" y="1143000"/>
            <a:ext cx="9525" cy="895350"/>
          </a:xfrm>
          <a:custGeom>
            <a:avLst/>
            <a:gdLst/>
            <a:ahLst/>
            <a:cxnLst/>
            <a:rect l="l" t="t" r="r" b="b"/>
            <a:pathLst>
              <a:path w="952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4" name="Line 14"/>
          <p:cNvSpPr/>
          <p:nvPr/>
        </p:nvSpPr>
        <p:spPr>
          <a:xfrm>
            <a:off x="8724900" y="1143000"/>
            <a:ext cx="9525" cy="895350"/>
          </a:xfrm>
          <a:custGeom>
            <a:avLst/>
            <a:gdLst/>
            <a:ahLst/>
            <a:cxnLst/>
            <a:rect l="l" t="t" r="r" b="b"/>
            <a:pathLst>
              <a:path w="952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6712" y="1212056"/>
            <a:ext cx="10390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综合效率 OEE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5280" y="1421130"/>
            <a:ext cx="11679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71.2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3525" y="16478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18" name="Ellipse 18"/>
          <p:cNvSpPr/>
          <p:nvPr/>
        </p:nvSpPr>
        <p:spPr>
          <a:xfrm>
            <a:off x="390525" y="1924050"/>
            <a:ext cx="76200" cy="76200"/>
          </a:xfrm>
          <a:prstGeom prst="ellipse">
            <a:avLst/>
          </a:prstGeom>
          <a:solidFill>
            <a:srgbClr val="9E3D3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48640" y="188690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同比 −3.1 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4212" y="12120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计划达成率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92780" y="1421130"/>
            <a:ext cx="1305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86.4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91025" y="16478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23" name="Ellipse 23"/>
          <p:cNvSpPr/>
          <p:nvPr/>
        </p:nvSpPr>
        <p:spPr>
          <a:xfrm>
            <a:off x="3248025" y="1924050"/>
            <a:ext cx="76200" cy="76200"/>
          </a:xfrm>
          <a:prstGeom prst="ellipse">
            <a:avLst/>
          </a:prstGeom>
          <a:solidFill>
            <a:srgbClr val="8A733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406140" y="188690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环比 −1.8 pt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81712" y="12120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平均停机时长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50280" y="1421130"/>
            <a:ext cx="10023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4.7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1825" y="16478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h/日</a:t>
            </a:r>
          </a:p>
        </p:txBody>
      </p:sp>
      <p:sp>
        <p:nvSpPr>
          <p:cNvPr id="28" name="Ellipse 28"/>
          <p:cNvSpPr/>
          <p:nvPr/>
        </p:nvSpPr>
        <p:spPr>
          <a:xfrm>
            <a:off x="6105525" y="1924050"/>
            <a:ext cx="76200" cy="76200"/>
          </a:xfrm>
          <a:prstGeom prst="ellipse">
            <a:avLst/>
          </a:prstGeom>
          <a:solidFill>
            <a:srgbClr val="9E3D3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263640" y="1886902"/>
            <a:ext cx="8471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环比 +0.9 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39212" y="1212056"/>
            <a:ext cx="10061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一次良率 FPY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07780" y="1421130"/>
            <a:ext cx="1305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93.5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06025" y="16478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33" name="Ellipse 33"/>
          <p:cNvSpPr/>
          <p:nvPr/>
        </p:nvSpPr>
        <p:spPr>
          <a:xfrm>
            <a:off x="8963025" y="1924050"/>
            <a:ext cx="76200" cy="76200"/>
          </a:xfrm>
          <a:prstGeom prst="ellipse">
            <a:avLst/>
          </a:prstGeom>
          <a:solidFill>
            <a:srgbClr val="5A7A6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121140" y="1886902"/>
            <a:ext cx="9314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环比 +0.4 pt</a:t>
            </a:r>
          </a:p>
        </p:txBody>
      </p:sp>
      <p:sp>
        <p:nvSpPr>
          <p:cNvPr id="35" name="Line 35"/>
          <p:cNvSpPr/>
          <p:nvPr/>
        </p:nvSpPr>
        <p:spPr>
          <a:xfrm>
            <a:off x="381000" y="2209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61950" y="24479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三条产线效率明细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91968" y="250459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基准 OEE 目标 85%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665" y="28775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产线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81084" y="28775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节拍达成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742342" y="2877502"/>
            <a:ext cx="614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停机(h)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37605" y="28775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不良率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01665" y="28775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状态</a:t>
            </a:r>
          </a:p>
        </p:txBody>
      </p:sp>
      <p:sp>
        <p:nvSpPr>
          <p:cNvPr id="43" name="Line 43"/>
          <p:cNvSpPr/>
          <p:nvPr/>
        </p:nvSpPr>
        <p:spPr>
          <a:xfrm>
            <a:off x="381000" y="31051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11430">
            <a:solidFill>
              <a:srgbClr val="E7E7E7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366712" y="3326606"/>
            <a:ext cx="661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冲压线 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72370" y="3326606"/>
            <a:ext cx="480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82.0%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58007" y="3326606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3.2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99315" y="3326606"/>
            <a:ext cx="3489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2.1%</a:t>
            </a:r>
          </a:p>
        </p:txBody>
      </p:sp>
      <p:sp>
        <p:nvSpPr>
          <p:cNvPr id="48" name="Ellipse 48"/>
          <p:cNvSpPr/>
          <p:nvPr/>
        </p:nvSpPr>
        <p:spPr>
          <a:xfrm>
            <a:off x="5686425" y="3371850"/>
            <a:ext cx="76200" cy="76200"/>
          </a:xfrm>
          <a:prstGeom prst="ellipse">
            <a:avLst/>
          </a:prstGeom>
          <a:solidFill>
            <a:srgbClr val="8A7333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44540" y="33347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预警</a:t>
            </a:r>
          </a:p>
        </p:txBody>
      </p:sp>
      <p:sp>
        <p:nvSpPr>
          <p:cNvPr id="50" name="Line 50"/>
          <p:cNvSpPr/>
          <p:nvPr/>
        </p:nvSpPr>
        <p:spPr>
          <a:xfrm>
            <a:off x="381000" y="36195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66712" y="3840956"/>
            <a:ext cx="661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焊装线 B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772370" y="3840956"/>
            <a:ext cx="480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68.4%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058007" y="3840956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5.9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958239" y="3840956"/>
            <a:ext cx="390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4.8%</a:t>
            </a:r>
          </a:p>
        </p:txBody>
      </p:sp>
      <p:sp>
        <p:nvSpPr>
          <p:cNvPr id="55" name="Ellipse 55"/>
          <p:cNvSpPr/>
          <p:nvPr/>
        </p:nvSpPr>
        <p:spPr>
          <a:xfrm>
            <a:off x="5686425" y="3886200"/>
            <a:ext cx="76200" cy="76200"/>
          </a:xfrm>
          <a:prstGeom prst="ellipse">
            <a:avLst/>
          </a:prstGeom>
          <a:solidFill>
            <a:srgbClr val="9E3D31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844540" y="38490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风险</a:t>
            </a:r>
          </a:p>
        </p:txBody>
      </p:sp>
      <p:sp>
        <p:nvSpPr>
          <p:cNvPr id="57" name="Line 57"/>
          <p:cNvSpPr/>
          <p:nvPr/>
        </p:nvSpPr>
        <p:spPr>
          <a:xfrm>
            <a:off x="381000" y="41338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366712" y="4355306"/>
            <a:ext cx="661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总装线 C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772370" y="4355306"/>
            <a:ext cx="480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73.0%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058007" y="4355306"/>
            <a:ext cx="2996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4.9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958239" y="4355306"/>
            <a:ext cx="390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3.0%</a:t>
            </a:r>
          </a:p>
        </p:txBody>
      </p:sp>
      <p:sp>
        <p:nvSpPr>
          <p:cNvPr id="62" name="Ellipse 62"/>
          <p:cNvSpPr/>
          <p:nvPr/>
        </p:nvSpPr>
        <p:spPr>
          <a:xfrm>
            <a:off x="5686425" y="4400550"/>
            <a:ext cx="76200" cy="76200"/>
          </a:xfrm>
          <a:prstGeom prst="ellipse">
            <a:avLst/>
          </a:prstGeom>
          <a:solidFill>
            <a:srgbClr val="8A7333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844540" y="4363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预警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46482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65" name="Line 65"/>
          <p:cNvSpPr/>
          <p:nvPr/>
        </p:nvSpPr>
        <p:spPr>
          <a:xfrm>
            <a:off x="381000" y="46672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11430">
            <a:solidFill>
              <a:srgbClr val="C4C4C4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366712" y="5022056"/>
            <a:ext cx="9170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综合 / 均值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792909" y="5022056"/>
            <a:ext cx="459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71.2%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044452" y="5022056"/>
            <a:ext cx="313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4.7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940165" y="5022056"/>
            <a:ext cx="4081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3.3%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701665" y="5030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—</a:t>
            </a:r>
          </a:p>
        </p:txBody>
      </p:sp>
      <p:sp>
        <p:nvSpPr>
          <p:cNvPr id="71" name="Line 71"/>
          <p:cNvSpPr/>
          <p:nvPr/>
        </p:nvSpPr>
        <p:spPr>
          <a:xfrm>
            <a:off x="6934200" y="243840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7181850" y="24479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关键发现</a:t>
            </a:r>
          </a:p>
        </p:txBody>
      </p:sp>
      <p:sp>
        <p:nvSpPr>
          <p:cNvPr id="73" name="Ellipse 73"/>
          <p:cNvSpPr/>
          <p:nvPr/>
        </p:nvSpPr>
        <p:spPr>
          <a:xfrm>
            <a:off x="7210425" y="28860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377112" y="2831306"/>
            <a:ext cx="3388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焊装线 B 为主瓶颈：停机 5.9 h、不良 4.8%，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377112" y="3059906"/>
            <a:ext cx="2591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单线拉低综合 OEE 约 6 个百分点。</a:t>
            </a:r>
          </a:p>
        </p:txBody>
      </p:sp>
      <p:sp>
        <p:nvSpPr>
          <p:cNvPr id="76" name="Ellipse 76"/>
          <p:cNvSpPr/>
          <p:nvPr/>
        </p:nvSpPr>
        <p:spPr>
          <a:xfrm>
            <a:off x="7210425" y="34956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377112" y="344090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非计划停机集中在换型与待料，二者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377112" y="3669506"/>
            <a:ext cx="264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合计占比 64%，是改善的第一抓手。</a:t>
            </a:r>
          </a:p>
        </p:txBody>
      </p:sp>
      <p:sp>
        <p:nvSpPr>
          <p:cNvPr id="79" name="Ellipse 79"/>
          <p:cNvSpPr/>
          <p:nvPr/>
        </p:nvSpPr>
        <p:spPr>
          <a:xfrm>
            <a:off x="7210425" y="41052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7377112" y="4050506"/>
            <a:ext cx="26656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一次良率 93.5%，质量端稳定，重心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377112" y="42791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应放在设备综合效率而非工艺。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184708" y="5005864"/>
            <a:ext cx="211472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非计划停机构成 · Top 3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87565" y="52968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换型等待</a:t>
            </a:r>
          </a:p>
        </p:txBody>
      </p:sp>
      <p:sp>
        <p:nvSpPr>
          <p:cNvPr id="84" name="Rectangle 84"/>
          <p:cNvSpPr/>
          <p:nvPr/>
        </p:nvSpPr>
        <p:spPr>
          <a:xfrm>
            <a:off x="8153400" y="5295900"/>
            <a:ext cx="2714625" cy="1524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1544633" y="52968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38%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187565" y="55826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物料待料</a:t>
            </a:r>
          </a:p>
        </p:txBody>
      </p:sp>
      <p:sp>
        <p:nvSpPr>
          <p:cNvPr id="87" name="Rectangle 87"/>
          <p:cNvSpPr/>
          <p:nvPr/>
        </p:nvSpPr>
        <p:spPr>
          <a:xfrm>
            <a:off x="8153400" y="5581650"/>
            <a:ext cx="1857375" cy="15240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11544633" y="55826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26%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187565" y="58683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设备故障</a:t>
            </a:r>
          </a:p>
        </p:txBody>
      </p:sp>
      <p:sp>
        <p:nvSpPr>
          <p:cNvPr id="90" name="Rectangle 90"/>
          <p:cNvSpPr/>
          <p:nvPr/>
        </p:nvSpPr>
        <p:spPr>
          <a:xfrm>
            <a:off x="8153400" y="5867400"/>
            <a:ext cx="1219200" cy="15240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11582972" y="5868352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4005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改善方案 · 第三部分 选型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1095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68329" y="131445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784513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方案 B 系统升级综合性价比最高，建议优先实施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0522" y="6664166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来源：方案投入产出测算 · 2026-06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877" y="66641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03 / 08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29350" y="1428750"/>
            <a:ext cx="2857500" cy="43053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83745" y="15821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6EE8"/>
                </a:solidFill>
                <a:latin typeface="Inter"/>
                <a:ea typeface="Microsoft YaHei"/>
                <a:cs typeface="Inter"/>
              </a:rPr>
              <a:t>推荐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67600" y="1771650"/>
            <a:ext cx="381000" cy="1905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415659" y="187642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方案 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42460" y="21536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快速改善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1259" y="187642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方案 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38060" y="21536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系统升级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35409" y="187642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方案 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62210" y="21536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产线重构</a:t>
            </a:r>
          </a:p>
        </p:txBody>
      </p:sp>
      <p:sp>
        <p:nvSpPr>
          <p:cNvPr id="21" name="Line 21"/>
          <p:cNvSpPr/>
          <p:nvPr/>
        </p:nvSpPr>
        <p:spPr>
          <a:xfrm>
            <a:off x="381000" y="24955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1430">
            <a:solidFill>
              <a:srgbClr val="E7E7E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66712" y="27360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投入预算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5861" y="2736056"/>
            <a:ext cx="513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¥80 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41900" y="2736056"/>
            <a:ext cx="63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¥260 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80427" y="2736056"/>
            <a:ext cx="6036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¥720 万</a:t>
            </a:r>
          </a:p>
        </p:txBody>
      </p:sp>
      <p:sp>
        <p:nvSpPr>
          <p:cNvPr id="26" name="Line 26"/>
          <p:cNvSpPr/>
          <p:nvPr/>
        </p:nvSpPr>
        <p:spPr>
          <a:xfrm>
            <a:off x="381000" y="306705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0" y="0"/>
                </a:moveTo>
                <a:lnTo>
                  <a:pt x="58483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27" name="Line 27"/>
          <p:cNvSpPr/>
          <p:nvPr/>
        </p:nvSpPr>
        <p:spPr>
          <a:xfrm>
            <a:off x="9086850" y="3067050"/>
            <a:ext cx="2724150" cy="9525"/>
          </a:xfrm>
          <a:custGeom>
            <a:avLst/>
            <a:gdLst/>
            <a:ahLst/>
            <a:cxnLst/>
            <a:rect l="l" t="t" r="r" b="b"/>
            <a:pathLst>
              <a:path w="2724150" h="9525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66712" y="32313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实施周期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96229" y="3231356"/>
            <a:ext cx="332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6 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58352" y="3231356"/>
            <a:ext cx="3994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12 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70795" y="3231356"/>
            <a:ext cx="422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28 周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356235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0" y="0"/>
                </a:moveTo>
                <a:lnTo>
                  <a:pt x="58483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33" name="Line 33"/>
          <p:cNvSpPr/>
          <p:nvPr/>
        </p:nvSpPr>
        <p:spPr>
          <a:xfrm>
            <a:off x="9086850" y="3562350"/>
            <a:ext cx="2724150" cy="9525"/>
          </a:xfrm>
          <a:custGeom>
            <a:avLst/>
            <a:gdLst/>
            <a:ahLst/>
            <a:cxnLst/>
            <a:rect l="l" t="t" r="r" b="b"/>
            <a:pathLst>
              <a:path w="2724150" h="9525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66712" y="3726656"/>
            <a:ext cx="1088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预期 OEE 提升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42830" y="3726656"/>
            <a:ext cx="4393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+4 pt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02282" y="3726656"/>
            <a:ext cx="5116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+12 pt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37934" y="3726656"/>
            <a:ext cx="4886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+18 pt</a:t>
            </a:r>
          </a:p>
        </p:txBody>
      </p:sp>
      <p:sp>
        <p:nvSpPr>
          <p:cNvPr id="38" name="Line 38"/>
          <p:cNvSpPr/>
          <p:nvPr/>
        </p:nvSpPr>
        <p:spPr>
          <a:xfrm>
            <a:off x="381000" y="405765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0" y="0"/>
                </a:moveTo>
                <a:lnTo>
                  <a:pt x="58483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39" name="Line 39"/>
          <p:cNvSpPr/>
          <p:nvPr/>
        </p:nvSpPr>
        <p:spPr>
          <a:xfrm>
            <a:off x="9086850" y="4057650"/>
            <a:ext cx="2724150" cy="9525"/>
          </a:xfrm>
          <a:custGeom>
            <a:avLst/>
            <a:gdLst/>
            <a:ahLst/>
            <a:cxnLst/>
            <a:rect l="l" t="t" r="r" b="b"/>
            <a:pathLst>
              <a:path w="2724150" h="9525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6712" y="42219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实施风险</a:t>
            </a:r>
          </a:p>
        </p:txBody>
      </p:sp>
      <p:sp>
        <p:nvSpPr>
          <p:cNvPr id="41" name="Ellipse 41"/>
          <p:cNvSpPr/>
          <p:nvPr/>
        </p:nvSpPr>
        <p:spPr>
          <a:xfrm>
            <a:off x="4591050" y="4257675"/>
            <a:ext cx="76200" cy="76200"/>
          </a:xfrm>
          <a:prstGeom prst="ellipse">
            <a:avLst/>
          </a:prstGeom>
          <a:solidFill>
            <a:srgbClr val="5A7A6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685109" y="4221956"/>
            <a:ext cx="192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低</a:t>
            </a:r>
          </a:p>
        </p:txBody>
      </p:sp>
      <p:sp>
        <p:nvSpPr>
          <p:cNvPr id="43" name="Ellipse 43"/>
          <p:cNvSpPr/>
          <p:nvPr/>
        </p:nvSpPr>
        <p:spPr>
          <a:xfrm>
            <a:off x="7486650" y="4257675"/>
            <a:ext cx="76200" cy="76200"/>
          </a:xfrm>
          <a:prstGeom prst="ellipse">
            <a:avLst/>
          </a:prstGeom>
          <a:solidFill>
            <a:srgbClr val="8A7333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580709" y="4221956"/>
            <a:ext cx="192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中</a:t>
            </a:r>
          </a:p>
        </p:txBody>
      </p:sp>
      <p:sp>
        <p:nvSpPr>
          <p:cNvPr id="45" name="Ellipse 45"/>
          <p:cNvSpPr/>
          <p:nvPr/>
        </p:nvSpPr>
        <p:spPr>
          <a:xfrm>
            <a:off x="10210800" y="4257675"/>
            <a:ext cx="76200" cy="76200"/>
          </a:xfrm>
          <a:prstGeom prst="ellipse">
            <a:avLst/>
          </a:prstGeom>
          <a:solidFill>
            <a:srgbClr val="9E3D3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304859" y="4221956"/>
            <a:ext cx="192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高</a:t>
            </a:r>
          </a:p>
        </p:txBody>
      </p:sp>
      <p:sp>
        <p:nvSpPr>
          <p:cNvPr id="47" name="Line 47"/>
          <p:cNvSpPr/>
          <p:nvPr/>
        </p:nvSpPr>
        <p:spPr>
          <a:xfrm>
            <a:off x="381000" y="455295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0" y="0"/>
                </a:moveTo>
                <a:lnTo>
                  <a:pt x="58483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48" name="Line 48"/>
          <p:cNvSpPr/>
          <p:nvPr/>
        </p:nvSpPr>
        <p:spPr>
          <a:xfrm>
            <a:off x="9086850" y="4552950"/>
            <a:ext cx="2724150" cy="9525"/>
          </a:xfrm>
          <a:custGeom>
            <a:avLst/>
            <a:gdLst/>
            <a:ahLst/>
            <a:cxnLst/>
            <a:rect l="l" t="t" r="r" b="b"/>
            <a:pathLst>
              <a:path w="2724150" h="9525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6712" y="47172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产线停产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01753" y="4717256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不停产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298769" y="47172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周末窗口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027027" y="471725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停产 4 周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504825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0" y="0"/>
                </a:moveTo>
                <a:lnTo>
                  <a:pt x="58483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54" name="Line 54"/>
          <p:cNvSpPr/>
          <p:nvPr/>
        </p:nvSpPr>
        <p:spPr>
          <a:xfrm>
            <a:off x="9086850" y="5048250"/>
            <a:ext cx="2724150" cy="9525"/>
          </a:xfrm>
          <a:custGeom>
            <a:avLst/>
            <a:gdLst/>
            <a:ahLst/>
            <a:cxnLst/>
            <a:rect l="l" t="t" r="r" b="b"/>
            <a:pathLst>
              <a:path w="2724150" h="9525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66712" y="52125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方案可逆性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666059" y="5212556"/>
            <a:ext cx="192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高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557552" y="5212556"/>
            <a:ext cx="2010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中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5809" y="5212556"/>
            <a:ext cx="192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低</a:t>
            </a:r>
          </a:p>
        </p:txBody>
      </p:sp>
      <p:sp>
        <p:nvSpPr>
          <p:cNvPr id="59" name="Line 59"/>
          <p:cNvSpPr/>
          <p:nvPr/>
        </p:nvSpPr>
        <p:spPr>
          <a:xfrm>
            <a:off x="381000" y="5619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1430">
            <a:solidFill>
              <a:srgbClr val="C4C4C4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390525" y="5886450"/>
            <a:ext cx="57150" cy="57150"/>
          </a:xfrm>
          <a:prstGeom prst="ellipse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557212" y="5850731"/>
            <a:ext cx="53767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以中等投入、</a:t>
            </a:r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12</a:t>
            </a:r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周换取</a:t>
            </a:r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+12</a:t>
            </a:r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个百分点 OEE，并保留向方案 C 升级的可逆性。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4005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根因分析 · 第二部分 证据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1095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68329" y="131445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824998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OEE 连续 8 个月低于 75%，自然爬坡无法收敛缺口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0522" y="6664166"/>
            <a:ext cx="2237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来源：MES OEE 月报 2025-11 至 2026-06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877" y="66641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04 / 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4415" y="1201102"/>
            <a:ext cx="1667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月度综合效率 OEE（%）</a:t>
            </a:r>
          </a:p>
        </p:txBody>
      </p:sp>
      <p:sp>
        <p:nvSpPr>
          <p:cNvPr id="13" name="Line 13"/>
          <p:cNvSpPr/>
          <p:nvPr/>
        </p:nvSpPr>
        <p:spPr>
          <a:xfrm>
            <a:off x="1047750" y="533400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F3F3F3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77430" y="52749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60</a:t>
            </a:r>
          </a:p>
        </p:txBody>
      </p:sp>
      <p:sp>
        <p:nvSpPr>
          <p:cNvPr id="15" name="Line 15"/>
          <p:cNvSpPr/>
          <p:nvPr/>
        </p:nvSpPr>
        <p:spPr>
          <a:xfrm>
            <a:off x="1047750" y="412750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F3F3F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77430" y="40684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70</a:t>
            </a:r>
          </a:p>
        </p:txBody>
      </p:sp>
      <p:sp>
        <p:nvSpPr>
          <p:cNvPr id="17" name="Line 17"/>
          <p:cNvSpPr/>
          <p:nvPr/>
        </p:nvSpPr>
        <p:spPr>
          <a:xfrm>
            <a:off x="1047750" y="292100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F3F3F3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77430" y="28619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80</a:t>
            </a:r>
          </a:p>
        </p:txBody>
      </p:sp>
      <p:sp>
        <p:nvSpPr>
          <p:cNvPr id="19" name="Line 19"/>
          <p:cNvSpPr/>
          <p:nvPr/>
        </p:nvSpPr>
        <p:spPr>
          <a:xfrm>
            <a:off x="1047750" y="171450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F3F3F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77430" y="16554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90</a:t>
            </a:r>
          </a:p>
        </p:txBody>
      </p:sp>
      <p:sp>
        <p:nvSpPr>
          <p:cNvPr id="21" name="Line 21"/>
          <p:cNvSpPr/>
          <p:nvPr/>
        </p:nvSpPr>
        <p:spPr>
          <a:xfrm>
            <a:off x="1047750" y="1676400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2" name="Line 22"/>
          <p:cNvSpPr/>
          <p:nvPr/>
        </p:nvSpPr>
        <p:spPr>
          <a:xfrm>
            <a:off x="1047750" y="533400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3" name="Line 23"/>
          <p:cNvSpPr/>
          <p:nvPr/>
        </p:nvSpPr>
        <p:spPr>
          <a:xfrm>
            <a:off x="1047750" y="2317750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9525">
            <a:solidFill>
              <a:srgbClr val="9B9B9B"/>
            </a:solidFill>
            <a:custDash>
              <a:ds d="500000" sp="400000"/>
            </a:custDash>
          </a:ln>
        </p:spPr>
      </p:sp>
      <p:sp>
        <p:nvSpPr>
          <p:cNvPr id="24" name="TextBox 24"/>
          <p:cNvSpPr txBox="1"/>
          <p:nvPr/>
        </p:nvSpPr>
        <p:spPr>
          <a:xfrm>
            <a:off x="1093470" y="2153920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行业基准 85%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362075" y="3765550"/>
            <a:ext cx="419100" cy="15684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87900" y="35921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5039" y="544639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11月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028825" y="3886200"/>
            <a:ext cx="419100" cy="144780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154650" y="37128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05358" y="5446395"/>
            <a:ext cx="266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12月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695575" y="4127500"/>
            <a:ext cx="419100" cy="120650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821400" y="39541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08256" y="5446395"/>
            <a:ext cx="193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362325" y="4248150"/>
            <a:ext cx="419100" cy="10858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488150" y="40747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69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58575" y="5446395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029075" y="4006850"/>
            <a:ext cx="419100" cy="13271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171331" y="38334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125325" y="5446395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3月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695825" y="4127500"/>
            <a:ext cx="419100" cy="120650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821650" y="39541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92075" y="5446395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4月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362575" y="4006850"/>
            <a:ext cx="419100" cy="13271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504831" y="383349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58825" y="5446395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5月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029325" y="3982720"/>
            <a:ext cx="419100" cy="135128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092878" y="3809365"/>
            <a:ext cx="291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71.2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125575" y="5446395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6月</a:t>
            </a:r>
          </a:p>
        </p:txBody>
      </p:sp>
      <p:sp>
        <p:nvSpPr>
          <p:cNvPr id="49" name="Line 49"/>
          <p:cNvSpPr/>
          <p:nvPr/>
        </p:nvSpPr>
        <p:spPr>
          <a:xfrm>
            <a:off x="7124700" y="1428750"/>
            <a:ext cx="9525" cy="4591050"/>
          </a:xfrm>
          <a:custGeom>
            <a:avLst/>
            <a:gdLst/>
            <a:ahLst/>
            <a:cxnLst/>
            <a:rect l="l" t="t" r="r" b="b"/>
            <a:pathLst>
              <a:path w="9525" h="4591050">
                <a:moveTo>
                  <a:pt x="0" y="0"/>
                </a:moveTo>
                <a:lnTo>
                  <a:pt x="0" y="45910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410450" y="14382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趋势研判</a:t>
            </a:r>
          </a:p>
        </p:txBody>
      </p:sp>
      <p:sp>
        <p:nvSpPr>
          <p:cNvPr id="51" name="Ellipse 51"/>
          <p:cNvSpPr/>
          <p:nvPr/>
        </p:nvSpPr>
        <p:spPr>
          <a:xfrm>
            <a:off x="7439025" y="1885950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605712" y="1831181"/>
            <a:ext cx="2337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近 8 个月在 69–73% 区间震荡，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605712" y="205978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无趋势性改善，长期低于基准。</a:t>
            </a:r>
          </a:p>
        </p:txBody>
      </p:sp>
      <p:sp>
        <p:nvSpPr>
          <p:cNvPr id="54" name="Ellipse 54"/>
          <p:cNvSpPr/>
          <p:nvPr/>
        </p:nvSpPr>
        <p:spPr>
          <a:xfrm>
            <a:off x="7439025" y="2571750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605712" y="251698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波谷集中在 1–2 月，换型批次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05712" y="274558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增多，与换型停机高度相关。</a:t>
            </a:r>
          </a:p>
        </p:txBody>
      </p:sp>
      <p:sp>
        <p:nvSpPr>
          <p:cNvPr id="57" name="Ellipse 57"/>
          <p:cNvSpPr/>
          <p:nvPr/>
        </p:nvSpPr>
        <p:spPr>
          <a:xfrm>
            <a:off x="7439025" y="3257550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605712" y="3202781"/>
            <a:ext cx="2074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缺口约 14 个百分点，靠自然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605712" y="343138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爬坡无法收敛，需结构性介入。</a:t>
            </a:r>
          </a:p>
        </p:txBody>
      </p:sp>
      <p:sp>
        <p:nvSpPr>
          <p:cNvPr id="60" name="Line 60"/>
          <p:cNvSpPr/>
          <p:nvPr/>
        </p:nvSpPr>
        <p:spPr>
          <a:xfrm>
            <a:off x="7315200" y="4000500"/>
            <a:ext cx="4495800" cy="9525"/>
          </a:xfrm>
          <a:custGeom>
            <a:avLst/>
            <a:gdLst/>
            <a:ahLst/>
            <a:cxnLst/>
            <a:rect l="l" t="t" r="r" b="b"/>
            <a:pathLst>
              <a:path w="4495800" h="9525">
                <a:moveTo>
                  <a:pt x="0" y="0"/>
                </a:moveTo>
                <a:lnTo>
                  <a:pt x="44958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301865" y="428720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改善后 6 个月目标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67575" y="4567238"/>
            <a:ext cx="136040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85%+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300912" y="5174456"/>
            <a:ext cx="2180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约 +14 pt，回到行业基准水平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4005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实施路径 · 第四部分 落地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1095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68329" y="131445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8305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90 天三阶段推进：先治瓶颈、再稳系统、后固标准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0522" y="6664166"/>
            <a:ext cx="21175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来源：改善项目实施计划 v2 · 2026-06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877" y="66641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05 / 08</a:t>
            </a:r>
          </a:p>
        </p:txBody>
      </p:sp>
      <p:sp>
        <p:nvSpPr>
          <p:cNvPr id="12" name="Line 12"/>
          <p:cNvSpPr/>
          <p:nvPr/>
        </p:nvSpPr>
        <p:spPr>
          <a:xfrm>
            <a:off x="2305050" y="1504950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19050">
            <a:solidFill>
              <a:srgbClr val="E7E7E7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247900" y="1447800"/>
            <a:ext cx="114300" cy="114300"/>
          </a:xfrm>
          <a:prstGeom prst="ellipse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038850" y="1447800"/>
            <a:ext cx="114300" cy="1143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9829800" y="1447800"/>
            <a:ext cx="114300" cy="1143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014990" y="170449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Day 1–30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66780" y="1704499"/>
            <a:ext cx="658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Day 31–60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57730" y="1704499"/>
            <a:ext cx="658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Day 61–90</a:t>
            </a:r>
          </a:p>
        </p:txBody>
      </p:sp>
      <p:sp>
        <p:nvSpPr>
          <p:cNvPr id="19" name="Line 19"/>
          <p:cNvSpPr/>
          <p:nvPr/>
        </p:nvSpPr>
        <p:spPr>
          <a:xfrm>
            <a:off x="4200525" y="2114550"/>
            <a:ext cx="9525" cy="2419350"/>
          </a:xfrm>
          <a:custGeom>
            <a:avLst/>
            <a:gdLst/>
            <a:ahLst/>
            <a:cxnLst/>
            <a:rect l="l" t="t" r="r" b="b"/>
            <a:pathLst>
              <a:path w="9525" h="2419350">
                <a:moveTo>
                  <a:pt x="0" y="0"/>
                </a:moveTo>
                <a:lnTo>
                  <a:pt x="0" y="24193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0" name="Line 20"/>
          <p:cNvSpPr/>
          <p:nvPr/>
        </p:nvSpPr>
        <p:spPr>
          <a:xfrm>
            <a:off x="7991475" y="2114550"/>
            <a:ext cx="9525" cy="2419350"/>
          </a:xfrm>
          <a:custGeom>
            <a:avLst/>
            <a:gdLst/>
            <a:ahLst/>
            <a:cxnLst/>
            <a:rect l="l" t="t" r="r" b="b"/>
            <a:pathLst>
              <a:path w="9525" h="2419350">
                <a:moveTo>
                  <a:pt x="0" y="0"/>
                </a:moveTo>
                <a:lnTo>
                  <a:pt x="0" y="241935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54330" y="217360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4C4C4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7245" y="22221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治瓶颈</a:t>
            </a:r>
          </a:p>
        </p:txBody>
      </p:sp>
      <p:sp>
        <p:nvSpPr>
          <p:cNvPr id="23" name="Ellipse 23"/>
          <p:cNvSpPr/>
          <p:nvPr/>
        </p:nvSpPr>
        <p:spPr>
          <a:xfrm>
            <a:off x="1524000" y="2257425"/>
            <a:ext cx="76200" cy="76200"/>
          </a:xfrm>
          <a:prstGeom prst="ellipse">
            <a:avLst/>
          </a:prstGeom>
          <a:solidFill>
            <a:srgbClr val="6E6E6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683068" y="222837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进行中</a:t>
            </a:r>
          </a:p>
        </p:txBody>
      </p:sp>
      <p:sp>
        <p:nvSpPr>
          <p:cNvPr id="25" name="Ellipse 25"/>
          <p:cNvSpPr/>
          <p:nvPr/>
        </p:nvSpPr>
        <p:spPr>
          <a:xfrm>
            <a:off x="390525" y="27527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57212" y="2697956"/>
            <a:ext cx="1860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焊装线 B 换型 SMED 改造</a:t>
            </a:r>
          </a:p>
        </p:txBody>
      </p:sp>
      <p:sp>
        <p:nvSpPr>
          <p:cNvPr id="27" name="Ellipse 27"/>
          <p:cNvSpPr/>
          <p:nvPr/>
        </p:nvSpPr>
        <p:spPr>
          <a:xfrm>
            <a:off x="390525" y="30956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57212" y="30408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待料看板与配送节拍对齐</a:t>
            </a:r>
          </a:p>
        </p:txBody>
      </p:sp>
      <p:sp>
        <p:nvSpPr>
          <p:cNvPr id="29" name="Ellipse 29"/>
          <p:cNvSpPr/>
          <p:nvPr/>
        </p:nvSpPr>
        <p:spPr>
          <a:xfrm>
            <a:off x="390525" y="34385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7212" y="33837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关键设备点检上线</a:t>
            </a:r>
          </a:p>
        </p:txBody>
      </p:sp>
      <p:sp>
        <p:nvSpPr>
          <p:cNvPr id="31" name="Line 31"/>
          <p:cNvSpPr/>
          <p:nvPr/>
        </p:nvSpPr>
        <p:spPr>
          <a:xfrm>
            <a:off x="381000" y="400050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68618" y="42190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交付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960" y="4194810"/>
            <a:ext cx="14290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B 线 OEE 68→76%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97680" y="217360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4C4C4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60595" y="22221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稳系统</a:t>
            </a:r>
          </a:p>
        </p:txBody>
      </p:sp>
      <p:sp>
        <p:nvSpPr>
          <p:cNvPr id="36" name="Ellipse 36"/>
          <p:cNvSpPr/>
          <p:nvPr/>
        </p:nvSpPr>
        <p:spPr>
          <a:xfrm>
            <a:off x="4333875" y="27527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00562" y="2697956"/>
            <a:ext cx="1950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SMED 与点检标准三线推广</a:t>
            </a:r>
          </a:p>
        </p:txBody>
      </p:sp>
      <p:sp>
        <p:nvSpPr>
          <p:cNvPr id="38" name="Ellipse 38"/>
          <p:cNvSpPr/>
          <p:nvPr/>
        </p:nvSpPr>
        <p:spPr>
          <a:xfrm>
            <a:off x="4333875" y="30956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00562" y="3040856"/>
            <a:ext cx="2049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MES 停机自动采集 + 日清会</a:t>
            </a:r>
          </a:p>
        </p:txBody>
      </p:sp>
      <p:sp>
        <p:nvSpPr>
          <p:cNvPr id="40" name="Ellipse 40"/>
          <p:cNvSpPr/>
          <p:nvPr/>
        </p:nvSpPr>
        <p:spPr>
          <a:xfrm>
            <a:off x="4333875" y="34385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500562" y="33837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备件与工装预置</a:t>
            </a:r>
          </a:p>
        </p:txBody>
      </p:sp>
      <p:sp>
        <p:nvSpPr>
          <p:cNvPr id="42" name="Line 42"/>
          <p:cNvSpPr/>
          <p:nvPr/>
        </p:nvSpPr>
        <p:spPr>
          <a:xfrm>
            <a:off x="4324350" y="400050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311968" y="42190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交付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66310" y="4194810"/>
            <a:ext cx="12542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综合 OEE →80%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88630" y="217360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4C4C4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51545" y="222218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固标准</a:t>
            </a:r>
          </a:p>
        </p:txBody>
      </p:sp>
      <p:sp>
        <p:nvSpPr>
          <p:cNvPr id="47" name="Ellipse 47"/>
          <p:cNvSpPr/>
          <p:nvPr/>
        </p:nvSpPr>
        <p:spPr>
          <a:xfrm>
            <a:off x="8124825" y="27527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291512" y="26979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标准作业固化与培训认证</a:t>
            </a:r>
          </a:p>
        </p:txBody>
      </p:sp>
      <p:sp>
        <p:nvSpPr>
          <p:cNvPr id="49" name="Ellipse 49"/>
          <p:cNvSpPr/>
          <p:nvPr/>
        </p:nvSpPr>
        <p:spPr>
          <a:xfrm>
            <a:off x="8124825" y="30956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291512" y="3040856"/>
            <a:ext cx="1696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OEE 纳入班组考核看板</a:t>
            </a:r>
          </a:p>
        </p:txBody>
      </p:sp>
      <p:sp>
        <p:nvSpPr>
          <p:cNvPr id="51" name="Ellipse 51"/>
          <p:cNvSpPr/>
          <p:nvPr/>
        </p:nvSpPr>
        <p:spPr>
          <a:xfrm>
            <a:off x="8124825" y="34385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291512" y="33837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月度改善例会机制</a:t>
            </a:r>
          </a:p>
        </p:txBody>
      </p:sp>
      <p:sp>
        <p:nvSpPr>
          <p:cNvPr id="53" name="Line 53"/>
          <p:cNvSpPr/>
          <p:nvPr/>
        </p:nvSpPr>
        <p:spPr>
          <a:xfrm>
            <a:off x="8115300" y="400050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102918" y="42190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交付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557260" y="4194810"/>
            <a:ext cx="18615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综合 OEE →85% 可持续</a:t>
            </a:r>
          </a:p>
        </p:txBody>
      </p:sp>
      <p:sp>
        <p:nvSpPr>
          <p:cNvPr id="56" name="Line 56"/>
          <p:cNvSpPr/>
          <p:nvPr/>
        </p:nvSpPr>
        <p:spPr>
          <a:xfrm>
            <a:off x="381000" y="47244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64808" y="4910614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责任矩阵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7665" y="52016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关键举措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892165" y="52016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责任方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87665" y="52016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截止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1165" y="5201602"/>
            <a:ext cx="6224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验收 KPI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5429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11430">
            <a:solidFill>
              <a:srgbClr val="E7E7E7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66712" y="559355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SMED 换型改造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91212" y="5593556"/>
            <a:ext cx="874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工艺 · 李工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986712" y="5593556"/>
            <a:ext cx="529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Day 30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320212" y="5593556"/>
            <a:ext cx="10390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换型 ≤ 20 min</a:t>
            </a:r>
          </a:p>
        </p:txBody>
      </p:sp>
      <p:sp>
        <p:nvSpPr>
          <p:cNvPr id="67" name="Line 67"/>
          <p:cNvSpPr/>
          <p:nvPr/>
        </p:nvSpPr>
        <p:spPr>
          <a:xfrm>
            <a:off x="381000" y="5848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366712" y="58602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停机自动采集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891212" y="58602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IT · 王工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986712" y="5860256"/>
            <a:ext cx="529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Day 45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320212" y="5860256"/>
            <a:ext cx="9815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采集率 ≥ 95%</a:t>
            </a:r>
          </a:p>
        </p:txBody>
      </p:sp>
      <p:sp>
        <p:nvSpPr>
          <p:cNvPr id="72" name="Line 72"/>
          <p:cNvSpPr/>
          <p:nvPr/>
        </p:nvSpPr>
        <p:spPr>
          <a:xfrm>
            <a:off x="381000" y="6115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66712" y="61269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标准作业固化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891212" y="6126956"/>
            <a:ext cx="874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生产 · 张工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986712" y="6126956"/>
            <a:ext cx="529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Day 90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320212" y="6126956"/>
            <a:ext cx="940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稽核 ≥ 90 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29194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根因分析 · 停机损失量化</a:t>
            </a:r>
          </a:p>
        </p:txBody>
      </p:sp>
      <p:sp>
        <p:nvSpPr>
          <p:cNvPr id="4" name="Rectangle 4"/>
          <p:cNvSpPr/>
          <p:nvPr/>
        </p:nvSpPr>
        <p:spPr>
          <a:xfrm>
            <a:off x="381000" y="6286500"/>
            <a:ext cx="800100" cy="1905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0045" y="1726882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非计划停机每年吃掉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" y="2259330"/>
            <a:ext cx="4570971" cy="2560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6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¥420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32910" y="3166110"/>
            <a:ext cx="72009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万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3905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26262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60045" y="4127182"/>
            <a:ext cx="35463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相当于焊装线 B 全年利润的 31%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6712" y="4564856"/>
            <a:ext cx="2747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按 2026-Q1 停机工时 × 边际贡献测算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0" y="142875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988618" y="15520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E3D31"/>
                </a:solidFill>
                <a:latin typeface="Inter"/>
                <a:ea typeface="Microsoft YaHei"/>
                <a:cs typeface="Inter"/>
              </a:rPr>
              <a:t>损失拆解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001000" y="1790700"/>
            <a:ext cx="1143000" cy="19050"/>
          </a:xfrm>
          <a:prstGeom prst="rect">
            <a:avLst/>
          </a:prstGeom>
          <a:solidFill>
            <a:srgbClr val="9E3D3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86712" y="21264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换型等待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59353" y="2110264"/>
            <a:ext cx="66783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7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¥160 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8618" y="2371249"/>
            <a:ext cx="2217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占 38% · 换型频次高、单次 45 min</a:t>
            </a:r>
          </a:p>
        </p:txBody>
      </p:sp>
      <p:sp>
        <p:nvSpPr>
          <p:cNvPr id="17" name="Line 17"/>
          <p:cNvSpPr/>
          <p:nvPr/>
        </p:nvSpPr>
        <p:spPr>
          <a:xfrm>
            <a:off x="8001000" y="2667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986712" y="29265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物料待料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59353" y="2910364"/>
            <a:ext cx="66783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7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¥109 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88618" y="3171349"/>
            <a:ext cx="18901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占 26% · 配送节拍与产线不齐</a:t>
            </a:r>
          </a:p>
        </p:txBody>
      </p:sp>
      <p:sp>
        <p:nvSpPr>
          <p:cNvPr id="21" name="Line 21"/>
          <p:cNvSpPr/>
          <p:nvPr/>
        </p:nvSpPr>
        <p:spPr>
          <a:xfrm>
            <a:off x="8001000" y="34671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986712" y="37266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设备故障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66892" y="3710464"/>
            <a:ext cx="560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7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¥71 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88618" y="3971449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占 17% · 点检缺失、突发停机</a:t>
            </a:r>
          </a:p>
        </p:txBody>
      </p:sp>
      <p:sp>
        <p:nvSpPr>
          <p:cNvPr id="25" name="Line 25"/>
          <p:cNvSpPr/>
          <p:nvPr/>
        </p:nvSpPr>
        <p:spPr>
          <a:xfrm>
            <a:off x="8001000" y="42672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7144">
            <a:solidFill>
              <a:srgbClr val="E7E7E7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8010525" y="4676775"/>
            <a:ext cx="57150" cy="57150"/>
          </a:xfrm>
          <a:prstGeom prst="ellipse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77212" y="4641056"/>
            <a:ext cx="24849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三项合计可改善空间 ¥340 万 / 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0522" y="6578441"/>
            <a:ext cx="2563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来源：停机工时台账 × 边际贡献测算 · 2026-Q1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96877" y="6578441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改善方案 · 体系架构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1095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68329" y="131445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77899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三层改善体系：目标对齐、过程管理、现场执行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0522" y="6664166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来源：改善体系设计 · 2026-06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877" y="66641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07 / 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045" y="13268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战略层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7665" y="16392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目标与对标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2425" y="2005012"/>
            <a:ext cx="35043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C4C4C4"/>
                </a:solidFill>
                <a:latin typeface="JetBrains Mono"/>
                <a:ea typeface="Microsoft YaHei"/>
                <a:cs typeface="JetBrains Mono"/>
              </a:rPr>
              <a:t>L1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286000" y="1143000"/>
            <a:ext cx="307340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282222" y="1783556"/>
            <a:ext cx="10809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OEE 目标 85%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511800" y="1143000"/>
            <a:ext cx="307340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6648" y="1783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对标行业基准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737600" y="1143000"/>
            <a:ext cx="307340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742448" y="1783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投入产出测算</a:t>
            </a:r>
          </a:p>
        </p:txBody>
      </p:sp>
      <p:sp>
        <p:nvSpPr>
          <p:cNvPr id="21" name="Line 21"/>
          <p:cNvSpPr/>
          <p:nvPr/>
        </p:nvSpPr>
        <p:spPr>
          <a:xfrm>
            <a:off x="10858500" y="26098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10810875" y="26860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60045" y="29651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管理层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7665" y="32775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过程与机制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2425" y="3643312"/>
            <a:ext cx="43669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C4C4C4"/>
                </a:solidFill>
                <a:latin typeface="JetBrains Mono"/>
                <a:ea typeface="Microsoft YaHei"/>
                <a:cs typeface="JetBrains Mono"/>
              </a:rPr>
              <a:t>L2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286000" y="2781300"/>
            <a:ext cx="226695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973884" y="34218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日清会机制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05350" y="2781300"/>
            <a:ext cx="226695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466555" y="3421856"/>
            <a:ext cx="7445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OEE 看板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124700" y="2781300"/>
            <a:ext cx="226695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726323" y="34218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标准作业体系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544050" y="2781300"/>
            <a:ext cx="226695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145673" y="34218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月度改善例会</a:t>
            </a:r>
          </a:p>
        </p:txBody>
      </p:sp>
      <p:sp>
        <p:nvSpPr>
          <p:cNvPr id="34" name="Line 34"/>
          <p:cNvSpPr/>
          <p:nvPr/>
        </p:nvSpPr>
        <p:spPr>
          <a:xfrm>
            <a:off x="10858500" y="42481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10810875" y="43243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60045" y="4603432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执行层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7665" y="49158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现场与动作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2425" y="5281612"/>
            <a:ext cx="43669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C4C4C4"/>
                </a:solidFill>
                <a:latin typeface="JetBrains Mono"/>
                <a:ea typeface="Microsoft YaHei"/>
                <a:cs typeface="JetBrains Mono"/>
              </a:rPr>
              <a:t>L3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286000" y="4419600"/>
            <a:ext cx="178308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757827" y="5060156"/>
            <a:ext cx="8394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SMED 换型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221480" y="4419600"/>
            <a:ext cx="178308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753689" y="5060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设备点检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156960" y="4419600"/>
            <a:ext cx="178308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89169" y="5060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配送节拍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092440" y="4419600"/>
            <a:ext cx="178308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624649" y="5060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备件预置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0027920" y="4419600"/>
            <a:ext cx="1783080" cy="142875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560129" y="50601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培训认证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改善方案 · 优先级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1095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468329" y="131445"/>
            <a:ext cx="354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7311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先做高影响低投入：SMED 与停机采集是首选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0522" y="6664166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来源：改善举措排序 · 2026-06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877" y="66641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08 / 08</a:t>
            </a:r>
          </a:p>
        </p:txBody>
      </p:sp>
      <p:sp>
        <p:nvSpPr>
          <p:cNvPr id="12" name="Line 12"/>
          <p:cNvSpPr/>
          <p:nvPr/>
        </p:nvSpPr>
        <p:spPr>
          <a:xfrm>
            <a:off x="1905000" y="37147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9B9B9B"/>
            </a:solidFill>
          </a:ln>
        </p:spPr>
      </p:sp>
      <p:sp>
        <p:nvSpPr>
          <p:cNvPr id="13" name="Line 13"/>
          <p:cNvSpPr/>
          <p:nvPr/>
        </p:nvSpPr>
        <p:spPr>
          <a:xfrm>
            <a:off x="6096000" y="1143000"/>
            <a:ext cx="9525" cy="5143500"/>
          </a:xfrm>
          <a:custGeom>
            <a:avLst/>
            <a:gdLst/>
            <a:ahLst/>
            <a:cxnLst/>
            <a:rect l="l" t="t" r="r" b="b"/>
            <a:pathLst>
              <a:path w="9525" h="5143500">
                <a:moveTo>
                  <a:pt x="0" y="0"/>
                </a:moveTo>
                <a:lnTo>
                  <a:pt x="0" y="5143500"/>
                </a:lnTo>
              </a:path>
            </a:pathLst>
          </a:custGeom>
          <a:noFill/>
          <a:ln w="9525">
            <a:solidFill>
              <a:srgbClr val="9B9B9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597819" y="1132999"/>
            <a:ext cx="1671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7819" y="6181249"/>
            <a:ext cx="1671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8618" y="999649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↑ 改善影响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2618" y="64669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低投入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47421" y="64669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高投入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38301" y="646699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实施投入 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75510" y="12801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6EE8"/>
                </a:solidFill>
                <a:latin typeface="Inter"/>
                <a:ea typeface="Microsoft YaHei"/>
                <a:cs typeface="Inter"/>
              </a:rPr>
              <a:t>优先实施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80272" y="1511141"/>
            <a:ext cx="6414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QUICK WINS</a:t>
            </a:r>
          </a:p>
        </p:txBody>
      </p:sp>
      <p:sp>
        <p:nvSpPr>
          <p:cNvPr id="22" name="Ellipse 22"/>
          <p:cNvSpPr/>
          <p:nvPr/>
        </p:nvSpPr>
        <p:spPr>
          <a:xfrm>
            <a:off x="2200275" y="1876425"/>
            <a:ext cx="57150" cy="57150"/>
          </a:xfrm>
          <a:prstGeom prst="ellipse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47912" y="1821656"/>
            <a:ext cx="11844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SMED 换型改造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49818" y="20283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影响高 · 6 周</a:t>
            </a:r>
          </a:p>
        </p:txBody>
      </p:sp>
      <p:sp>
        <p:nvSpPr>
          <p:cNvPr id="25" name="Ellipse 25"/>
          <p:cNvSpPr/>
          <p:nvPr/>
        </p:nvSpPr>
        <p:spPr>
          <a:xfrm>
            <a:off x="2200275" y="2352675"/>
            <a:ext cx="57150" cy="57150"/>
          </a:xfrm>
          <a:prstGeom prst="ellipse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347912" y="22979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停机自动采集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49818" y="25045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影响高 · 投入低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66510" y="12801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重点投入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71272" y="1511141"/>
            <a:ext cx="4908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BIG BETS</a:t>
            </a:r>
          </a:p>
        </p:txBody>
      </p:sp>
      <p:sp>
        <p:nvSpPr>
          <p:cNvPr id="30" name="Ellipse 30"/>
          <p:cNvSpPr/>
          <p:nvPr/>
        </p:nvSpPr>
        <p:spPr>
          <a:xfrm>
            <a:off x="6391275" y="18764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538912" y="1821656"/>
            <a:ext cx="10895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MES 系统升级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0818" y="20283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影响高 · 12 周</a:t>
            </a:r>
          </a:p>
        </p:txBody>
      </p:sp>
      <p:sp>
        <p:nvSpPr>
          <p:cNvPr id="33" name="Ellipse 33"/>
          <p:cNvSpPr/>
          <p:nvPr/>
        </p:nvSpPr>
        <p:spPr>
          <a:xfrm>
            <a:off x="6391275" y="23526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38912" y="22979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产线节拍重排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40818" y="25045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影响高 · 投入大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75510" y="38519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顺手做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80272" y="4082891"/>
            <a:ext cx="4908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FILL-INS</a:t>
            </a:r>
          </a:p>
        </p:txBody>
      </p:sp>
      <p:sp>
        <p:nvSpPr>
          <p:cNvPr id="38" name="Ellipse 38"/>
          <p:cNvSpPr/>
          <p:nvPr/>
        </p:nvSpPr>
        <p:spPr>
          <a:xfrm>
            <a:off x="2200275" y="44481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347912" y="43934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点检表电子化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49818" y="46000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影响中 · 投入低</a:t>
            </a:r>
          </a:p>
        </p:txBody>
      </p:sp>
      <p:sp>
        <p:nvSpPr>
          <p:cNvPr id="41" name="Ellipse 41"/>
          <p:cNvSpPr/>
          <p:nvPr/>
        </p:nvSpPr>
        <p:spPr>
          <a:xfrm>
            <a:off x="2200275" y="49244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347912" y="48696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看板可视化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49818" y="50763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影响中 · 投入低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6510" y="38519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暂缓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71272" y="4082891"/>
            <a:ext cx="671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MONEY PITS</a:t>
            </a:r>
          </a:p>
        </p:txBody>
      </p:sp>
      <p:sp>
        <p:nvSpPr>
          <p:cNvPr id="46" name="Ellipse 46"/>
          <p:cNvSpPr/>
          <p:nvPr/>
        </p:nvSpPr>
        <p:spPr>
          <a:xfrm>
            <a:off x="6391275" y="44481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538912" y="439340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整线产线重构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40818" y="460009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影响中 · 投入巨</a:t>
            </a:r>
          </a:p>
        </p:txBody>
      </p:sp>
      <p:sp>
        <p:nvSpPr>
          <p:cNvPr id="49" name="Ellipse 49"/>
          <p:cNvSpPr/>
          <p:nvPr/>
        </p:nvSpPr>
        <p:spPr>
          <a:xfrm>
            <a:off x="6391275" y="492442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538912" y="4869656"/>
            <a:ext cx="11413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全厂 MES 替换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40818" y="50763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投入大 · 周期长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