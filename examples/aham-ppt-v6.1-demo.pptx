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jpg" ContentType="image/jpe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381000" y="571500"/>
            <a:ext cx="114300" cy="114300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2452" y="570071"/>
            <a:ext cx="674724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Aham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09662" y="602456"/>
            <a:ext cx="128137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· 运营改善咨询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35280" y="2659380"/>
            <a:ext cx="5003050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三条产线运营诊断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35280" y="3268980"/>
            <a:ext cx="4389098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与改善实施方案</a:t>
            </a:r>
          </a:p>
        </p:txBody>
      </p:sp>
      <p:sp>
        <p:nvSpPr>
          <p:cNvPr id="8" name="Rectangle 8"/>
          <p:cNvSpPr/>
          <p:nvPr/>
        </p:nvSpPr>
        <p:spPr>
          <a:xfrm>
            <a:off x="400050" y="3905250"/>
            <a:ext cx="1104900" cy="38100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61950" y="4200525"/>
            <a:ext cx="389469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综合效率</a:t>
            </a:r>
            <a:r>
              <a:rPr lang="zh-CN" sz="1500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71%</a:t>
            </a:r>
            <a:r>
              <a:rPr lang="zh-CN" sz="150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→</a:t>
            </a:r>
            <a:r>
              <a:rPr lang="zh-CN" sz="1500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85%</a:t>
            </a:r>
            <a:r>
              <a:rPr lang="zh-CN" sz="150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的 90 天改善路径</a:t>
            </a:r>
          </a:p>
        </p:txBody>
      </p:sp>
      <p:sp>
        <p:nvSpPr>
          <p:cNvPr id="10" name="Line 10"/>
          <p:cNvSpPr/>
          <p:nvPr/>
        </p:nvSpPr>
        <p:spPr>
          <a:xfrm>
            <a:off x="8153400" y="2724150"/>
            <a:ext cx="9525" cy="2038350"/>
          </a:xfrm>
          <a:custGeom>
            <a:avLst/>
            <a:gdLst/>
            <a:ahLst/>
            <a:cxnLst/>
            <a:rect l="l" t="t" r="r" b="b"/>
            <a:pathLst>
              <a:path w="9525" h="2038350">
                <a:moveTo>
                  <a:pt x="0" y="0"/>
                </a:moveTo>
                <a:lnTo>
                  <a:pt x="0" y="203835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8483918" y="2790349"/>
            <a:ext cx="11812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目录 CONTENTS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481060" y="3223260"/>
            <a:ext cx="24247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899208" y="3215164"/>
            <a:ext cx="187858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现状诊断与基准对标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81060" y="3623310"/>
            <a:ext cx="26518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899208" y="3615214"/>
            <a:ext cx="187858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停机与不良根因分析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481060" y="4023360"/>
            <a:ext cx="26518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899208" y="4015264"/>
            <a:ext cx="167345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改善方案选型对照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481060" y="4423410"/>
            <a:ext cx="26518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04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899208" y="4415314"/>
            <a:ext cx="198718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90 天实施与责任矩阵</a:t>
            </a:r>
          </a:p>
        </p:txBody>
      </p:sp>
      <p:sp>
        <p:nvSpPr>
          <p:cNvPr id="20" name="Line 20"/>
          <p:cNvSpPr/>
          <p:nvPr/>
        </p:nvSpPr>
        <p:spPr>
          <a:xfrm>
            <a:off x="381000" y="61722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368618" y="6390799"/>
            <a:ext cx="465078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受众：工厂管理层 · 日期：</a:t>
            </a:r>
            <a:r>
              <a:rPr lang="zh-CN" sz="97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2026-06-21</a:t>
            </a:r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· 编号：</a:t>
            </a:r>
            <a:r>
              <a:rPr lang="zh-CN" sz="97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OPS-2026-014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663643" y="6390799"/>
            <a:ext cx="11597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机密 · 仅限内部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70522" y="139541"/>
            <a:ext cx="181935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产线运营诊断 · 第一部分 现状</a:t>
            </a:r>
          </a:p>
        </p:txBody>
      </p:sp>
      <p:sp>
        <p:nvSpPr>
          <p:cNvPr id="4" name="Rectangle 4"/>
          <p:cNvSpPr/>
          <p:nvPr/>
        </p:nvSpPr>
        <p:spPr>
          <a:xfrm>
            <a:off x="11315700" y="152400"/>
            <a:ext cx="85725" cy="85725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1396288" y="131445"/>
            <a:ext cx="42614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Aham</a:t>
            </a:r>
          </a:p>
        </p:txBody>
      </p:sp>
      <p:sp>
        <p:nvSpPr>
          <p:cNvPr id="6" name="Line 6"/>
          <p:cNvSpPr/>
          <p:nvPr/>
        </p:nvSpPr>
        <p:spPr>
          <a:xfrm>
            <a:off x="381000" y="304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50520" y="483870"/>
            <a:ext cx="8182772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综合效率 71.2%，低于行业基准 14 个百分点</a:t>
            </a:r>
          </a:p>
        </p:txBody>
      </p:sp>
      <p:sp>
        <p:nvSpPr>
          <p:cNvPr id="8" name="Line 8"/>
          <p:cNvSpPr/>
          <p:nvPr/>
        </p:nvSpPr>
        <p:spPr>
          <a:xfrm>
            <a:off x="381000" y="8953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9" name="Line 9"/>
          <p:cNvSpPr/>
          <p:nvPr/>
        </p:nvSpPr>
        <p:spPr>
          <a:xfrm>
            <a:off x="381000" y="65722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370522" y="6664166"/>
            <a:ext cx="230604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来源：MES 系统 · 2026-Q1 现场测算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45066" y="6664166"/>
            <a:ext cx="47641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02 / 11</a:t>
            </a:r>
          </a:p>
        </p:txBody>
      </p:sp>
      <p:sp>
        <p:nvSpPr>
          <p:cNvPr id="12" name="Line 12"/>
          <p:cNvSpPr/>
          <p:nvPr/>
        </p:nvSpPr>
        <p:spPr>
          <a:xfrm>
            <a:off x="3009900" y="1143000"/>
            <a:ext cx="9525" cy="895350"/>
          </a:xfrm>
          <a:custGeom>
            <a:avLst/>
            <a:gdLst/>
            <a:ahLst/>
            <a:cxnLst/>
            <a:rect l="l" t="t" r="r" b="b"/>
            <a:pathLst>
              <a:path w="9525" h="895350">
                <a:moveTo>
                  <a:pt x="0" y="0"/>
                </a:moveTo>
                <a:lnTo>
                  <a:pt x="0" y="89535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3" name="Line 13"/>
          <p:cNvSpPr/>
          <p:nvPr/>
        </p:nvSpPr>
        <p:spPr>
          <a:xfrm>
            <a:off x="5867400" y="1143000"/>
            <a:ext cx="9525" cy="895350"/>
          </a:xfrm>
          <a:custGeom>
            <a:avLst/>
            <a:gdLst/>
            <a:ahLst/>
            <a:cxnLst/>
            <a:rect l="l" t="t" r="r" b="b"/>
            <a:pathLst>
              <a:path w="9525" h="895350">
                <a:moveTo>
                  <a:pt x="0" y="0"/>
                </a:moveTo>
                <a:lnTo>
                  <a:pt x="0" y="89535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4" name="Line 14"/>
          <p:cNvSpPr/>
          <p:nvPr/>
        </p:nvSpPr>
        <p:spPr>
          <a:xfrm>
            <a:off x="8724900" y="1143000"/>
            <a:ext cx="9525" cy="895350"/>
          </a:xfrm>
          <a:custGeom>
            <a:avLst/>
            <a:gdLst/>
            <a:ahLst/>
            <a:cxnLst/>
            <a:rect l="l" t="t" r="r" b="b"/>
            <a:pathLst>
              <a:path w="9525" h="895350">
                <a:moveTo>
                  <a:pt x="0" y="0"/>
                </a:moveTo>
                <a:lnTo>
                  <a:pt x="0" y="89535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366712" y="1212056"/>
            <a:ext cx="117490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综合效率 OEE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35280" y="1421130"/>
            <a:ext cx="1439725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71.2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33525" y="1647825"/>
            <a:ext cx="184793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%</a:t>
            </a:r>
          </a:p>
        </p:txBody>
      </p:sp>
      <p:sp>
        <p:nvSpPr>
          <p:cNvPr id="18" name="Ellipse 18"/>
          <p:cNvSpPr/>
          <p:nvPr/>
        </p:nvSpPr>
        <p:spPr>
          <a:xfrm>
            <a:off x="390525" y="1924050"/>
            <a:ext cx="76200" cy="76200"/>
          </a:xfrm>
          <a:prstGeom prst="ellipse">
            <a:avLst/>
          </a:prstGeom>
          <a:solidFill>
            <a:srgbClr val="9E3D31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548640" y="1886902"/>
            <a:ext cx="104689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同比 −3.1 pt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224212" y="1212056"/>
            <a:ext cx="93357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计划达成率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192780" y="1421130"/>
            <a:ext cx="1511955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86.4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391025" y="1647825"/>
            <a:ext cx="184793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%</a:t>
            </a:r>
          </a:p>
        </p:txBody>
      </p:sp>
      <p:sp>
        <p:nvSpPr>
          <p:cNvPr id="23" name="Ellipse 23"/>
          <p:cNvSpPr/>
          <p:nvPr/>
        </p:nvSpPr>
        <p:spPr>
          <a:xfrm>
            <a:off x="3248025" y="1924050"/>
            <a:ext cx="76200" cy="76200"/>
          </a:xfrm>
          <a:prstGeom prst="ellipse">
            <a:avLst/>
          </a:prstGeom>
          <a:solidFill>
            <a:srgbClr val="8A7333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3406140" y="1886902"/>
            <a:ext cx="104689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环比 −1.8 pt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081712" y="1212056"/>
            <a:ext cx="111457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平均停机时长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050280" y="1421130"/>
            <a:ext cx="1138769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4.7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981825" y="1647825"/>
            <a:ext cx="57281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h/日</a:t>
            </a:r>
          </a:p>
        </p:txBody>
      </p:sp>
      <p:sp>
        <p:nvSpPr>
          <p:cNvPr id="28" name="Ellipse 28"/>
          <p:cNvSpPr/>
          <p:nvPr/>
        </p:nvSpPr>
        <p:spPr>
          <a:xfrm>
            <a:off x="6105525" y="1924050"/>
            <a:ext cx="76200" cy="76200"/>
          </a:xfrm>
          <a:prstGeom prst="ellipse">
            <a:avLst/>
          </a:prstGeom>
          <a:solidFill>
            <a:srgbClr val="9E3D31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6263640" y="1886902"/>
            <a:ext cx="96408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环比 +0.9 h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939212" y="1212056"/>
            <a:ext cx="11394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一次良率 FPY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907780" y="1421130"/>
            <a:ext cx="1511955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93.5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106025" y="1647825"/>
            <a:ext cx="184793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%</a:t>
            </a:r>
          </a:p>
        </p:txBody>
      </p:sp>
      <p:sp>
        <p:nvSpPr>
          <p:cNvPr id="33" name="Ellipse 33"/>
          <p:cNvSpPr/>
          <p:nvPr/>
        </p:nvSpPr>
        <p:spPr>
          <a:xfrm>
            <a:off x="8963025" y="1924050"/>
            <a:ext cx="76200" cy="76200"/>
          </a:xfrm>
          <a:prstGeom prst="ellipse">
            <a:avLst/>
          </a:prstGeom>
          <a:solidFill>
            <a:srgbClr val="5A7A60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9121140" y="1886902"/>
            <a:ext cx="106676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环比 +0.4 pt</a:t>
            </a:r>
          </a:p>
        </p:txBody>
      </p:sp>
      <p:sp>
        <p:nvSpPr>
          <p:cNvPr id="35" name="Line 35"/>
          <p:cNvSpPr/>
          <p:nvPr/>
        </p:nvSpPr>
        <p:spPr>
          <a:xfrm>
            <a:off x="381000" y="2209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36" name="TextBox 36"/>
          <p:cNvSpPr txBox="1"/>
          <p:nvPr/>
        </p:nvSpPr>
        <p:spPr>
          <a:xfrm>
            <a:off x="361950" y="2447925"/>
            <a:ext cx="2084604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三条产线效率明细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610153" y="2504599"/>
            <a:ext cx="140272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基准 OEE 目标 85%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67665" y="2877502"/>
            <a:ext cx="38480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产线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2508889" y="2877502"/>
            <a:ext cx="74294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b="1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节拍达成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3645389" y="2877502"/>
            <a:ext cx="71134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b="1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停机(h)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4783458" y="2877502"/>
            <a:ext cx="56387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b="1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不良率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701665" y="2877502"/>
            <a:ext cx="38480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状态</a:t>
            </a:r>
          </a:p>
        </p:txBody>
      </p:sp>
      <p:sp>
        <p:nvSpPr>
          <p:cNvPr id="43" name="Line 43"/>
          <p:cNvSpPr/>
          <p:nvPr/>
        </p:nvSpPr>
        <p:spPr>
          <a:xfrm>
            <a:off x="381000" y="3105150"/>
            <a:ext cx="6286500" cy="9525"/>
          </a:xfrm>
          <a:custGeom>
            <a:avLst/>
            <a:gdLst/>
            <a:ahLst/>
            <a:cxnLst/>
            <a:rect l="l" t="t" r="r" b="b"/>
            <a:pathLst>
              <a:path w="6286500" h="9525">
                <a:moveTo>
                  <a:pt x="0" y="0"/>
                </a:moveTo>
                <a:lnTo>
                  <a:pt x="6286500" y="0"/>
                </a:lnTo>
              </a:path>
            </a:pathLst>
          </a:custGeom>
          <a:noFill/>
          <a:ln w="11430">
            <a:solidFill>
              <a:srgbClr val="E7E7E7"/>
            </a:solidFill>
          </a:ln>
        </p:spPr>
      </p:sp>
      <p:sp>
        <p:nvSpPr>
          <p:cNvPr id="44" name="TextBox 44"/>
          <p:cNvSpPr txBox="1"/>
          <p:nvPr/>
        </p:nvSpPr>
        <p:spPr>
          <a:xfrm>
            <a:off x="366712" y="3326606"/>
            <a:ext cx="7383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冲压线 A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2695409" y="3326606"/>
            <a:ext cx="5573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82.0%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4020348" y="3326606"/>
            <a:ext cx="33733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3.2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4922223" y="3326606"/>
            <a:ext cx="42606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2.1%</a:t>
            </a:r>
          </a:p>
        </p:txBody>
      </p:sp>
      <p:sp>
        <p:nvSpPr>
          <p:cNvPr id="48" name="Ellipse 48"/>
          <p:cNvSpPr/>
          <p:nvPr/>
        </p:nvSpPr>
        <p:spPr>
          <a:xfrm>
            <a:off x="5686425" y="3371850"/>
            <a:ext cx="76200" cy="76200"/>
          </a:xfrm>
          <a:prstGeom prst="ellipse">
            <a:avLst/>
          </a:prstGeom>
          <a:solidFill>
            <a:srgbClr val="8A7333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5844540" y="3334702"/>
            <a:ext cx="36453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预警</a:t>
            </a:r>
          </a:p>
        </p:txBody>
      </p:sp>
      <p:sp>
        <p:nvSpPr>
          <p:cNvPr id="50" name="Line 50"/>
          <p:cNvSpPr/>
          <p:nvPr/>
        </p:nvSpPr>
        <p:spPr>
          <a:xfrm>
            <a:off x="381000" y="3619500"/>
            <a:ext cx="6286500" cy="9525"/>
          </a:xfrm>
          <a:custGeom>
            <a:avLst/>
            <a:gdLst/>
            <a:ahLst/>
            <a:cxnLst/>
            <a:rect l="l" t="t" r="r" b="b"/>
            <a:pathLst>
              <a:path w="6286500" h="9525">
                <a:moveTo>
                  <a:pt x="0" y="0"/>
                </a:moveTo>
                <a:lnTo>
                  <a:pt x="62865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51" name="TextBox 51"/>
          <p:cNvSpPr txBox="1"/>
          <p:nvPr/>
        </p:nvSpPr>
        <p:spPr>
          <a:xfrm>
            <a:off x="366712" y="3840956"/>
            <a:ext cx="7383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焊装线 B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2695409" y="3840956"/>
            <a:ext cx="5573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68.4%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4020348" y="3840956"/>
            <a:ext cx="33733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5.9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4900929" y="3840956"/>
            <a:ext cx="44735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4.8%</a:t>
            </a:r>
          </a:p>
        </p:txBody>
      </p:sp>
      <p:sp>
        <p:nvSpPr>
          <p:cNvPr id="55" name="Ellipse 55"/>
          <p:cNvSpPr/>
          <p:nvPr/>
        </p:nvSpPr>
        <p:spPr>
          <a:xfrm>
            <a:off x="5686425" y="3886200"/>
            <a:ext cx="76200" cy="76200"/>
          </a:xfrm>
          <a:prstGeom prst="ellipse">
            <a:avLst/>
          </a:prstGeom>
          <a:solidFill>
            <a:srgbClr val="9E3D31"/>
          </a:solidFill>
          <a:ln>
            <a:noFill/>
          </a:ln>
        </p:spPr>
      </p:sp>
      <p:sp>
        <p:nvSpPr>
          <p:cNvPr id="56" name="TextBox 56"/>
          <p:cNvSpPr txBox="1"/>
          <p:nvPr/>
        </p:nvSpPr>
        <p:spPr>
          <a:xfrm>
            <a:off x="5844540" y="3849052"/>
            <a:ext cx="36453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风险</a:t>
            </a:r>
          </a:p>
        </p:txBody>
      </p:sp>
      <p:sp>
        <p:nvSpPr>
          <p:cNvPr id="57" name="Line 57"/>
          <p:cNvSpPr/>
          <p:nvPr/>
        </p:nvSpPr>
        <p:spPr>
          <a:xfrm>
            <a:off x="381000" y="4133850"/>
            <a:ext cx="6286500" cy="9525"/>
          </a:xfrm>
          <a:custGeom>
            <a:avLst/>
            <a:gdLst/>
            <a:ahLst/>
            <a:cxnLst/>
            <a:rect l="l" t="t" r="r" b="b"/>
            <a:pathLst>
              <a:path w="6286500" h="9525">
                <a:moveTo>
                  <a:pt x="0" y="0"/>
                </a:moveTo>
                <a:lnTo>
                  <a:pt x="62865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58" name="TextBox 58"/>
          <p:cNvSpPr txBox="1"/>
          <p:nvPr/>
        </p:nvSpPr>
        <p:spPr>
          <a:xfrm>
            <a:off x="366712" y="4355306"/>
            <a:ext cx="7383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总装线 C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2695409" y="4355306"/>
            <a:ext cx="5573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73.0%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4020348" y="4355306"/>
            <a:ext cx="33733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4.9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4900929" y="4355306"/>
            <a:ext cx="44735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3.0%</a:t>
            </a:r>
          </a:p>
        </p:txBody>
      </p:sp>
      <p:sp>
        <p:nvSpPr>
          <p:cNvPr id="62" name="Ellipse 62"/>
          <p:cNvSpPr/>
          <p:nvPr/>
        </p:nvSpPr>
        <p:spPr>
          <a:xfrm>
            <a:off x="5686425" y="4400550"/>
            <a:ext cx="76200" cy="76200"/>
          </a:xfrm>
          <a:prstGeom prst="ellipse">
            <a:avLst/>
          </a:prstGeom>
          <a:solidFill>
            <a:srgbClr val="8A7333"/>
          </a:solidFill>
          <a:ln>
            <a:noFill/>
          </a:ln>
        </p:spPr>
      </p:sp>
      <p:sp>
        <p:nvSpPr>
          <p:cNvPr id="63" name="TextBox 63"/>
          <p:cNvSpPr txBox="1"/>
          <p:nvPr/>
        </p:nvSpPr>
        <p:spPr>
          <a:xfrm>
            <a:off x="5844540" y="4363402"/>
            <a:ext cx="36453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预警</a:t>
            </a:r>
          </a:p>
        </p:txBody>
      </p:sp>
      <p:sp>
        <p:nvSpPr>
          <p:cNvPr id="64" name="Line 64"/>
          <p:cNvSpPr/>
          <p:nvPr/>
        </p:nvSpPr>
        <p:spPr>
          <a:xfrm>
            <a:off x="381000" y="4648200"/>
            <a:ext cx="6286500" cy="9525"/>
          </a:xfrm>
          <a:custGeom>
            <a:avLst/>
            <a:gdLst/>
            <a:ahLst/>
            <a:cxnLst/>
            <a:rect l="l" t="t" r="r" b="b"/>
            <a:pathLst>
              <a:path w="6286500" h="9525">
                <a:moveTo>
                  <a:pt x="0" y="0"/>
                </a:moveTo>
                <a:lnTo>
                  <a:pt x="62865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65" name="Line 65"/>
          <p:cNvSpPr/>
          <p:nvPr/>
        </p:nvSpPr>
        <p:spPr>
          <a:xfrm>
            <a:off x="381000" y="4667250"/>
            <a:ext cx="6286500" cy="9525"/>
          </a:xfrm>
          <a:custGeom>
            <a:avLst/>
            <a:gdLst/>
            <a:ahLst/>
            <a:cxnLst/>
            <a:rect l="l" t="t" r="r" b="b"/>
            <a:pathLst>
              <a:path w="6286500" h="9525">
                <a:moveTo>
                  <a:pt x="0" y="0"/>
                </a:moveTo>
                <a:lnTo>
                  <a:pt x="6286500" y="0"/>
                </a:lnTo>
              </a:path>
            </a:pathLst>
          </a:custGeom>
          <a:noFill/>
          <a:ln w="11430">
            <a:solidFill>
              <a:srgbClr val="C4C4C4"/>
            </a:solidFill>
          </a:ln>
        </p:spPr>
      </p:sp>
      <p:sp>
        <p:nvSpPr>
          <p:cNvPr id="66" name="TextBox 66"/>
          <p:cNvSpPr txBox="1"/>
          <p:nvPr/>
        </p:nvSpPr>
        <p:spPr>
          <a:xfrm>
            <a:off x="366712" y="5022056"/>
            <a:ext cx="10330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综合 / 均值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2686253" y="5022056"/>
            <a:ext cx="56653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71.2%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4001822" y="5022056"/>
            <a:ext cx="35586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4.7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4875802" y="5022056"/>
            <a:ext cx="47248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3.3%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5701665" y="5030152"/>
            <a:ext cx="12935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—</a:t>
            </a:r>
          </a:p>
        </p:txBody>
      </p:sp>
      <p:sp>
        <p:nvSpPr>
          <p:cNvPr id="71" name="Line 71"/>
          <p:cNvSpPr/>
          <p:nvPr/>
        </p:nvSpPr>
        <p:spPr>
          <a:xfrm>
            <a:off x="6934200" y="2438400"/>
            <a:ext cx="9525" cy="3733800"/>
          </a:xfrm>
          <a:custGeom>
            <a:avLst/>
            <a:gdLst/>
            <a:ahLst/>
            <a:cxnLst/>
            <a:rect l="l" t="t" r="r" b="b"/>
            <a:pathLst>
              <a:path w="9525" h="3733800">
                <a:moveTo>
                  <a:pt x="0" y="0"/>
                </a:moveTo>
                <a:lnTo>
                  <a:pt x="0" y="373380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72" name="TextBox 72"/>
          <p:cNvSpPr txBox="1"/>
          <p:nvPr/>
        </p:nvSpPr>
        <p:spPr>
          <a:xfrm>
            <a:off x="7181850" y="2447925"/>
            <a:ext cx="1061352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关键发现</a:t>
            </a:r>
          </a:p>
        </p:txBody>
      </p:sp>
      <p:sp>
        <p:nvSpPr>
          <p:cNvPr id="73" name="Ellipse 73"/>
          <p:cNvSpPr/>
          <p:nvPr/>
        </p:nvSpPr>
        <p:spPr>
          <a:xfrm>
            <a:off x="7210425" y="288607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74" name="TextBox 74"/>
          <p:cNvSpPr txBox="1"/>
          <p:nvPr/>
        </p:nvSpPr>
        <p:spPr>
          <a:xfrm>
            <a:off x="7377112" y="2831306"/>
            <a:ext cx="379408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焊装线 B 为主瓶颈：停机 5.9 h、不良 4.8%，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7377112" y="3059906"/>
            <a:ext cx="290327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单线拉低综合 OEE 约 6 个百分点。</a:t>
            </a:r>
          </a:p>
        </p:txBody>
      </p:sp>
      <p:sp>
        <p:nvSpPr>
          <p:cNvPr id="76" name="Ellipse 76"/>
          <p:cNvSpPr/>
          <p:nvPr/>
        </p:nvSpPr>
        <p:spPr>
          <a:xfrm>
            <a:off x="7210425" y="349567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77" name="TextBox 77"/>
          <p:cNvSpPr txBox="1"/>
          <p:nvPr/>
        </p:nvSpPr>
        <p:spPr>
          <a:xfrm>
            <a:off x="7377112" y="3440906"/>
            <a:ext cx="292457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非计划停机集中在换型与待料，二者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7377112" y="3669506"/>
            <a:ext cx="294941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合计占比 64%，是改善的第一抓手。</a:t>
            </a:r>
          </a:p>
        </p:txBody>
      </p:sp>
      <p:sp>
        <p:nvSpPr>
          <p:cNvPr id="79" name="Ellipse 79"/>
          <p:cNvSpPr/>
          <p:nvPr/>
        </p:nvSpPr>
        <p:spPr>
          <a:xfrm>
            <a:off x="7210425" y="410527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80" name="TextBox 80"/>
          <p:cNvSpPr txBox="1"/>
          <p:nvPr/>
        </p:nvSpPr>
        <p:spPr>
          <a:xfrm>
            <a:off x="7377112" y="4050506"/>
            <a:ext cx="296715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一次良率 93.5%，质量端稳定，重心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7377112" y="4279106"/>
            <a:ext cx="25625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应放在设备综合效率而非工艺。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7184708" y="5005864"/>
            <a:ext cx="241997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非计划停机构成 · Top 3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7187565" y="5296852"/>
            <a:ext cx="70240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换型等待</a:t>
            </a:r>
          </a:p>
        </p:txBody>
      </p:sp>
      <p:sp>
        <p:nvSpPr>
          <p:cNvPr id="84" name="Rectangle 84"/>
          <p:cNvSpPr/>
          <p:nvPr/>
        </p:nvSpPr>
        <p:spPr>
          <a:xfrm>
            <a:off x="8153400" y="5295900"/>
            <a:ext cx="2714625" cy="152400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85" name="TextBox 85"/>
          <p:cNvSpPr txBox="1"/>
          <p:nvPr/>
        </p:nvSpPr>
        <p:spPr>
          <a:xfrm>
            <a:off x="11489610" y="5296852"/>
            <a:ext cx="334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38%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7187565" y="5582602"/>
            <a:ext cx="70240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物料待料</a:t>
            </a:r>
          </a:p>
        </p:txBody>
      </p:sp>
      <p:sp>
        <p:nvSpPr>
          <p:cNvPr id="87" name="Rectangle 87"/>
          <p:cNvSpPr/>
          <p:nvPr/>
        </p:nvSpPr>
        <p:spPr>
          <a:xfrm>
            <a:off x="8153400" y="5581650"/>
            <a:ext cx="1857375" cy="152400"/>
          </a:xfrm>
          <a:prstGeom prst="rect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88" name="TextBox 88"/>
          <p:cNvSpPr txBox="1"/>
          <p:nvPr/>
        </p:nvSpPr>
        <p:spPr>
          <a:xfrm>
            <a:off x="11489610" y="5582602"/>
            <a:ext cx="334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26%</a:t>
            </a:r>
          </a:p>
        </p:txBody>
      </p:sp>
      <p:sp>
        <p:nvSpPr>
          <p:cNvPr id="89" name="TextBox 89"/>
          <p:cNvSpPr txBox="1"/>
          <p:nvPr/>
        </p:nvSpPr>
        <p:spPr>
          <a:xfrm>
            <a:off x="7187565" y="5868352"/>
            <a:ext cx="70240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设备故障</a:t>
            </a:r>
          </a:p>
        </p:txBody>
      </p:sp>
      <p:sp>
        <p:nvSpPr>
          <p:cNvPr id="90" name="Rectangle 90"/>
          <p:cNvSpPr/>
          <p:nvPr/>
        </p:nvSpPr>
        <p:spPr>
          <a:xfrm>
            <a:off x="8153400" y="5867400"/>
            <a:ext cx="1219200" cy="152400"/>
          </a:xfrm>
          <a:prstGeom prst="rect">
            <a:avLst/>
          </a:prstGeom>
          <a:solidFill>
            <a:srgbClr val="C8C8C8"/>
          </a:solidFill>
          <a:ln>
            <a:noFill/>
          </a:ln>
        </p:spPr>
      </p:sp>
      <p:sp>
        <p:nvSpPr>
          <p:cNvPr id="91" name="TextBox 91"/>
          <p:cNvSpPr txBox="1"/>
          <p:nvPr/>
        </p:nvSpPr>
        <p:spPr>
          <a:xfrm>
            <a:off x="11509485" y="5868352"/>
            <a:ext cx="3148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17%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70522" y="139541"/>
            <a:ext cx="155389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改善方案 · 第三部分 选型</a:t>
            </a:r>
          </a:p>
        </p:txBody>
      </p:sp>
      <p:sp>
        <p:nvSpPr>
          <p:cNvPr id="4" name="Rectangle 4"/>
          <p:cNvSpPr/>
          <p:nvPr/>
        </p:nvSpPr>
        <p:spPr>
          <a:xfrm>
            <a:off x="11315700" y="152400"/>
            <a:ext cx="85725" cy="85725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1396288" y="131445"/>
            <a:ext cx="42614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Aham</a:t>
            </a:r>
          </a:p>
        </p:txBody>
      </p:sp>
      <p:sp>
        <p:nvSpPr>
          <p:cNvPr id="6" name="Line 6"/>
          <p:cNvSpPr/>
          <p:nvPr/>
        </p:nvSpPr>
        <p:spPr>
          <a:xfrm>
            <a:off x="381000" y="304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50520" y="483870"/>
            <a:ext cx="8752583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方案 B 系统升级综合性价比最高，建议优先实施</a:t>
            </a:r>
          </a:p>
        </p:txBody>
      </p:sp>
      <p:sp>
        <p:nvSpPr>
          <p:cNvPr id="8" name="Line 8"/>
          <p:cNvSpPr/>
          <p:nvPr/>
        </p:nvSpPr>
        <p:spPr>
          <a:xfrm>
            <a:off x="381000" y="8953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9" name="Line 9"/>
          <p:cNvSpPr/>
          <p:nvPr/>
        </p:nvSpPr>
        <p:spPr>
          <a:xfrm>
            <a:off x="381000" y="65722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370522" y="6664166"/>
            <a:ext cx="220975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来源：方案投入产出测算 · 2026-06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45066" y="6664166"/>
            <a:ext cx="47641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03 / 11</a:t>
            </a:r>
          </a:p>
        </p:txBody>
      </p:sp>
      <p:sp>
        <p:nvSpPr>
          <p:cNvPr id="12" name="Rectangle 12"/>
          <p:cNvSpPr/>
          <p:nvPr/>
        </p:nvSpPr>
        <p:spPr>
          <a:xfrm>
            <a:off x="6229350" y="1428750"/>
            <a:ext cx="2857500" cy="430530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465696" y="1582102"/>
            <a:ext cx="38480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36EE8"/>
                </a:solidFill>
                <a:latin typeface="Inter"/>
                <a:ea typeface="Microsoft YaHei"/>
                <a:cs typeface="Inter"/>
              </a:rPr>
              <a:t>推荐</a:t>
            </a:r>
          </a:p>
        </p:txBody>
      </p:sp>
      <p:sp>
        <p:nvSpPr>
          <p:cNvPr id="14" name="Rectangle 14"/>
          <p:cNvSpPr/>
          <p:nvPr/>
        </p:nvSpPr>
        <p:spPr>
          <a:xfrm>
            <a:off x="7467600" y="1771650"/>
            <a:ext cx="381000" cy="19050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4369762" y="1876425"/>
            <a:ext cx="78547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方案 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411299" y="2153602"/>
            <a:ext cx="70240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快速改善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265362" y="1876425"/>
            <a:ext cx="78547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方案 B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306899" y="2153602"/>
            <a:ext cx="70240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系统升级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989512" y="1876425"/>
            <a:ext cx="78547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方案 C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031049" y="2153602"/>
            <a:ext cx="70240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产线重构</a:t>
            </a:r>
          </a:p>
        </p:txBody>
      </p:sp>
      <p:sp>
        <p:nvSpPr>
          <p:cNvPr id="21" name="Line 21"/>
          <p:cNvSpPr/>
          <p:nvPr/>
        </p:nvSpPr>
        <p:spPr>
          <a:xfrm>
            <a:off x="381000" y="24955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11430">
            <a:solidFill>
              <a:srgbClr val="E7E7E7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366712" y="2736056"/>
            <a:ext cx="75257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投入预算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464291" y="2736056"/>
            <a:ext cx="5964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¥80 万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284546" y="2736056"/>
            <a:ext cx="74710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¥260 万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029032" y="2736056"/>
            <a:ext cx="70643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¥720 万</a:t>
            </a:r>
          </a:p>
        </p:txBody>
      </p:sp>
      <p:sp>
        <p:nvSpPr>
          <p:cNvPr id="26" name="Line 26"/>
          <p:cNvSpPr/>
          <p:nvPr/>
        </p:nvSpPr>
        <p:spPr>
          <a:xfrm>
            <a:off x="381000" y="3067050"/>
            <a:ext cx="5848350" cy="9525"/>
          </a:xfrm>
          <a:custGeom>
            <a:avLst/>
            <a:gdLst/>
            <a:ahLst/>
            <a:cxnLst/>
            <a:rect l="l" t="t" r="r" b="b"/>
            <a:pathLst>
              <a:path w="5848350" h="9525">
                <a:moveTo>
                  <a:pt x="0" y="0"/>
                </a:moveTo>
                <a:lnTo>
                  <a:pt x="58483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27" name="Line 27"/>
          <p:cNvSpPr/>
          <p:nvPr/>
        </p:nvSpPr>
        <p:spPr>
          <a:xfrm>
            <a:off x="9086850" y="3067050"/>
            <a:ext cx="2724150" cy="9525"/>
          </a:xfrm>
          <a:custGeom>
            <a:avLst/>
            <a:gdLst/>
            <a:ahLst/>
            <a:cxnLst/>
            <a:rect l="l" t="t" r="r" b="b"/>
            <a:pathLst>
              <a:path w="2724150" h="9525">
                <a:moveTo>
                  <a:pt x="0" y="0"/>
                </a:moveTo>
                <a:lnTo>
                  <a:pt x="27241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366712" y="3231356"/>
            <a:ext cx="75257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实施周期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574311" y="3231356"/>
            <a:ext cx="3763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6 周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412452" y="3231356"/>
            <a:ext cx="49129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12 周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0139051" y="3231356"/>
            <a:ext cx="48639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28 周</a:t>
            </a:r>
          </a:p>
        </p:txBody>
      </p:sp>
      <p:sp>
        <p:nvSpPr>
          <p:cNvPr id="32" name="Line 32"/>
          <p:cNvSpPr/>
          <p:nvPr/>
        </p:nvSpPr>
        <p:spPr>
          <a:xfrm>
            <a:off x="381000" y="3562350"/>
            <a:ext cx="5848350" cy="9525"/>
          </a:xfrm>
          <a:custGeom>
            <a:avLst/>
            <a:gdLst/>
            <a:ahLst/>
            <a:cxnLst/>
            <a:rect l="l" t="t" r="r" b="b"/>
            <a:pathLst>
              <a:path w="5848350" h="9525">
                <a:moveTo>
                  <a:pt x="0" y="0"/>
                </a:moveTo>
                <a:lnTo>
                  <a:pt x="58483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33" name="Line 33"/>
          <p:cNvSpPr/>
          <p:nvPr/>
        </p:nvSpPr>
        <p:spPr>
          <a:xfrm>
            <a:off x="9086850" y="3562350"/>
            <a:ext cx="2724150" cy="9525"/>
          </a:xfrm>
          <a:custGeom>
            <a:avLst/>
            <a:gdLst/>
            <a:ahLst/>
            <a:cxnLst/>
            <a:rect l="l" t="t" r="r" b="b"/>
            <a:pathLst>
              <a:path w="2724150" h="9525">
                <a:moveTo>
                  <a:pt x="0" y="0"/>
                </a:moveTo>
                <a:lnTo>
                  <a:pt x="27241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34" name="TextBox 34"/>
          <p:cNvSpPr txBox="1"/>
          <p:nvPr/>
        </p:nvSpPr>
        <p:spPr>
          <a:xfrm>
            <a:off x="366712" y="3726656"/>
            <a:ext cx="123169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预期 OEE 提升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499781" y="3726656"/>
            <a:ext cx="52543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+4 pt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333451" y="3726656"/>
            <a:ext cx="64929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+12 pt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075169" y="3726656"/>
            <a:ext cx="6141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+18 pt</a:t>
            </a:r>
          </a:p>
        </p:txBody>
      </p:sp>
      <p:sp>
        <p:nvSpPr>
          <p:cNvPr id="38" name="Line 38"/>
          <p:cNvSpPr/>
          <p:nvPr/>
        </p:nvSpPr>
        <p:spPr>
          <a:xfrm>
            <a:off x="381000" y="4057650"/>
            <a:ext cx="5848350" cy="9525"/>
          </a:xfrm>
          <a:custGeom>
            <a:avLst/>
            <a:gdLst/>
            <a:ahLst/>
            <a:cxnLst/>
            <a:rect l="l" t="t" r="r" b="b"/>
            <a:pathLst>
              <a:path w="5848350" h="9525">
                <a:moveTo>
                  <a:pt x="0" y="0"/>
                </a:moveTo>
                <a:lnTo>
                  <a:pt x="58483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39" name="Line 39"/>
          <p:cNvSpPr/>
          <p:nvPr/>
        </p:nvSpPr>
        <p:spPr>
          <a:xfrm>
            <a:off x="9086850" y="4057650"/>
            <a:ext cx="2724150" cy="9525"/>
          </a:xfrm>
          <a:custGeom>
            <a:avLst/>
            <a:gdLst/>
            <a:ahLst/>
            <a:cxnLst/>
            <a:rect l="l" t="t" r="r" b="b"/>
            <a:pathLst>
              <a:path w="2724150" h="9525">
                <a:moveTo>
                  <a:pt x="0" y="0"/>
                </a:moveTo>
                <a:lnTo>
                  <a:pt x="27241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40" name="TextBox 40"/>
          <p:cNvSpPr txBox="1"/>
          <p:nvPr/>
        </p:nvSpPr>
        <p:spPr>
          <a:xfrm>
            <a:off x="366712" y="4221956"/>
            <a:ext cx="75257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实施风险</a:t>
            </a:r>
          </a:p>
        </p:txBody>
      </p:sp>
      <p:sp>
        <p:nvSpPr>
          <p:cNvPr id="41" name="Ellipse 41"/>
          <p:cNvSpPr/>
          <p:nvPr/>
        </p:nvSpPr>
        <p:spPr>
          <a:xfrm>
            <a:off x="4591050" y="4257675"/>
            <a:ext cx="76200" cy="76200"/>
          </a:xfrm>
          <a:prstGeom prst="ellipse">
            <a:avLst/>
          </a:prstGeom>
          <a:solidFill>
            <a:srgbClr val="5A7A60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4676763" y="4221956"/>
            <a:ext cx="20957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低</a:t>
            </a:r>
          </a:p>
        </p:txBody>
      </p:sp>
      <p:sp>
        <p:nvSpPr>
          <p:cNvPr id="43" name="Ellipse 43"/>
          <p:cNvSpPr/>
          <p:nvPr/>
        </p:nvSpPr>
        <p:spPr>
          <a:xfrm>
            <a:off x="7486650" y="4257675"/>
            <a:ext cx="76200" cy="76200"/>
          </a:xfrm>
          <a:prstGeom prst="ellipse">
            <a:avLst/>
          </a:prstGeom>
          <a:solidFill>
            <a:srgbClr val="8A7333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7572363" y="4221956"/>
            <a:ext cx="20957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中</a:t>
            </a:r>
          </a:p>
        </p:txBody>
      </p:sp>
      <p:sp>
        <p:nvSpPr>
          <p:cNvPr id="45" name="Ellipse 45"/>
          <p:cNvSpPr/>
          <p:nvPr/>
        </p:nvSpPr>
        <p:spPr>
          <a:xfrm>
            <a:off x="10210800" y="4257675"/>
            <a:ext cx="76200" cy="76200"/>
          </a:xfrm>
          <a:prstGeom prst="ellipse">
            <a:avLst/>
          </a:prstGeom>
          <a:solidFill>
            <a:srgbClr val="9E3D31"/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10296513" y="4221956"/>
            <a:ext cx="20957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高</a:t>
            </a:r>
          </a:p>
        </p:txBody>
      </p:sp>
      <p:sp>
        <p:nvSpPr>
          <p:cNvPr id="47" name="Line 47"/>
          <p:cNvSpPr/>
          <p:nvPr/>
        </p:nvSpPr>
        <p:spPr>
          <a:xfrm>
            <a:off x="381000" y="4552950"/>
            <a:ext cx="5848350" cy="9525"/>
          </a:xfrm>
          <a:custGeom>
            <a:avLst/>
            <a:gdLst/>
            <a:ahLst/>
            <a:cxnLst/>
            <a:rect l="l" t="t" r="r" b="b"/>
            <a:pathLst>
              <a:path w="5848350" h="9525">
                <a:moveTo>
                  <a:pt x="0" y="0"/>
                </a:moveTo>
                <a:lnTo>
                  <a:pt x="58483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48" name="Line 48"/>
          <p:cNvSpPr/>
          <p:nvPr/>
        </p:nvSpPr>
        <p:spPr>
          <a:xfrm>
            <a:off x="9086850" y="4552950"/>
            <a:ext cx="2724150" cy="9525"/>
          </a:xfrm>
          <a:custGeom>
            <a:avLst/>
            <a:gdLst/>
            <a:ahLst/>
            <a:cxnLst/>
            <a:rect l="l" t="t" r="r" b="b"/>
            <a:pathLst>
              <a:path w="2724150" h="9525">
                <a:moveTo>
                  <a:pt x="0" y="0"/>
                </a:moveTo>
                <a:lnTo>
                  <a:pt x="27241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49" name="TextBox 49"/>
          <p:cNvSpPr txBox="1"/>
          <p:nvPr/>
        </p:nvSpPr>
        <p:spPr>
          <a:xfrm>
            <a:off x="366712" y="4717256"/>
            <a:ext cx="75257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产线停产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4476713" y="4717256"/>
            <a:ext cx="57157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不停产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7260093" y="4717256"/>
            <a:ext cx="79601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周末窗口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9984669" y="4717256"/>
            <a:ext cx="7951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停产 4 周</a:t>
            </a:r>
          </a:p>
        </p:txBody>
      </p:sp>
      <p:sp>
        <p:nvSpPr>
          <p:cNvPr id="53" name="Line 53"/>
          <p:cNvSpPr/>
          <p:nvPr/>
        </p:nvSpPr>
        <p:spPr>
          <a:xfrm>
            <a:off x="381000" y="5048250"/>
            <a:ext cx="5848350" cy="9525"/>
          </a:xfrm>
          <a:custGeom>
            <a:avLst/>
            <a:gdLst/>
            <a:ahLst/>
            <a:cxnLst/>
            <a:rect l="l" t="t" r="r" b="b"/>
            <a:pathLst>
              <a:path w="5848350" h="9525">
                <a:moveTo>
                  <a:pt x="0" y="0"/>
                </a:moveTo>
                <a:lnTo>
                  <a:pt x="58483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54" name="Line 54"/>
          <p:cNvSpPr/>
          <p:nvPr/>
        </p:nvSpPr>
        <p:spPr>
          <a:xfrm>
            <a:off x="9086850" y="5048250"/>
            <a:ext cx="2724150" cy="9525"/>
          </a:xfrm>
          <a:custGeom>
            <a:avLst/>
            <a:gdLst/>
            <a:ahLst/>
            <a:cxnLst/>
            <a:rect l="l" t="t" r="r" b="b"/>
            <a:pathLst>
              <a:path w="2724150" h="9525">
                <a:moveTo>
                  <a:pt x="0" y="0"/>
                </a:moveTo>
                <a:lnTo>
                  <a:pt x="27241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55" name="TextBox 55"/>
          <p:cNvSpPr txBox="1"/>
          <p:nvPr/>
        </p:nvSpPr>
        <p:spPr>
          <a:xfrm>
            <a:off x="366712" y="5212556"/>
            <a:ext cx="93357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方案可逆性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4657713" y="5212556"/>
            <a:ext cx="20957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高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7547883" y="5212556"/>
            <a:ext cx="22043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中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10277463" y="5212556"/>
            <a:ext cx="20957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低</a:t>
            </a:r>
          </a:p>
        </p:txBody>
      </p:sp>
      <p:sp>
        <p:nvSpPr>
          <p:cNvPr id="59" name="Line 59"/>
          <p:cNvSpPr/>
          <p:nvPr/>
        </p:nvSpPr>
        <p:spPr>
          <a:xfrm>
            <a:off x="381000" y="56197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11430">
            <a:solidFill>
              <a:srgbClr val="C4C4C4"/>
            </a:solidFill>
          </a:ln>
        </p:spPr>
      </p:sp>
      <p:sp>
        <p:nvSpPr>
          <p:cNvPr id="60" name="Ellipse 60"/>
          <p:cNvSpPr/>
          <p:nvPr/>
        </p:nvSpPr>
        <p:spPr>
          <a:xfrm>
            <a:off x="390525" y="5886450"/>
            <a:ext cx="57150" cy="57150"/>
          </a:xfrm>
          <a:prstGeom prst="ellipse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61" name="TextBox 61"/>
          <p:cNvSpPr txBox="1"/>
          <p:nvPr/>
        </p:nvSpPr>
        <p:spPr>
          <a:xfrm>
            <a:off x="557212" y="5850731"/>
            <a:ext cx="606899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以中等投入、</a:t>
            </a:r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12</a:t>
            </a:r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周换取</a:t>
            </a:r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+12</a:t>
            </a:r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个百分点 OEE，并保留向方案 C 升级的可逆性。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70522" y="139541"/>
            <a:ext cx="155389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根因分析 · 第二部分 证据</a:t>
            </a:r>
          </a:p>
        </p:txBody>
      </p:sp>
      <p:sp>
        <p:nvSpPr>
          <p:cNvPr id="4" name="Rectangle 4"/>
          <p:cNvSpPr/>
          <p:nvPr/>
        </p:nvSpPr>
        <p:spPr>
          <a:xfrm>
            <a:off x="11315700" y="152400"/>
            <a:ext cx="85725" cy="85725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1396288" y="131445"/>
            <a:ext cx="42614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Aham</a:t>
            </a:r>
          </a:p>
        </p:txBody>
      </p:sp>
      <p:sp>
        <p:nvSpPr>
          <p:cNvPr id="6" name="Line 6"/>
          <p:cNvSpPr/>
          <p:nvPr/>
        </p:nvSpPr>
        <p:spPr>
          <a:xfrm>
            <a:off x="381000" y="304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50520" y="483870"/>
            <a:ext cx="9354496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OEE 连续 8 个月低于 75%，自然爬坡无法收敛缺口</a:t>
            </a:r>
          </a:p>
        </p:txBody>
      </p:sp>
      <p:sp>
        <p:nvSpPr>
          <p:cNvPr id="8" name="Line 8"/>
          <p:cNvSpPr/>
          <p:nvPr/>
        </p:nvSpPr>
        <p:spPr>
          <a:xfrm>
            <a:off x="381000" y="8953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9" name="Line 9"/>
          <p:cNvSpPr/>
          <p:nvPr/>
        </p:nvSpPr>
        <p:spPr>
          <a:xfrm>
            <a:off x="381000" y="65722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370522" y="6664166"/>
            <a:ext cx="266000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来源：MES OEE 月报 2025-11 至 2026-06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45066" y="6664166"/>
            <a:ext cx="47641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04 / 11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34415" y="1201102"/>
            <a:ext cx="187499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月度综合效率 OEE（%）</a:t>
            </a:r>
          </a:p>
        </p:txBody>
      </p:sp>
      <p:sp>
        <p:nvSpPr>
          <p:cNvPr id="13" name="Line 13"/>
          <p:cNvSpPr/>
          <p:nvPr/>
        </p:nvSpPr>
        <p:spPr>
          <a:xfrm>
            <a:off x="1047750" y="5334000"/>
            <a:ext cx="5810250" cy="9525"/>
          </a:xfrm>
          <a:custGeom>
            <a:avLst/>
            <a:gdLst/>
            <a:ahLst/>
            <a:cxnLst/>
            <a:rect l="l" t="t" r="r" b="b"/>
            <a:pathLst>
              <a:path w="5810250" h="9525">
                <a:moveTo>
                  <a:pt x="0" y="0"/>
                </a:moveTo>
                <a:lnTo>
                  <a:pt x="5810250" y="0"/>
                </a:lnTo>
              </a:path>
            </a:pathLst>
          </a:custGeom>
          <a:noFill/>
          <a:ln w="9525">
            <a:solidFill>
              <a:srgbClr val="F3F3F3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745989" y="5274945"/>
            <a:ext cx="19889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60</a:t>
            </a:r>
          </a:p>
        </p:txBody>
      </p:sp>
      <p:sp>
        <p:nvSpPr>
          <p:cNvPr id="15" name="Line 15"/>
          <p:cNvSpPr/>
          <p:nvPr/>
        </p:nvSpPr>
        <p:spPr>
          <a:xfrm>
            <a:off x="1047750" y="4127500"/>
            <a:ext cx="5810250" cy="9525"/>
          </a:xfrm>
          <a:custGeom>
            <a:avLst/>
            <a:gdLst/>
            <a:ahLst/>
            <a:cxnLst/>
            <a:rect l="l" t="t" r="r" b="b"/>
            <a:pathLst>
              <a:path w="5810250" h="9525">
                <a:moveTo>
                  <a:pt x="0" y="0"/>
                </a:moveTo>
                <a:lnTo>
                  <a:pt x="5810250" y="0"/>
                </a:lnTo>
              </a:path>
            </a:pathLst>
          </a:custGeom>
          <a:noFill/>
          <a:ln w="9525">
            <a:solidFill>
              <a:srgbClr val="F3F3F3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745989" y="4068445"/>
            <a:ext cx="19889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70</a:t>
            </a:r>
          </a:p>
        </p:txBody>
      </p:sp>
      <p:sp>
        <p:nvSpPr>
          <p:cNvPr id="17" name="Line 17"/>
          <p:cNvSpPr/>
          <p:nvPr/>
        </p:nvSpPr>
        <p:spPr>
          <a:xfrm>
            <a:off x="1047750" y="2921000"/>
            <a:ext cx="5810250" cy="9525"/>
          </a:xfrm>
          <a:custGeom>
            <a:avLst/>
            <a:gdLst/>
            <a:ahLst/>
            <a:cxnLst/>
            <a:rect l="l" t="t" r="r" b="b"/>
            <a:pathLst>
              <a:path w="5810250" h="9525">
                <a:moveTo>
                  <a:pt x="0" y="0"/>
                </a:moveTo>
                <a:lnTo>
                  <a:pt x="5810250" y="0"/>
                </a:lnTo>
              </a:path>
            </a:pathLst>
          </a:custGeom>
          <a:noFill/>
          <a:ln w="9525">
            <a:solidFill>
              <a:srgbClr val="F3F3F3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745989" y="2861945"/>
            <a:ext cx="19889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80</a:t>
            </a:r>
          </a:p>
        </p:txBody>
      </p:sp>
      <p:sp>
        <p:nvSpPr>
          <p:cNvPr id="19" name="Line 19"/>
          <p:cNvSpPr/>
          <p:nvPr/>
        </p:nvSpPr>
        <p:spPr>
          <a:xfrm>
            <a:off x="1047750" y="1714500"/>
            <a:ext cx="5810250" cy="9525"/>
          </a:xfrm>
          <a:custGeom>
            <a:avLst/>
            <a:gdLst/>
            <a:ahLst/>
            <a:cxnLst/>
            <a:rect l="l" t="t" r="r" b="b"/>
            <a:pathLst>
              <a:path w="5810250" h="9525">
                <a:moveTo>
                  <a:pt x="0" y="0"/>
                </a:moveTo>
                <a:lnTo>
                  <a:pt x="5810250" y="0"/>
                </a:lnTo>
              </a:path>
            </a:pathLst>
          </a:custGeom>
          <a:noFill/>
          <a:ln w="9525">
            <a:solidFill>
              <a:srgbClr val="F3F3F3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745989" y="1655445"/>
            <a:ext cx="19889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90</a:t>
            </a:r>
          </a:p>
        </p:txBody>
      </p:sp>
      <p:sp>
        <p:nvSpPr>
          <p:cNvPr id="21" name="Line 21"/>
          <p:cNvSpPr/>
          <p:nvPr/>
        </p:nvSpPr>
        <p:spPr>
          <a:xfrm>
            <a:off x="1047750" y="1676400"/>
            <a:ext cx="9525" cy="3657600"/>
          </a:xfrm>
          <a:custGeom>
            <a:avLst/>
            <a:gdLst/>
            <a:ahLst/>
            <a:cxnLst/>
            <a:rect l="l" t="t" r="r" b="b"/>
            <a:pathLst>
              <a:path w="9525" h="3657600">
                <a:moveTo>
                  <a:pt x="0" y="0"/>
                </a:moveTo>
                <a:lnTo>
                  <a:pt x="0" y="365760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22" name="Line 22"/>
          <p:cNvSpPr/>
          <p:nvPr/>
        </p:nvSpPr>
        <p:spPr>
          <a:xfrm>
            <a:off x="1047750" y="5334000"/>
            <a:ext cx="5810250" cy="9525"/>
          </a:xfrm>
          <a:custGeom>
            <a:avLst/>
            <a:gdLst/>
            <a:ahLst/>
            <a:cxnLst/>
            <a:rect l="l" t="t" r="r" b="b"/>
            <a:pathLst>
              <a:path w="5810250" h="9525">
                <a:moveTo>
                  <a:pt x="0" y="0"/>
                </a:moveTo>
                <a:lnTo>
                  <a:pt x="581025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23" name="Line 23"/>
          <p:cNvSpPr/>
          <p:nvPr/>
        </p:nvSpPr>
        <p:spPr>
          <a:xfrm>
            <a:off x="1047750" y="2317750"/>
            <a:ext cx="5810250" cy="9525"/>
          </a:xfrm>
          <a:custGeom>
            <a:avLst/>
            <a:gdLst/>
            <a:ahLst/>
            <a:cxnLst/>
            <a:rect l="l" t="t" r="r" b="b"/>
            <a:pathLst>
              <a:path w="5810250" h="9525">
                <a:moveTo>
                  <a:pt x="0" y="0"/>
                </a:moveTo>
                <a:lnTo>
                  <a:pt x="5810250" y="0"/>
                </a:lnTo>
              </a:path>
            </a:pathLst>
          </a:custGeom>
          <a:noFill/>
          <a:ln w="9525">
            <a:solidFill>
              <a:srgbClr val="9B9B9B"/>
            </a:solidFill>
            <a:custDash>
              <a:ds d="500000" sp="400000"/>
            </a:custDash>
          </a:ln>
        </p:spPr>
      </p:sp>
      <p:sp>
        <p:nvSpPr>
          <p:cNvPr id="24" name="TextBox 24"/>
          <p:cNvSpPr txBox="1"/>
          <p:nvPr/>
        </p:nvSpPr>
        <p:spPr>
          <a:xfrm>
            <a:off x="1093470" y="2153920"/>
            <a:ext cx="91153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行业基准 85%</a:t>
            </a:r>
          </a:p>
        </p:txBody>
      </p:sp>
      <p:sp>
        <p:nvSpPr>
          <p:cNvPr id="25" name="Rectangle 25"/>
          <p:cNvSpPr/>
          <p:nvPr/>
        </p:nvSpPr>
        <p:spPr>
          <a:xfrm>
            <a:off x="1362075" y="3765550"/>
            <a:ext cx="419100" cy="1568450"/>
          </a:xfrm>
          <a:prstGeom prst="rect">
            <a:avLst/>
          </a:prstGeom>
          <a:solidFill>
            <a:srgbClr val="C8C8C8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1472179" y="3592195"/>
            <a:ext cx="19889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73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416815" y="5446395"/>
            <a:ext cx="30962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11月</a:t>
            </a:r>
          </a:p>
        </p:txBody>
      </p:sp>
      <p:sp>
        <p:nvSpPr>
          <p:cNvPr id="28" name="Rectangle 28"/>
          <p:cNvSpPr/>
          <p:nvPr/>
        </p:nvSpPr>
        <p:spPr>
          <a:xfrm>
            <a:off x="2028825" y="3886200"/>
            <a:ext cx="419100" cy="1447800"/>
          </a:xfrm>
          <a:prstGeom prst="rect">
            <a:avLst/>
          </a:prstGeom>
          <a:solidFill>
            <a:srgbClr val="C8C8C8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2138929" y="3712845"/>
            <a:ext cx="19889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72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075047" y="5446395"/>
            <a:ext cx="32665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12月</a:t>
            </a:r>
          </a:p>
        </p:txBody>
      </p:sp>
      <p:sp>
        <p:nvSpPr>
          <p:cNvPr id="31" name="Rectangle 31"/>
          <p:cNvSpPr/>
          <p:nvPr/>
        </p:nvSpPr>
        <p:spPr>
          <a:xfrm>
            <a:off x="2695575" y="4127500"/>
            <a:ext cx="419100" cy="1206500"/>
          </a:xfrm>
          <a:prstGeom prst="rect">
            <a:avLst/>
          </a:prstGeom>
          <a:solidFill>
            <a:srgbClr val="C8C8C8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2805679" y="3954145"/>
            <a:ext cx="19889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70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785805" y="5446395"/>
            <a:ext cx="2386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1月</a:t>
            </a:r>
          </a:p>
        </p:txBody>
      </p:sp>
      <p:sp>
        <p:nvSpPr>
          <p:cNvPr id="34" name="Rectangle 34"/>
          <p:cNvSpPr/>
          <p:nvPr/>
        </p:nvSpPr>
        <p:spPr>
          <a:xfrm>
            <a:off x="3362325" y="4248150"/>
            <a:ext cx="419100" cy="1085850"/>
          </a:xfrm>
          <a:prstGeom prst="rect">
            <a:avLst/>
          </a:prstGeom>
          <a:solidFill>
            <a:srgbClr val="C8C8C8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3472429" y="4074795"/>
            <a:ext cx="19889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69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444037" y="5446395"/>
            <a:ext cx="25567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2月</a:t>
            </a:r>
          </a:p>
        </p:txBody>
      </p:sp>
      <p:sp>
        <p:nvSpPr>
          <p:cNvPr id="37" name="Rectangle 37"/>
          <p:cNvSpPr/>
          <p:nvPr/>
        </p:nvSpPr>
        <p:spPr>
          <a:xfrm>
            <a:off x="4029075" y="4006850"/>
            <a:ext cx="419100" cy="1327150"/>
          </a:xfrm>
          <a:prstGeom prst="rect">
            <a:avLst/>
          </a:prstGeom>
          <a:solidFill>
            <a:srgbClr val="C8C8C8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4147697" y="3833495"/>
            <a:ext cx="18185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71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110787" y="5446395"/>
            <a:ext cx="25567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3月</a:t>
            </a:r>
          </a:p>
        </p:txBody>
      </p:sp>
      <p:sp>
        <p:nvSpPr>
          <p:cNvPr id="40" name="Rectangle 40"/>
          <p:cNvSpPr/>
          <p:nvPr/>
        </p:nvSpPr>
        <p:spPr>
          <a:xfrm>
            <a:off x="4695825" y="4127500"/>
            <a:ext cx="419100" cy="1206500"/>
          </a:xfrm>
          <a:prstGeom prst="rect">
            <a:avLst/>
          </a:prstGeom>
          <a:solidFill>
            <a:srgbClr val="C8C8C8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4805929" y="3954145"/>
            <a:ext cx="19889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70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777537" y="5446395"/>
            <a:ext cx="25567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4月</a:t>
            </a:r>
          </a:p>
        </p:txBody>
      </p:sp>
      <p:sp>
        <p:nvSpPr>
          <p:cNvPr id="43" name="Rectangle 43"/>
          <p:cNvSpPr/>
          <p:nvPr/>
        </p:nvSpPr>
        <p:spPr>
          <a:xfrm>
            <a:off x="5362575" y="4006850"/>
            <a:ext cx="419100" cy="1327150"/>
          </a:xfrm>
          <a:prstGeom prst="rect">
            <a:avLst/>
          </a:prstGeom>
          <a:solidFill>
            <a:srgbClr val="C8C8C8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5481197" y="3833495"/>
            <a:ext cx="18185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71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444287" y="5446395"/>
            <a:ext cx="25567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5月</a:t>
            </a:r>
          </a:p>
        </p:txBody>
      </p:sp>
      <p:sp>
        <p:nvSpPr>
          <p:cNvPr id="46" name="Rectangle 46"/>
          <p:cNvSpPr/>
          <p:nvPr/>
        </p:nvSpPr>
        <p:spPr>
          <a:xfrm>
            <a:off x="6029325" y="3982720"/>
            <a:ext cx="419100" cy="1351280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6058909" y="3809365"/>
            <a:ext cx="35993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36EE8"/>
                </a:solidFill>
                <a:latin typeface="JetBrains Mono"/>
                <a:ea typeface="Microsoft YaHei"/>
                <a:cs typeface="JetBrains Mono"/>
              </a:rPr>
              <a:t>71.2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111037" y="5446395"/>
            <a:ext cx="25567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6月</a:t>
            </a:r>
          </a:p>
        </p:txBody>
      </p:sp>
      <p:sp>
        <p:nvSpPr>
          <p:cNvPr id="49" name="Line 49"/>
          <p:cNvSpPr/>
          <p:nvPr/>
        </p:nvSpPr>
        <p:spPr>
          <a:xfrm>
            <a:off x="7124700" y="1428750"/>
            <a:ext cx="9525" cy="4591050"/>
          </a:xfrm>
          <a:custGeom>
            <a:avLst/>
            <a:gdLst/>
            <a:ahLst/>
            <a:cxnLst/>
            <a:rect l="l" t="t" r="r" b="b"/>
            <a:pathLst>
              <a:path w="9525" h="4591050">
                <a:moveTo>
                  <a:pt x="0" y="0"/>
                </a:moveTo>
                <a:lnTo>
                  <a:pt x="0" y="459105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50" name="TextBox 50"/>
          <p:cNvSpPr txBox="1"/>
          <p:nvPr/>
        </p:nvSpPr>
        <p:spPr>
          <a:xfrm>
            <a:off x="7410450" y="1438275"/>
            <a:ext cx="1061352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趋势研判</a:t>
            </a:r>
          </a:p>
        </p:txBody>
      </p:sp>
      <p:sp>
        <p:nvSpPr>
          <p:cNvPr id="51" name="Ellipse 51"/>
          <p:cNvSpPr/>
          <p:nvPr/>
        </p:nvSpPr>
        <p:spPr>
          <a:xfrm>
            <a:off x="7439025" y="1885950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52" name="TextBox 52"/>
          <p:cNvSpPr txBox="1"/>
          <p:nvPr/>
        </p:nvSpPr>
        <p:spPr>
          <a:xfrm>
            <a:off x="7605712" y="1831181"/>
            <a:ext cx="265484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近 8 个月在 69–73% 区间震荡，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7605712" y="2059781"/>
            <a:ext cx="25625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无趋势性改善，长期低于基准。</a:t>
            </a:r>
          </a:p>
        </p:txBody>
      </p:sp>
      <p:sp>
        <p:nvSpPr>
          <p:cNvPr id="54" name="Ellipse 54"/>
          <p:cNvSpPr/>
          <p:nvPr/>
        </p:nvSpPr>
        <p:spPr>
          <a:xfrm>
            <a:off x="7439025" y="2571750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55" name="TextBox 55"/>
          <p:cNvSpPr txBox="1"/>
          <p:nvPr/>
        </p:nvSpPr>
        <p:spPr>
          <a:xfrm>
            <a:off x="7605712" y="2516981"/>
            <a:ext cx="244190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波谷集中在 1–2 月，换型批次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7605712" y="2745581"/>
            <a:ext cx="23815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增多，与换型停机高度相关。</a:t>
            </a:r>
          </a:p>
        </p:txBody>
      </p:sp>
      <p:sp>
        <p:nvSpPr>
          <p:cNvPr id="57" name="Ellipse 57"/>
          <p:cNvSpPr/>
          <p:nvPr/>
        </p:nvSpPr>
        <p:spPr>
          <a:xfrm>
            <a:off x="7439025" y="3257550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58" name="TextBox 58"/>
          <p:cNvSpPr txBox="1"/>
          <p:nvPr/>
        </p:nvSpPr>
        <p:spPr>
          <a:xfrm>
            <a:off x="7605712" y="3202781"/>
            <a:ext cx="233188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缺口约 14 个百分点，靠自然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7605712" y="3431381"/>
            <a:ext cx="25625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爬坡无法收敛，需结构性介入。</a:t>
            </a:r>
          </a:p>
        </p:txBody>
      </p:sp>
      <p:sp>
        <p:nvSpPr>
          <p:cNvPr id="60" name="Line 60"/>
          <p:cNvSpPr/>
          <p:nvPr/>
        </p:nvSpPr>
        <p:spPr>
          <a:xfrm>
            <a:off x="7315200" y="4000500"/>
            <a:ext cx="4495800" cy="9525"/>
          </a:xfrm>
          <a:custGeom>
            <a:avLst/>
            <a:gdLst/>
            <a:ahLst/>
            <a:cxnLst/>
            <a:rect l="l" t="t" r="r" b="b"/>
            <a:pathLst>
              <a:path w="4495800" h="9525">
                <a:moveTo>
                  <a:pt x="0" y="0"/>
                </a:moveTo>
                <a:lnTo>
                  <a:pt x="44958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61" name="TextBox 61"/>
          <p:cNvSpPr txBox="1"/>
          <p:nvPr/>
        </p:nvSpPr>
        <p:spPr>
          <a:xfrm>
            <a:off x="7301865" y="4287202"/>
            <a:ext cx="141788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改善后 6 个月目标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7267575" y="4567238"/>
            <a:ext cx="165019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750" b="1" dirty="0">
                <a:solidFill>
                  <a:srgbClr val="336EE8"/>
                </a:solidFill>
                <a:latin typeface="JetBrains Mono"/>
                <a:ea typeface="Microsoft YaHei"/>
                <a:cs typeface="JetBrains Mono"/>
              </a:rPr>
              <a:t>85%+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300912" y="5174456"/>
            <a:ext cx="2480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约 +14 pt，回到行业基准水平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70522" y="139541"/>
            <a:ext cx="155389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实施路径 · 第四部分 落地</a:t>
            </a:r>
          </a:p>
        </p:txBody>
      </p:sp>
      <p:sp>
        <p:nvSpPr>
          <p:cNvPr id="4" name="Rectangle 4"/>
          <p:cNvSpPr/>
          <p:nvPr/>
        </p:nvSpPr>
        <p:spPr>
          <a:xfrm>
            <a:off x="11315700" y="152400"/>
            <a:ext cx="85725" cy="85725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1396288" y="131445"/>
            <a:ext cx="42614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Aham</a:t>
            </a:r>
          </a:p>
        </p:txBody>
      </p:sp>
      <p:sp>
        <p:nvSpPr>
          <p:cNvPr id="6" name="Line 6"/>
          <p:cNvSpPr/>
          <p:nvPr/>
        </p:nvSpPr>
        <p:spPr>
          <a:xfrm>
            <a:off x="381000" y="304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50520" y="483870"/>
            <a:ext cx="9282266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90 天三阶段推进：先治瓶颈、再稳系统、后固标准</a:t>
            </a:r>
          </a:p>
        </p:txBody>
      </p:sp>
      <p:sp>
        <p:nvSpPr>
          <p:cNvPr id="8" name="Line 8"/>
          <p:cNvSpPr/>
          <p:nvPr/>
        </p:nvSpPr>
        <p:spPr>
          <a:xfrm>
            <a:off x="381000" y="8953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9" name="Line 9"/>
          <p:cNvSpPr/>
          <p:nvPr/>
        </p:nvSpPr>
        <p:spPr>
          <a:xfrm>
            <a:off x="381000" y="65722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370522" y="6664166"/>
            <a:ext cx="24127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来源：改善项目实施计划 v2 · 2026-06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45066" y="6664166"/>
            <a:ext cx="47641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05 / 11</a:t>
            </a:r>
          </a:p>
        </p:txBody>
      </p:sp>
      <p:sp>
        <p:nvSpPr>
          <p:cNvPr id="12" name="Line 12"/>
          <p:cNvSpPr/>
          <p:nvPr/>
        </p:nvSpPr>
        <p:spPr>
          <a:xfrm>
            <a:off x="2305050" y="1504950"/>
            <a:ext cx="7581900" cy="9525"/>
          </a:xfrm>
          <a:custGeom>
            <a:avLst/>
            <a:gdLst/>
            <a:ahLst/>
            <a:cxnLst/>
            <a:rect l="l" t="t" r="r" b="b"/>
            <a:pathLst>
              <a:path w="7581900" h="9525">
                <a:moveTo>
                  <a:pt x="0" y="0"/>
                </a:moveTo>
                <a:lnTo>
                  <a:pt x="7581900" y="0"/>
                </a:lnTo>
              </a:path>
            </a:pathLst>
          </a:custGeom>
          <a:noFill/>
          <a:ln w="19050">
            <a:solidFill>
              <a:srgbClr val="E7E7E7"/>
            </a:solidFill>
          </a:ln>
        </p:spPr>
      </p:sp>
      <p:sp>
        <p:nvSpPr>
          <p:cNvPr id="13" name="Ellipse 13"/>
          <p:cNvSpPr/>
          <p:nvPr/>
        </p:nvSpPr>
        <p:spPr>
          <a:xfrm>
            <a:off x="2247900" y="1447800"/>
            <a:ext cx="114300" cy="114300"/>
          </a:xfrm>
          <a:prstGeom prst="ellipse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14" name="Ellipse 14"/>
          <p:cNvSpPr/>
          <p:nvPr/>
        </p:nvSpPr>
        <p:spPr>
          <a:xfrm>
            <a:off x="6038850" y="1447800"/>
            <a:ext cx="114300" cy="114300"/>
          </a:xfrm>
          <a:prstGeom prst="ellipse">
            <a:avLst/>
          </a:prstGeom>
          <a:solidFill>
            <a:srgbClr val="C4C4C4"/>
          </a:solidFill>
          <a:ln>
            <a:noFill/>
          </a:ln>
        </p:spPr>
      </p:sp>
      <p:sp>
        <p:nvSpPr>
          <p:cNvPr id="15" name="Ellipse 15"/>
          <p:cNvSpPr/>
          <p:nvPr/>
        </p:nvSpPr>
        <p:spPr>
          <a:xfrm>
            <a:off x="9829800" y="1447800"/>
            <a:ext cx="114300" cy="114300"/>
          </a:xfrm>
          <a:prstGeom prst="ellipse">
            <a:avLst/>
          </a:prstGeom>
          <a:solidFill>
            <a:srgbClr val="C4C4C4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1943563" y="1704499"/>
            <a:ext cx="72297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Day 1–30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686838" y="1704499"/>
            <a:ext cx="81832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Day 31–60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477788" y="1704499"/>
            <a:ext cx="81832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Day 61–90</a:t>
            </a:r>
          </a:p>
        </p:txBody>
      </p:sp>
      <p:sp>
        <p:nvSpPr>
          <p:cNvPr id="19" name="Line 19"/>
          <p:cNvSpPr/>
          <p:nvPr/>
        </p:nvSpPr>
        <p:spPr>
          <a:xfrm>
            <a:off x="4200525" y="2114550"/>
            <a:ext cx="9525" cy="2419350"/>
          </a:xfrm>
          <a:custGeom>
            <a:avLst/>
            <a:gdLst/>
            <a:ahLst/>
            <a:cxnLst/>
            <a:rect l="l" t="t" r="r" b="b"/>
            <a:pathLst>
              <a:path w="9525" h="2419350">
                <a:moveTo>
                  <a:pt x="0" y="0"/>
                </a:moveTo>
                <a:lnTo>
                  <a:pt x="0" y="241935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20" name="Line 20"/>
          <p:cNvSpPr/>
          <p:nvPr/>
        </p:nvSpPr>
        <p:spPr>
          <a:xfrm>
            <a:off x="7991475" y="2114550"/>
            <a:ext cx="9525" cy="2419350"/>
          </a:xfrm>
          <a:custGeom>
            <a:avLst/>
            <a:gdLst/>
            <a:ahLst/>
            <a:cxnLst/>
            <a:rect l="l" t="t" r="r" b="b"/>
            <a:pathLst>
              <a:path w="9525" h="2419350">
                <a:moveTo>
                  <a:pt x="0" y="0"/>
                </a:moveTo>
                <a:lnTo>
                  <a:pt x="0" y="241935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354330" y="2173605"/>
            <a:ext cx="446590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01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17245" y="2222182"/>
            <a:ext cx="88609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治瓶颈</a:t>
            </a:r>
          </a:p>
        </p:txBody>
      </p:sp>
      <p:sp>
        <p:nvSpPr>
          <p:cNvPr id="23" name="Ellipse 23"/>
          <p:cNvSpPr/>
          <p:nvPr/>
        </p:nvSpPr>
        <p:spPr>
          <a:xfrm>
            <a:off x="1524000" y="2257425"/>
            <a:ext cx="76200" cy="76200"/>
          </a:xfrm>
          <a:prstGeom prst="ellipse">
            <a:avLst/>
          </a:prstGeom>
          <a:solidFill>
            <a:srgbClr val="6E6E6E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1683068" y="2228374"/>
            <a:ext cx="49536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进行中</a:t>
            </a:r>
          </a:p>
        </p:txBody>
      </p:sp>
      <p:sp>
        <p:nvSpPr>
          <p:cNvPr id="25" name="Ellipse 25"/>
          <p:cNvSpPr/>
          <p:nvPr/>
        </p:nvSpPr>
        <p:spPr>
          <a:xfrm>
            <a:off x="390525" y="27527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557212" y="2697956"/>
            <a:ext cx="210829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焊装线 B 换型 SMED 改造</a:t>
            </a:r>
          </a:p>
        </p:txBody>
      </p:sp>
      <p:sp>
        <p:nvSpPr>
          <p:cNvPr id="27" name="Ellipse 27"/>
          <p:cNvSpPr/>
          <p:nvPr/>
        </p:nvSpPr>
        <p:spPr>
          <a:xfrm>
            <a:off x="390525" y="30956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557212" y="3040856"/>
            <a:ext cx="20195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待料看板与配送节拍对齐</a:t>
            </a:r>
          </a:p>
        </p:txBody>
      </p:sp>
      <p:sp>
        <p:nvSpPr>
          <p:cNvPr id="29" name="Ellipse 29"/>
          <p:cNvSpPr/>
          <p:nvPr/>
        </p:nvSpPr>
        <p:spPr>
          <a:xfrm>
            <a:off x="390525" y="34385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557212" y="3383756"/>
            <a:ext cx="147657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关键设备点检上线</a:t>
            </a:r>
          </a:p>
        </p:txBody>
      </p:sp>
      <p:sp>
        <p:nvSpPr>
          <p:cNvPr id="31" name="Line 31"/>
          <p:cNvSpPr/>
          <p:nvPr/>
        </p:nvSpPr>
        <p:spPr>
          <a:xfrm>
            <a:off x="381000" y="4000500"/>
            <a:ext cx="3543300" cy="9525"/>
          </a:xfrm>
          <a:custGeom>
            <a:avLst/>
            <a:gdLst/>
            <a:ahLst/>
            <a:cxnLst/>
            <a:rect l="l" t="t" r="r" b="b"/>
            <a:pathLst>
              <a:path w="3543300" h="9525">
                <a:moveTo>
                  <a:pt x="0" y="0"/>
                </a:moveTo>
                <a:lnTo>
                  <a:pt x="35433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368618" y="4219099"/>
            <a:ext cx="33849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交付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22960" y="4194810"/>
            <a:ext cx="171182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B 线 OEE 68→76%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297680" y="2173605"/>
            <a:ext cx="488724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02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760595" y="2222182"/>
            <a:ext cx="88609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稳系统</a:t>
            </a:r>
          </a:p>
        </p:txBody>
      </p:sp>
      <p:sp>
        <p:nvSpPr>
          <p:cNvPr id="36" name="Ellipse 36"/>
          <p:cNvSpPr/>
          <p:nvPr/>
        </p:nvSpPr>
        <p:spPr>
          <a:xfrm>
            <a:off x="4333875" y="27527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4500562" y="2697956"/>
            <a:ext cx="21899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SMED 与点检标准三线推广</a:t>
            </a:r>
          </a:p>
        </p:txBody>
      </p:sp>
      <p:sp>
        <p:nvSpPr>
          <p:cNvPr id="38" name="Ellipse 38"/>
          <p:cNvSpPr/>
          <p:nvPr/>
        </p:nvSpPr>
        <p:spPr>
          <a:xfrm>
            <a:off x="4333875" y="30956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4500562" y="3040856"/>
            <a:ext cx="230349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MES 停机自动采集 + 日清会</a:t>
            </a:r>
          </a:p>
        </p:txBody>
      </p:sp>
      <p:sp>
        <p:nvSpPr>
          <p:cNvPr id="40" name="Ellipse 40"/>
          <p:cNvSpPr/>
          <p:nvPr/>
        </p:nvSpPr>
        <p:spPr>
          <a:xfrm>
            <a:off x="4333875" y="34385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4500562" y="3383756"/>
            <a:ext cx="129557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备件与工装预置</a:t>
            </a:r>
          </a:p>
        </p:txBody>
      </p:sp>
      <p:sp>
        <p:nvSpPr>
          <p:cNvPr id="42" name="Line 42"/>
          <p:cNvSpPr/>
          <p:nvPr/>
        </p:nvSpPr>
        <p:spPr>
          <a:xfrm>
            <a:off x="4324350" y="4000500"/>
            <a:ext cx="3543300" cy="9525"/>
          </a:xfrm>
          <a:custGeom>
            <a:avLst/>
            <a:gdLst/>
            <a:ahLst/>
            <a:cxnLst/>
            <a:rect l="l" t="t" r="r" b="b"/>
            <a:pathLst>
              <a:path w="3543300" h="9525">
                <a:moveTo>
                  <a:pt x="0" y="0"/>
                </a:moveTo>
                <a:lnTo>
                  <a:pt x="35433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4311968" y="4219099"/>
            <a:ext cx="33849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交付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766310" y="4194810"/>
            <a:ext cx="147908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综合 OEE →80%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8088630" y="2173605"/>
            <a:ext cx="488724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03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551545" y="2222182"/>
            <a:ext cx="88609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固标准</a:t>
            </a:r>
          </a:p>
        </p:txBody>
      </p:sp>
      <p:sp>
        <p:nvSpPr>
          <p:cNvPr id="47" name="Ellipse 47"/>
          <p:cNvSpPr/>
          <p:nvPr/>
        </p:nvSpPr>
        <p:spPr>
          <a:xfrm>
            <a:off x="8124825" y="27527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8291512" y="2697956"/>
            <a:ext cx="20195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标准作业固化与培训认证</a:t>
            </a:r>
          </a:p>
        </p:txBody>
      </p:sp>
      <p:sp>
        <p:nvSpPr>
          <p:cNvPr id="49" name="Ellipse 49"/>
          <p:cNvSpPr/>
          <p:nvPr/>
        </p:nvSpPr>
        <p:spPr>
          <a:xfrm>
            <a:off x="8124825" y="30956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8291512" y="3040856"/>
            <a:ext cx="18989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OEE 纳入班组考核看板</a:t>
            </a:r>
          </a:p>
        </p:txBody>
      </p:sp>
      <p:sp>
        <p:nvSpPr>
          <p:cNvPr id="51" name="Ellipse 51"/>
          <p:cNvSpPr/>
          <p:nvPr/>
        </p:nvSpPr>
        <p:spPr>
          <a:xfrm>
            <a:off x="8124825" y="34385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52" name="TextBox 52"/>
          <p:cNvSpPr txBox="1"/>
          <p:nvPr/>
        </p:nvSpPr>
        <p:spPr>
          <a:xfrm>
            <a:off x="8291512" y="3383756"/>
            <a:ext cx="147657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月度改善例会机制</a:t>
            </a:r>
          </a:p>
        </p:txBody>
      </p:sp>
      <p:sp>
        <p:nvSpPr>
          <p:cNvPr id="53" name="Line 53"/>
          <p:cNvSpPr/>
          <p:nvPr/>
        </p:nvSpPr>
        <p:spPr>
          <a:xfrm>
            <a:off x="8115300" y="4000500"/>
            <a:ext cx="3543300" cy="9525"/>
          </a:xfrm>
          <a:custGeom>
            <a:avLst/>
            <a:gdLst/>
            <a:ahLst/>
            <a:cxnLst/>
            <a:rect l="l" t="t" r="r" b="b"/>
            <a:pathLst>
              <a:path w="3543300" h="9525">
                <a:moveTo>
                  <a:pt x="0" y="0"/>
                </a:moveTo>
                <a:lnTo>
                  <a:pt x="35433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54" name="TextBox 54"/>
          <p:cNvSpPr txBox="1"/>
          <p:nvPr/>
        </p:nvSpPr>
        <p:spPr>
          <a:xfrm>
            <a:off x="8102918" y="4219099"/>
            <a:ext cx="33849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交付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8557260" y="4194810"/>
            <a:ext cx="215723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综合 OEE →85% 可持续</a:t>
            </a:r>
          </a:p>
        </p:txBody>
      </p:sp>
      <p:sp>
        <p:nvSpPr>
          <p:cNvPr id="56" name="Line 56"/>
          <p:cNvSpPr/>
          <p:nvPr/>
        </p:nvSpPr>
        <p:spPr>
          <a:xfrm>
            <a:off x="381000" y="47244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57" name="TextBox 57"/>
          <p:cNvSpPr txBox="1"/>
          <p:nvPr/>
        </p:nvSpPr>
        <p:spPr>
          <a:xfrm>
            <a:off x="364808" y="4910614"/>
            <a:ext cx="90214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责任矩阵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367665" y="5201602"/>
            <a:ext cx="74294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关键举措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5892165" y="5201602"/>
            <a:ext cx="56387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责任方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987665" y="5201602"/>
            <a:ext cx="38480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截止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9321165" y="5201602"/>
            <a:ext cx="7464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验收 KPI</a:t>
            </a:r>
          </a:p>
        </p:txBody>
      </p:sp>
      <p:sp>
        <p:nvSpPr>
          <p:cNvPr id="62" name="Line 62"/>
          <p:cNvSpPr/>
          <p:nvPr/>
        </p:nvSpPr>
        <p:spPr>
          <a:xfrm>
            <a:off x="381000" y="54292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11430">
            <a:solidFill>
              <a:srgbClr val="E7E7E7"/>
            </a:solidFill>
          </a:ln>
        </p:spPr>
      </p:sp>
      <p:sp>
        <p:nvSpPr>
          <p:cNvPr id="63" name="TextBox 63"/>
          <p:cNvSpPr txBox="1"/>
          <p:nvPr/>
        </p:nvSpPr>
        <p:spPr>
          <a:xfrm>
            <a:off x="366712" y="5593556"/>
            <a:ext cx="128492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SMED 换型改造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5891212" y="5593556"/>
            <a:ext cx="9761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工艺 · 李工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7986712" y="5593556"/>
            <a:ext cx="63545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Day 30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9320212" y="5593556"/>
            <a:ext cx="123524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换型 ≤ 20 min</a:t>
            </a:r>
          </a:p>
        </p:txBody>
      </p:sp>
      <p:sp>
        <p:nvSpPr>
          <p:cNvPr id="67" name="Line 67"/>
          <p:cNvSpPr/>
          <p:nvPr/>
        </p:nvSpPr>
        <p:spPr>
          <a:xfrm>
            <a:off x="381000" y="58483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68" name="TextBox 68"/>
          <p:cNvSpPr txBox="1"/>
          <p:nvPr/>
        </p:nvSpPr>
        <p:spPr>
          <a:xfrm>
            <a:off x="366712" y="5860256"/>
            <a:ext cx="111457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停机自动采集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5891212" y="5860256"/>
            <a:ext cx="81290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IT · 王工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7986712" y="5860256"/>
            <a:ext cx="63545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Day 45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9320212" y="5860256"/>
            <a:ext cx="112522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采集率 ≥ 95%</a:t>
            </a:r>
          </a:p>
        </p:txBody>
      </p:sp>
      <p:sp>
        <p:nvSpPr>
          <p:cNvPr id="72" name="Line 72"/>
          <p:cNvSpPr/>
          <p:nvPr/>
        </p:nvSpPr>
        <p:spPr>
          <a:xfrm>
            <a:off x="381000" y="61150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73" name="TextBox 73"/>
          <p:cNvSpPr txBox="1"/>
          <p:nvPr/>
        </p:nvSpPr>
        <p:spPr>
          <a:xfrm>
            <a:off x="366712" y="6126956"/>
            <a:ext cx="111457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标准作业固化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5891212" y="6126956"/>
            <a:ext cx="9761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生产 · 张工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7986712" y="6126956"/>
            <a:ext cx="63545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Day 90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9320212" y="6126956"/>
            <a:ext cx="107198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稽核 ≥ 90 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70522" y="291941"/>
            <a:ext cx="151225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根因分析 · 停机损失量化</a:t>
            </a:r>
          </a:p>
        </p:txBody>
      </p:sp>
      <p:sp>
        <p:nvSpPr>
          <p:cNvPr id="4" name="Rectangle 4"/>
          <p:cNvSpPr/>
          <p:nvPr/>
        </p:nvSpPr>
        <p:spPr>
          <a:xfrm>
            <a:off x="381000" y="6286500"/>
            <a:ext cx="800100" cy="19050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60045" y="1726882"/>
            <a:ext cx="243110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非计划停机每年吃掉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82880" y="2259330"/>
            <a:ext cx="5544644" cy="2560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600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¥420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232910" y="3166110"/>
            <a:ext cx="782412" cy="8534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万</a:t>
            </a:r>
          </a:p>
        </p:txBody>
      </p:sp>
      <p:sp>
        <p:nvSpPr>
          <p:cNvPr id="8" name="Line 8"/>
          <p:cNvSpPr/>
          <p:nvPr/>
        </p:nvSpPr>
        <p:spPr>
          <a:xfrm>
            <a:off x="381000" y="3905250"/>
            <a:ext cx="4572000" cy="9525"/>
          </a:xfrm>
          <a:custGeom>
            <a:avLst/>
            <a:gdLst/>
            <a:ahLst/>
            <a:cxnLst/>
            <a:rect l="l" t="t" r="r" b="b"/>
            <a:pathLst>
              <a:path w="4572000" h="9525">
                <a:moveTo>
                  <a:pt x="0" y="0"/>
                </a:moveTo>
                <a:lnTo>
                  <a:pt x="4572000" y="0"/>
                </a:lnTo>
              </a:path>
            </a:pathLst>
          </a:custGeom>
          <a:noFill/>
          <a:ln w="14288">
            <a:solidFill>
              <a:srgbClr val="262626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360045" y="4127182"/>
            <a:ext cx="405315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相当于焊装线 B 全年利润的 31%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66712" y="4564856"/>
            <a:ext cx="31410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按 2026-Q1 停机工时 × 边际贡献测算</a:t>
            </a:r>
          </a:p>
        </p:txBody>
      </p:sp>
      <p:sp>
        <p:nvSpPr>
          <p:cNvPr id="11" name="Line 11"/>
          <p:cNvSpPr/>
          <p:nvPr/>
        </p:nvSpPr>
        <p:spPr>
          <a:xfrm>
            <a:off x="7620000" y="1428750"/>
            <a:ext cx="9525" cy="4191000"/>
          </a:xfrm>
          <a:custGeom>
            <a:avLst/>
            <a:gdLst/>
            <a:ahLst/>
            <a:cxnLst/>
            <a:rect l="l" t="t" r="r" b="b"/>
            <a:pathLst>
              <a:path w="9525" h="4191000">
                <a:moveTo>
                  <a:pt x="0" y="0"/>
                </a:moveTo>
                <a:lnTo>
                  <a:pt x="0" y="419100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7988618" y="1552099"/>
            <a:ext cx="6522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3D31"/>
                </a:solidFill>
                <a:latin typeface="Inter"/>
                <a:ea typeface="Microsoft YaHei"/>
                <a:cs typeface="Inter"/>
              </a:rPr>
              <a:t>损失拆解</a:t>
            </a:r>
          </a:p>
        </p:txBody>
      </p:sp>
      <p:sp>
        <p:nvSpPr>
          <p:cNvPr id="13" name="Rectangle 13"/>
          <p:cNvSpPr/>
          <p:nvPr/>
        </p:nvSpPr>
        <p:spPr>
          <a:xfrm>
            <a:off x="8001000" y="1790700"/>
            <a:ext cx="1143000" cy="19050"/>
          </a:xfrm>
          <a:prstGeom prst="rect">
            <a:avLst/>
          </a:prstGeom>
          <a:solidFill>
            <a:srgbClr val="9E3D31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7986712" y="2126456"/>
            <a:ext cx="79601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换型等待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006051" y="2110264"/>
            <a:ext cx="82114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75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¥160 万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988618" y="2371249"/>
            <a:ext cx="255308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占 38% · 换型频次高、单次 45 min</a:t>
            </a:r>
          </a:p>
        </p:txBody>
      </p:sp>
      <p:sp>
        <p:nvSpPr>
          <p:cNvPr id="17" name="Line 17"/>
          <p:cNvSpPr/>
          <p:nvPr/>
        </p:nvSpPr>
        <p:spPr>
          <a:xfrm>
            <a:off x="8001000" y="2667000"/>
            <a:ext cx="3810000" cy="9525"/>
          </a:xfrm>
          <a:custGeom>
            <a:avLst/>
            <a:gdLst/>
            <a:ahLst/>
            <a:cxnLst/>
            <a:rect l="l" t="t" r="r" b="b"/>
            <a:pathLst>
              <a:path w="3810000" h="9525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7986712" y="2926556"/>
            <a:ext cx="79601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物料待料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006051" y="2910364"/>
            <a:ext cx="82114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75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¥109 万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988618" y="3171349"/>
            <a:ext cx="212246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占 26% · 配送节拍与产线不齐</a:t>
            </a:r>
          </a:p>
        </p:txBody>
      </p:sp>
      <p:sp>
        <p:nvSpPr>
          <p:cNvPr id="21" name="Line 21"/>
          <p:cNvSpPr/>
          <p:nvPr/>
        </p:nvSpPr>
        <p:spPr>
          <a:xfrm>
            <a:off x="8001000" y="3467100"/>
            <a:ext cx="3810000" cy="9525"/>
          </a:xfrm>
          <a:custGeom>
            <a:avLst/>
            <a:gdLst/>
            <a:ahLst/>
            <a:cxnLst/>
            <a:rect l="l" t="t" r="r" b="b"/>
            <a:pathLst>
              <a:path w="3810000" h="9525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7986712" y="3726656"/>
            <a:ext cx="79601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设备故障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138221" y="3710464"/>
            <a:ext cx="68897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75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¥71 万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988618" y="3971449"/>
            <a:ext cx="210401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占 17% · 点检缺失、突发停机</a:t>
            </a:r>
          </a:p>
        </p:txBody>
      </p:sp>
      <p:sp>
        <p:nvSpPr>
          <p:cNvPr id="25" name="Line 25"/>
          <p:cNvSpPr/>
          <p:nvPr/>
        </p:nvSpPr>
        <p:spPr>
          <a:xfrm>
            <a:off x="8001000" y="4267200"/>
            <a:ext cx="3810000" cy="9525"/>
          </a:xfrm>
          <a:custGeom>
            <a:avLst/>
            <a:gdLst/>
            <a:ahLst/>
            <a:cxnLst/>
            <a:rect l="l" t="t" r="r" b="b"/>
            <a:pathLst>
              <a:path w="3810000" h="9525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26" name="Ellipse 26"/>
          <p:cNvSpPr/>
          <p:nvPr/>
        </p:nvSpPr>
        <p:spPr>
          <a:xfrm>
            <a:off x="8010525" y="4676775"/>
            <a:ext cx="57150" cy="57150"/>
          </a:xfrm>
          <a:prstGeom prst="ellipse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8177212" y="4641056"/>
            <a:ext cx="279680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三项合计可改善空间 ¥340 万 / 年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70522" y="6578441"/>
            <a:ext cx="291505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来源：停机工时台账 × 边际贡献测算 · 2026-Q1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345066" y="6578441"/>
            <a:ext cx="47641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70522" y="139541"/>
            <a:ext cx="124678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改善方案 · 体系架构</a:t>
            </a:r>
          </a:p>
        </p:txBody>
      </p:sp>
      <p:sp>
        <p:nvSpPr>
          <p:cNvPr id="4" name="Rectangle 4"/>
          <p:cNvSpPr/>
          <p:nvPr/>
        </p:nvSpPr>
        <p:spPr>
          <a:xfrm>
            <a:off x="11315700" y="152400"/>
            <a:ext cx="85725" cy="85725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1396288" y="131445"/>
            <a:ext cx="42614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Aham</a:t>
            </a:r>
          </a:p>
        </p:txBody>
      </p:sp>
      <p:sp>
        <p:nvSpPr>
          <p:cNvPr id="6" name="Line 6"/>
          <p:cNvSpPr/>
          <p:nvPr/>
        </p:nvSpPr>
        <p:spPr>
          <a:xfrm>
            <a:off x="381000" y="304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50520" y="483870"/>
            <a:ext cx="8656277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三层改善体系：目标对齐、过程管理、现场执行</a:t>
            </a:r>
          </a:p>
        </p:txBody>
      </p:sp>
      <p:sp>
        <p:nvSpPr>
          <p:cNvPr id="8" name="Line 8"/>
          <p:cNvSpPr/>
          <p:nvPr/>
        </p:nvSpPr>
        <p:spPr>
          <a:xfrm>
            <a:off x="381000" y="8953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9" name="Line 9"/>
          <p:cNvSpPr/>
          <p:nvPr/>
        </p:nvSpPr>
        <p:spPr>
          <a:xfrm>
            <a:off x="381000" y="65722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370522" y="6664166"/>
            <a:ext cx="194428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来源：改善体系设计 · 2026-06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45066" y="6664166"/>
            <a:ext cx="47641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07 / 11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60045" y="1326832"/>
            <a:ext cx="88609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战略层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7665" y="1639252"/>
            <a:ext cx="87133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目标与对标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52425" y="2005012"/>
            <a:ext cx="478489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L1</a:t>
            </a:r>
          </a:p>
        </p:txBody>
      </p:sp>
      <p:sp>
        <p:nvSpPr>
          <p:cNvPr id="15" name="Rectangle 15"/>
          <p:cNvSpPr/>
          <p:nvPr/>
        </p:nvSpPr>
        <p:spPr>
          <a:xfrm>
            <a:off x="2286000" y="1143000"/>
            <a:ext cx="307340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3187690" y="1783556"/>
            <a:ext cx="127002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OEE 目标 85%</a:t>
            </a:r>
          </a:p>
        </p:txBody>
      </p:sp>
      <p:sp>
        <p:nvSpPr>
          <p:cNvPr id="17" name="Rectangle 17"/>
          <p:cNvSpPr/>
          <p:nvPr/>
        </p:nvSpPr>
        <p:spPr>
          <a:xfrm>
            <a:off x="5511800" y="1143000"/>
            <a:ext cx="307340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6458633" y="1783556"/>
            <a:ext cx="117973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对标行业基准</a:t>
            </a:r>
          </a:p>
        </p:txBody>
      </p:sp>
      <p:sp>
        <p:nvSpPr>
          <p:cNvPr id="19" name="Rectangle 19"/>
          <p:cNvSpPr/>
          <p:nvPr/>
        </p:nvSpPr>
        <p:spPr>
          <a:xfrm>
            <a:off x="8737600" y="1143000"/>
            <a:ext cx="307340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9684433" y="1783556"/>
            <a:ext cx="117973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投入产出测算</a:t>
            </a:r>
          </a:p>
        </p:txBody>
      </p:sp>
      <p:sp>
        <p:nvSpPr>
          <p:cNvPr id="21" name="Line 21"/>
          <p:cNvSpPr/>
          <p:nvPr/>
        </p:nvSpPr>
        <p:spPr>
          <a:xfrm>
            <a:off x="10858500" y="2609850"/>
            <a:ext cx="9525" cy="114300"/>
          </a:xfrm>
          <a:custGeom>
            <a:avLst/>
            <a:gdLst/>
            <a:ahLst/>
            <a:cxnLst/>
            <a:rect l="l" t="t" r="r" b="b"/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9050">
            <a:solidFill>
              <a:srgbClr val="9B9B9B"/>
            </a:solidFill>
          </a:ln>
        </p:spPr>
      </p:sp>
      <p:sp>
        <p:nvSpPr>
          <p:cNvPr id="22" name="Polygon 22"/>
          <p:cNvSpPr/>
          <p:nvPr/>
        </p:nvSpPr>
        <p:spPr>
          <a:xfrm>
            <a:off x="10810875" y="2686050"/>
            <a:ext cx="95250" cy="76200"/>
          </a:xfrm>
          <a:custGeom>
            <a:avLst/>
            <a:gdLst/>
            <a:ahLst/>
            <a:cxnLst/>
            <a:rect l="l" t="t" r="r" b="b"/>
            <a:pathLst>
              <a:path w="95250" h="76200">
                <a:moveTo>
                  <a:pt x="0" y="0"/>
                </a:moveTo>
                <a:lnTo>
                  <a:pt x="47625" y="76200"/>
                </a:lnTo>
                <a:lnTo>
                  <a:pt x="95250" y="0"/>
                </a:lnTo>
                <a:close/>
              </a:path>
            </a:pathLst>
          </a:custGeom>
          <a:solidFill>
            <a:srgbClr val="9B9B9B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360045" y="2965132"/>
            <a:ext cx="88609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管理层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67665" y="3277552"/>
            <a:ext cx="87133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过程与机制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352425" y="3643312"/>
            <a:ext cx="523633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L2</a:t>
            </a:r>
          </a:p>
        </p:txBody>
      </p:sp>
      <p:sp>
        <p:nvSpPr>
          <p:cNvPr id="26" name="Rectangle 26"/>
          <p:cNvSpPr/>
          <p:nvPr/>
        </p:nvSpPr>
        <p:spPr>
          <a:xfrm>
            <a:off x="2286000" y="2781300"/>
            <a:ext cx="226695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2925538" y="3421856"/>
            <a:ext cx="98787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日清会机制</a:t>
            </a:r>
          </a:p>
        </p:txBody>
      </p:sp>
      <p:sp>
        <p:nvSpPr>
          <p:cNvPr id="28" name="Rectangle 28"/>
          <p:cNvSpPr/>
          <p:nvPr/>
        </p:nvSpPr>
        <p:spPr>
          <a:xfrm>
            <a:off x="4705350" y="2781300"/>
            <a:ext cx="226695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5408841" y="3421856"/>
            <a:ext cx="85996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OEE 看板</a:t>
            </a:r>
          </a:p>
        </p:txBody>
      </p:sp>
      <p:sp>
        <p:nvSpPr>
          <p:cNvPr id="30" name="Rectangle 30"/>
          <p:cNvSpPr/>
          <p:nvPr/>
        </p:nvSpPr>
        <p:spPr>
          <a:xfrm>
            <a:off x="7124700" y="2781300"/>
            <a:ext cx="226695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7668308" y="3421856"/>
            <a:ext cx="117973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标准作业体系</a:t>
            </a:r>
          </a:p>
        </p:txBody>
      </p:sp>
      <p:sp>
        <p:nvSpPr>
          <p:cNvPr id="32" name="Rectangle 32"/>
          <p:cNvSpPr/>
          <p:nvPr/>
        </p:nvSpPr>
        <p:spPr>
          <a:xfrm>
            <a:off x="9544050" y="2781300"/>
            <a:ext cx="226695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10087658" y="3421856"/>
            <a:ext cx="117973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月度改善例会</a:t>
            </a:r>
          </a:p>
        </p:txBody>
      </p:sp>
      <p:sp>
        <p:nvSpPr>
          <p:cNvPr id="34" name="Line 34"/>
          <p:cNvSpPr/>
          <p:nvPr/>
        </p:nvSpPr>
        <p:spPr>
          <a:xfrm>
            <a:off x="10858500" y="4248150"/>
            <a:ext cx="9525" cy="114300"/>
          </a:xfrm>
          <a:custGeom>
            <a:avLst/>
            <a:gdLst/>
            <a:ahLst/>
            <a:cxnLst/>
            <a:rect l="l" t="t" r="r" b="b"/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9050">
            <a:solidFill>
              <a:srgbClr val="9B9B9B"/>
            </a:solidFill>
          </a:ln>
        </p:spPr>
      </p:sp>
      <p:sp>
        <p:nvSpPr>
          <p:cNvPr id="35" name="Polygon 35"/>
          <p:cNvSpPr/>
          <p:nvPr/>
        </p:nvSpPr>
        <p:spPr>
          <a:xfrm>
            <a:off x="10810875" y="4324350"/>
            <a:ext cx="95250" cy="76200"/>
          </a:xfrm>
          <a:custGeom>
            <a:avLst/>
            <a:gdLst/>
            <a:ahLst/>
            <a:cxnLst/>
            <a:rect l="l" t="t" r="r" b="b"/>
            <a:pathLst>
              <a:path w="95250" h="76200">
                <a:moveTo>
                  <a:pt x="0" y="0"/>
                </a:moveTo>
                <a:lnTo>
                  <a:pt x="47625" y="76200"/>
                </a:lnTo>
                <a:lnTo>
                  <a:pt x="95250" y="0"/>
                </a:lnTo>
                <a:close/>
              </a:path>
            </a:pathLst>
          </a:custGeom>
          <a:solidFill>
            <a:srgbClr val="9B9B9B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360045" y="4603432"/>
            <a:ext cx="88609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执行层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367665" y="4915852"/>
            <a:ext cx="87133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现场与动作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52425" y="5281612"/>
            <a:ext cx="523633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L3</a:t>
            </a:r>
          </a:p>
        </p:txBody>
      </p:sp>
      <p:sp>
        <p:nvSpPr>
          <p:cNvPr id="39" name="Rectangle 39"/>
          <p:cNvSpPr/>
          <p:nvPr/>
        </p:nvSpPr>
        <p:spPr>
          <a:xfrm>
            <a:off x="2286000" y="4419600"/>
            <a:ext cx="178308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2689246" y="5060156"/>
            <a:ext cx="9765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SMED 换型</a:t>
            </a:r>
          </a:p>
        </p:txBody>
      </p:sp>
      <p:sp>
        <p:nvSpPr>
          <p:cNvPr id="41" name="Rectangle 41"/>
          <p:cNvSpPr/>
          <p:nvPr/>
        </p:nvSpPr>
        <p:spPr>
          <a:xfrm>
            <a:off x="4221480" y="4419600"/>
            <a:ext cx="178308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4715013" y="5060156"/>
            <a:ext cx="79601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设备点检</a:t>
            </a:r>
          </a:p>
        </p:txBody>
      </p:sp>
      <p:sp>
        <p:nvSpPr>
          <p:cNvPr id="43" name="Rectangle 43"/>
          <p:cNvSpPr/>
          <p:nvPr/>
        </p:nvSpPr>
        <p:spPr>
          <a:xfrm>
            <a:off x="6156960" y="4419600"/>
            <a:ext cx="178308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6650493" y="5060156"/>
            <a:ext cx="79601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配送节拍</a:t>
            </a:r>
          </a:p>
        </p:txBody>
      </p:sp>
      <p:sp>
        <p:nvSpPr>
          <p:cNvPr id="45" name="Rectangle 45"/>
          <p:cNvSpPr/>
          <p:nvPr/>
        </p:nvSpPr>
        <p:spPr>
          <a:xfrm>
            <a:off x="8092440" y="4419600"/>
            <a:ext cx="178308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8585973" y="5060156"/>
            <a:ext cx="79601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备件预置</a:t>
            </a:r>
          </a:p>
        </p:txBody>
      </p:sp>
      <p:sp>
        <p:nvSpPr>
          <p:cNvPr id="47" name="Rectangle 47"/>
          <p:cNvSpPr/>
          <p:nvPr/>
        </p:nvSpPr>
        <p:spPr>
          <a:xfrm>
            <a:off x="10027920" y="4419600"/>
            <a:ext cx="178308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10521453" y="5060156"/>
            <a:ext cx="79601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培训认证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70522" y="139541"/>
            <a:ext cx="111405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改善方案 · 优先级</a:t>
            </a:r>
          </a:p>
        </p:txBody>
      </p:sp>
      <p:sp>
        <p:nvSpPr>
          <p:cNvPr id="4" name="Rectangle 4"/>
          <p:cNvSpPr/>
          <p:nvPr/>
        </p:nvSpPr>
        <p:spPr>
          <a:xfrm>
            <a:off x="11315700" y="152400"/>
            <a:ext cx="85725" cy="85725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1396288" y="131445"/>
            <a:ext cx="42614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Aham</a:t>
            </a:r>
          </a:p>
        </p:txBody>
      </p:sp>
      <p:sp>
        <p:nvSpPr>
          <p:cNvPr id="6" name="Line 6"/>
          <p:cNvSpPr/>
          <p:nvPr/>
        </p:nvSpPr>
        <p:spPr>
          <a:xfrm>
            <a:off x="381000" y="304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50520" y="483870"/>
            <a:ext cx="8222900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先做高影响低投入：SMED 与停机采集是首选</a:t>
            </a:r>
          </a:p>
        </p:txBody>
      </p:sp>
      <p:sp>
        <p:nvSpPr>
          <p:cNvPr id="8" name="Line 8"/>
          <p:cNvSpPr/>
          <p:nvPr/>
        </p:nvSpPr>
        <p:spPr>
          <a:xfrm>
            <a:off x="381000" y="8953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9" name="Line 9"/>
          <p:cNvSpPr/>
          <p:nvPr/>
        </p:nvSpPr>
        <p:spPr>
          <a:xfrm>
            <a:off x="381000" y="65722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370522" y="6664166"/>
            <a:ext cx="194428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来源：改善举措排序 · 2026-06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45066" y="6664166"/>
            <a:ext cx="47641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08 / 11</a:t>
            </a:r>
          </a:p>
        </p:txBody>
      </p:sp>
      <p:sp>
        <p:nvSpPr>
          <p:cNvPr id="12" name="Line 12"/>
          <p:cNvSpPr/>
          <p:nvPr/>
        </p:nvSpPr>
        <p:spPr>
          <a:xfrm>
            <a:off x="1905000" y="3714750"/>
            <a:ext cx="8382000" cy="9525"/>
          </a:xfrm>
          <a:custGeom>
            <a:avLst/>
            <a:gdLst/>
            <a:ahLst/>
            <a:cxnLst/>
            <a:rect l="l" t="t" r="r" b="b"/>
            <a:pathLst>
              <a:path w="8382000" h="9525">
                <a:moveTo>
                  <a:pt x="0" y="0"/>
                </a:moveTo>
                <a:lnTo>
                  <a:pt x="8382000" y="0"/>
                </a:lnTo>
              </a:path>
            </a:pathLst>
          </a:custGeom>
          <a:noFill/>
          <a:ln w="9525">
            <a:solidFill>
              <a:srgbClr val="9B9B9B"/>
            </a:solidFill>
          </a:ln>
        </p:spPr>
      </p:sp>
      <p:sp>
        <p:nvSpPr>
          <p:cNvPr id="13" name="Line 13"/>
          <p:cNvSpPr/>
          <p:nvPr/>
        </p:nvSpPr>
        <p:spPr>
          <a:xfrm>
            <a:off x="6096000" y="1143000"/>
            <a:ext cx="9525" cy="5143500"/>
          </a:xfrm>
          <a:custGeom>
            <a:avLst/>
            <a:gdLst/>
            <a:ahLst/>
            <a:cxnLst/>
            <a:rect l="l" t="t" r="r" b="b"/>
            <a:pathLst>
              <a:path w="9525" h="5143500">
                <a:moveTo>
                  <a:pt x="0" y="0"/>
                </a:moveTo>
                <a:lnTo>
                  <a:pt x="0" y="5143500"/>
                </a:lnTo>
              </a:path>
            </a:pathLst>
          </a:custGeom>
          <a:noFill/>
          <a:ln w="9525">
            <a:solidFill>
              <a:srgbClr val="9B9B9B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1583351" y="1132999"/>
            <a:ext cx="1816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高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83351" y="6181249"/>
            <a:ext cx="1816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低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68618" y="999649"/>
            <a:ext cx="8431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↑ 改善影响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892618" y="6466999"/>
            <a:ext cx="49536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低投入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804018" y="6466999"/>
            <a:ext cx="49536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高投入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697603" y="6466999"/>
            <a:ext cx="79679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实施投入 →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175510" y="1280160"/>
            <a:ext cx="84908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336EE8"/>
                </a:solidFill>
                <a:latin typeface="Inter"/>
                <a:ea typeface="Microsoft YaHei"/>
                <a:cs typeface="Inter"/>
              </a:rPr>
              <a:t>优先实施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180272" y="1511141"/>
            <a:ext cx="80954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QUICK WINS</a:t>
            </a:r>
          </a:p>
        </p:txBody>
      </p:sp>
      <p:sp>
        <p:nvSpPr>
          <p:cNvPr id="22" name="Ellipse 22"/>
          <p:cNvSpPr/>
          <p:nvPr/>
        </p:nvSpPr>
        <p:spPr>
          <a:xfrm>
            <a:off x="2200275" y="1876425"/>
            <a:ext cx="57150" cy="57150"/>
          </a:xfrm>
          <a:prstGeom prst="ellipse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2347912" y="1821656"/>
            <a:ext cx="136030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SMED 换型改造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349818" y="2028349"/>
            <a:ext cx="99057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影响高 · 6 周</a:t>
            </a:r>
          </a:p>
        </p:txBody>
      </p:sp>
      <p:sp>
        <p:nvSpPr>
          <p:cNvPr id="25" name="Ellipse 25"/>
          <p:cNvSpPr/>
          <p:nvPr/>
        </p:nvSpPr>
        <p:spPr>
          <a:xfrm>
            <a:off x="2200275" y="2352675"/>
            <a:ext cx="57150" cy="57150"/>
          </a:xfrm>
          <a:prstGeom prst="ellipse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2347912" y="2297906"/>
            <a:ext cx="117973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停机自动采集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349818" y="2504599"/>
            <a:ext cx="11597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影响高 · 投入低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366510" y="1280160"/>
            <a:ext cx="84908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重点投入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371272" y="1511141"/>
            <a:ext cx="61174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BIG BETS</a:t>
            </a:r>
          </a:p>
        </p:txBody>
      </p:sp>
      <p:sp>
        <p:nvSpPr>
          <p:cNvPr id="30" name="Ellipse 30"/>
          <p:cNvSpPr/>
          <p:nvPr/>
        </p:nvSpPr>
        <p:spPr>
          <a:xfrm>
            <a:off x="6391275" y="18764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6538912" y="1821656"/>
            <a:ext cx="124368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MES 系统升级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540818" y="2028349"/>
            <a:ext cx="106746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影响高 · 12 周</a:t>
            </a:r>
          </a:p>
        </p:txBody>
      </p:sp>
      <p:sp>
        <p:nvSpPr>
          <p:cNvPr id="33" name="Ellipse 33"/>
          <p:cNvSpPr/>
          <p:nvPr/>
        </p:nvSpPr>
        <p:spPr>
          <a:xfrm>
            <a:off x="6391275" y="235267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6538912" y="2297906"/>
            <a:ext cx="117973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产线节拍重排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540818" y="2504599"/>
            <a:ext cx="11597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影响高 · 投入大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2175510" y="3851910"/>
            <a:ext cx="64443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顺手做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180272" y="4082891"/>
            <a:ext cx="63517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FILL-INS</a:t>
            </a:r>
          </a:p>
        </p:txBody>
      </p:sp>
      <p:sp>
        <p:nvSpPr>
          <p:cNvPr id="38" name="Ellipse 38"/>
          <p:cNvSpPr/>
          <p:nvPr/>
        </p:nvSpPr>
        <p:spPr>
          <a:xfrm>
            <a:off x="2200275" y="444817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2347912" y="4393406"/>
            <a:ext cx="117973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点检表电子化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2349818" y="4600099"/>
            <a:ext cx="11597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影响中 · 投入低</a:t>
            </a:r>
          </a:p>
        </p:txBody>
      </p:sp>
      <p:sp>
        <p:nvSpPr>
          <p:cNvPr id="41" name="Ellipse 41"/>
          <p:cNvSpPr/>
          <p:nvPr/>
        </p:nvSpPr>
        <p:spPr>
          <a:xfrm>
            <a:off x="2200275" y="49244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2347912" y="4869656"/>
            <a:ext cx="98787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看板可视化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2349818" y="5076349"/>
            <a:ext cx="11597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影响中 · 投入低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366510" y="3851910"/>
            <a:ext cx="43978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暂缓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371272" y="4082891"/>
            <a:ext cx="82516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MONEY PITS</a:t>
            </a:r>
          </a:p>
        </p:txBody>
      </p:sp>
      <p:sp>
        <p:nvSpPr>
          <p:cNvPr id="46" name="Ellipse 46"/>
          <p:cNvSpPr/>
          <p:nvPr/>
        </p:nvSpPr>
        <p:spPr>
          <a:xfrm>
            <a:off x="6391275" y="444817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6538912" y="4393406"/>
            <a:ext cx="117973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整线产线重构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540818" y="4600099"/>
            <a:ext cx="11597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影响中 · 投入巨</a:t>
            </a:r>
          </a:p>
        </p:txBody>
      </p:sp>
      <p:sp>
        <p:nvSpPr>
          <p:cNvPr id="49" name="Ellipse 49"/>
          <p:cNvSpPr/>
          <p:nvPr/>
        </p:nvSpPr>
        <p:spPr>
          <a:xfrm>
            <a:off x="6391275" y="49244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6538912" y="4869656"/>
            <a:ext cx="13038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全厂 MES 替换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540818" y="5076349"/>
            <a:ext cx="11597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投入大 · 周期长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70522" y="139541"/>
            <a:ext cx="124678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改善方案 · 运行机制</a:t>
            </a:r>
          </a:p>
        </p:txBody>
      </p:sp>
      <p:sp>
        <p:nvSpPr>
          <p:cNvPr id="4" name="Rectangle 4"/>
          <p:cNvSpPr/>
          <p:nvPr/>
        </p:nvSpPr>
        <p:spPr>
          <a:xfrm>
            <a:off x="11315700" y="152400"/>
            <a:ext cx="85725" cy="85725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1396288" y="131445"/>
            <a:ext cx="42614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Aham</a:t>
            </a:r>
          </a:p>
        </p:txBody>
      </p:sp>
      <p:sp>
        <p:nvSpPr>
          <p:cNvPr id="6" name="Line 6"/>
          <p:cNvSpPr/>
          <p:nvPr/>
        </p:nvSpPr>
        <p:spPr>
          <a:xfrm>
            <a:off x="381000" y="304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50520" y="483870"/>
            <a:ext cx="8246976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改善以四步闭环推进，月度复盘驱动持续迭代</a:t>
            </a:r>
          </a:p>
        </p:txBody>
      </p:sp>
      <p:sp>
        <p:nvSpPr>
          <p:cNvPr id="8" name="Line 8"/>
          <p:cNvSpPr/>
          <p:nvPr/>
        </p:nvSpPr>
        <p:spPr>
          <a:xfrm>
            <a:off x="381000" y="8953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9" name="Line 9"/>
          <p:cNvSpPr/>
          <p:nvPr/>
        </p:nvSpPr>
        <p:spPr>
          <a:xfrm>
            <a:off x="381000" y="65722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370522" y="6664166"/>
            <a:ext cx="95008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来源：内部测算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45066" y="6664166"/>
            <a:ext cx="47641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09 / 11</a:t>
            </a:r>
          </a:p>
        </p:txBody>
      </p:sp>
      <p:sp>
        <p:nvSpPr>
          <p:cNvPr id="12" name="Rectangle 12"/>
          <p:cNvSpPr/>
          <p:nvPr/>
        </p:nvSpPr>
        <p:spPr>
          <a:xfrm>
            <a:off x="381000" y="1905000"/>
            <a:ext cx="182880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531495" y="2107882"/>
            <a:ext cx="35089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01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5305" y="2521268"/>
            <a:ext cx="49475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测量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41020" y="2779395"/>
            <a:ext cx="66736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Measure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40068" y="3037999"/>
            <a:ext cx="147347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OEE/停机/不良采集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41972" y="3530441"/>
            <a:ext cx="28642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交付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39115" y="3715702"/>
            <a:ext cx="10554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采集率 ≥95%</a:t>
            </a:r>
          </a:p>
        </p:txBody>
      </p:sp>
      <p:sp>
        <p:nvSpPr>
          <p:cNvPr id="19" name="Line 19"/>
          <p:cNvSpPr/>
          <p:nvPr/>
        </p:nvSpPr>
        <p:spPr>
          <a:xfrm>
            <a:off x="2305050" y="2619375"/>
            <a:ext cx="342900" cy="9525"/>
          </a:xfrm>
          <a:custGeom>
            <a:avLst/>
            <a:gdLst/>
            <a:ahLst/>
            <a:cxnLst/>
            <a:rect l="l" t="t" r="r" b="b"/>
            <a:pathLst>
              <a:path w="342900" h="9525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/>
          <a:ln w="19050">
            <a:solidFill>
              <a:srgbClr val="9B9B9B"/>
            </a:solidFill>
          </a:ln>
        </p:spPr>
      </p:sp>
      <p:sp>
        <p:nvSpPr>
          <p:cNvPr id="20" name="Polygon 20"/>
          <p:cNvSpPr/>
          <p:nvPr/>
        </p:nvSpPr>
        <p:spPr>
          <a:xfrm>
            <a:off x="2647950" y="2571750"/>
            <a:ext cx="76200" cy="95250"/>
          </a:xfrm>
          <a:custGeom>
            <a:avLst/>
            <a:gdLst/>
            <a:ahLst/>
            <a:cxnLst/>
            <a:rect l="l" t="t" r="r" b="b"/>
            <a:pathLst>
              <a:path w="76200" h="95250">
                <a:moveTo>
                  <a:pt x="0" y="0"/>
                </a:moveTo>
                <a:lnTo>
                  <a:pt x="76200" y="47625"/>
                </a:lnTo>
                <a:lnTo>
                  <a:pt x="0" y="95250"/>
                </a:lnTo>
                <a:close/>
              </a:path>
            </a:pathLst>
          </a:custGeom>
          <a:solidFill>
            <a:srgbClr val="9B9B9B"/>
          </a:solidFill>
          <a:ln>
            <a:noFill/>
          </a:ln>
        </p:spPr>
      </p:sp>
      <p:sp>
        <p:nvSpPr>
          <p:cNvPr id="21" name="Rectangle 21"/>
          <p:cNvSpPr/>
          <p:nvPr/>
        </p:nvSpPr>
        <p:spPr>
          <a:xfrm>
            <a:off x="2781300" y="1905000"/>
            <a:ext cx="182880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2931795" y="2107882"/>
            <a:ext cx="38399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02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935605" y="2521268"/>
            <a:ext cx="49475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诊断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941320" y="2779395"/>
            <a:ext cx="7099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Diagnose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940368" y="3037999"/>
            <a:ext cx="143656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根因定位、瓶颈识别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942272" y="3530441"/>
            <a:ext cx="28642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交付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939415" y="3715702"/>
            <a:ext cx="87637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锁定 Top3</a:t>
            </a:r>
          </a:p>
        </p:txBody>
      </p:sp>
      <p:sp>
        <p:nvSpPr>
          <p:cNvPr id="28" name="Line 28"/>
          <p:cNvSpPr/>
          <p:nvPr/>
        </p:nvSpPr>
        <p:spPr>
          <a:xfrm>
            <a:off x="4705350" y="2619375"/>
            <a:ext cx="342900" cy="9525"/>
          </a:xfrm>
          <a:custGeom>
            <a:avLst/>
            <a:gdLst/>
            <a:ahLst/>
            <a:cxnLst/>
            <a:rect l="l" t="t" r="r" b="b"/>
            <a:pathLst>
              <a:path w="342900" h="9525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/>
          <a:ln w="19050">
            <a:solidFill>
              <a:srgbClr val="9B9B9B"/>
            </a:solidFill>
          </a:ln>
        </p:spPr>
      </p:sp>
      <p:sp>
        <p:nvSpPr>
          <p:cNvPr id="29" name="Polygon 29"/>
          <p:cNvSpPr/>
          <p:nvPr/>
        </p:nvSpPr>
        <p:spPr>
          <a:xfrm>
            <a:off x="5048250" y="2571750"/>
            <a:ext cx="76200" cy="95250"/>
          </a:xfrm>
          <a:custGeom>
            <a:avLst/>
            <a:gdLst/>
            <a:ahLst/>
            <a:cxnLst/>
            <a:rect l="l" t="t" r="r" b="b"/>
            <a:pathLst>
              <a:path w="76200" h="95250">
                <a:moveTo>
                  <a:pt x="0" y="0"/>
                </a:moveTo>
                <a:lnTo>
                  <a:pt x="76200" y="47625"/>
                </a:lnTo>
                <a:lnTo>
                  <a:pt x="0" y="95250"/>
                </a:lnTo>
                <a:close/>
              </a:path>
            </a:pathLst>
          </a:custGeom>
          <a:solidFill>
            <a:srgbClr val="9B9B9B"/>
          </a:solidFill>
          <a:ln>
            <a:noFill/>
          </a:ln>
        </p:spPr>
      </p:sp>
      <p:sp>
        <p:nvSpPr>
          <p:cNvPr id="30" name="Rectangle 30"/>
          <p:cNvSpPr/>
          <p:nvPr/>
        </p:nvSpPr>
        <p:spPr>
          <a:xfrm>
            <a:off x="5181600" y="1905000"/>
            <a:ext cx="182880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5332095" y="2107882"/>
            <a:ext cx="38399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03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335905" y="2521268"/>
            <a:ext cx="49475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改善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341620" y="2779395"/>
            <a:ext cx="65032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Improve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340668" y="3037999"/>
            <a:ext cx="125509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SMED/点检/看板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342572" y="3530441"/>
            <a:ext cx="28642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交付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339715" y="3715702"/>
            <a:ext cx="110810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换型 −25min</a:t>
            </a:r>
          </a:p>
        </p:txBody>
      </p:sp>
      <p:sp>
        <p:nvSpPr>
          <p:cNvPr id="37" name="Line 37"/>
          <p:cNvSpPr/>
          <p:nvPr/>
        </p:nvSpPr>
        <p:spPr>
          <a:xfrm>
            <a:off x="7105650" y="2619375"/>
            <a:ext cx="342900" cy="9525"/>
          </a:xfrm>
          <a:custGeom>
            <a:avLst/>
            <a:gdLst/>
            <a:ahLst/>
            <a:cxnLst/>
            <a:rect l="l" t="t" r="r" b="b"/>
            <a:pathLst>
              <a:path w="342900" h="9525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/>
          <a:ln w="19050">
            <a:solidFill>
              <a:srgbClr val="9B9B9B"/>
            </a:solidFill>
          </a:ln>
        </p:spPr>
      </p:sp>
      <p:sp>
        <p:nvSpPr>
          <p:cNvPr id="38" name="Polygon 38"/>
          <p:cNvSpPr/>
          <p:nvPr/>
        </p:nvSpPr>
        <p:spPr>
          <a:xfrm>
            <a:off x="7448550" y="2571750"/>
            <a:ext cx="76200" cy="95250"/>
          </a:xfrm>
          <a:custGeom>
            <a:avLst/>
            <a:gdLst/>
            <a:ahLst/>
            <a:cxnLst/>
            <a:rect l="l" t="t" r="r" b="b"/>
            <a:pathLst>
              <a:path w="76200" h="95250">
                <a:moveTo>
                  <a:pt x="0" y="0"/>
                </a:moveTo>
                <a:lnTo>
                  <a:pt x="76200" y="47625"/>
                </a:lnTo>
                <a:lnTo>
                  <a:pt x="0" y="95250"/>
                </a:lnTo>
                <a:close/>
              </a:path>
            </a:pathLst>
          </a:custGeom>
          <a:solidFill>
            <a:srgbClr val="9B9B9B"/>
          </a:solidFill>
          <a:ln>
            <a:noFill/>
          </a:ln>
        </p:spPr>
      </p:sp>
      <p:sp>
        <p:nvSpPr>
          <p:cNvPr id="39" name="Rectangle 39"/>
          <p:cNvSpPr/>
          <p:nvPr/>
        </p:nvSpPr>
        <p:spPr>
          <a:xfrm>
            <a:off x="7581900" y="1905000"/>
            <a:ext cx="182880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7732395" y="2107882"/>
            <a:ext cx="38399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04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736205" y="2521268"/>
            <a:ext cx="72498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标准化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741920" y="2779395"/>
            <a:ext cx="97399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Standardize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740968" y="3037999"/>
            <a:ext cx="106131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标准作业+培训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742872" y="3530441"/>
            <a:ext cx="28642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交付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740015" y="3715702"/>
            <a:ext cx="7675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稽核 ≥90</a:t>
            </a:r>
          </a:p>
        </p:txBody>
      </p:sp>
      <p:sp>
        <p:nvSpPr>
          <p:cNvPr id="46" name="Line 46"/>
          <p:cNvSpPr/>
          <p:nvPr/>
        </p:nvSpPr>
        <p:spPr>
          <a:xfrm>
            <a:off x="9505950" y="2619375"/>
            <a:ext cx="342900" cy="9525"/>
          </a:xfrm>
          <a:custGeom>
            <a:avLst/>
            <a:gdLst/>
            <a:ahLst/>
            <a:cxnLst/>
            <a:rect l="l" t="t" r="r" b="b"/>
            <a:pathLst>
              <a:path w="342900" h="9525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/>
          <a:ln w="19050">
            <a:solidFill>
              <a:srgbClr val="9B9B9B"/>
            </a:solidFill>
          </a:ln>
        </p:spPr>
      </p:sp>
      <p:sp>
        <p:nvSpPr>
          <p:cNvPr id="47" name="Polygon 47"/>
          <p:cNvSpPr/>
          <p:nvPr/>
        </p:nvSpPr>
        <p:spPr>
          <a:xfrm>
            <a:off x="9848850" y="2571750"/>
            <a:ext cx="76200" cy="95250"/>
          </a:xfrm>
          <a:custGeom>
            <a:avLst/>
            <a:gdLst/>
            <a:ahLst/>
            <a:cxnLst/>
            <a:rect l="l" t="t" r="r" b="b"/>
            <a:pathLst>
              <a:path w="76200" h="95250">
                <a:moveTo>
                  <a:pt x="0" y="0"/>
                </a:moveTo>
                <a:lnTo>
                  <a:pt x="76200" y="47625"/>
                </a:lnTo>
                <a:lnTo>
                  <a:pt x="0" y="95250"/>
                </a:lnTo>
                <a:close/>
              </a:path>
            </a:pathLst>
          </a:custGeom>
          <a:solidFill>
            <a:srgbClr val="9B9B9B"/>
          </a:solidFill>
          <a:ln>
            <a:noFill/>
          </a:ln>
        </p:spPr>
      </p:sp>
      <p:sp>
        <p:nvSpPr>
          <p:cNvPr id="48" name="Rectangle 48"/>
          <p:cNvSpPr/>
          <p:nvPr/>
        </p:nvSpPr>
        <p:spPr>
          <a:xfrm>
            <a:off x="9982200" y="1905000"/>
            <a:ext cx="182880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10132695" y="2107882"/>
            <a:ext cx="38399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05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136505" y="2521268"/>
            <a:ext cx="49475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复盘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0142220" y="2779395"/>
            <a:ext cx="56231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Review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0141268" y="3037999"/>
            <a:ext cx="106131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月度例会+迭代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0143172" y="3530441"/>
            <a:ext cx="28642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交付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0140315" y="3715702"/>
            <a:ext cx="80263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OEE 月升</a:t>
            </a:r>
          </a:p>
        </p:txBody>
      </p:sp>
      <p:sp>
        <p:nvSpPr>
          <p:cNvPr id="55" name="Line 55"/>
          <p:cNvSpPr/>
          <p:nvPr/>
        </p:nvSpPr>
        <p:spPr>
          <a:xfrm>
            <a:off x="10896600" y="3962400"/>
            <a:ext cx="9525" cy="247650"/>
          </a:xfrm>
          <a:custGeom>
            <a:avLst/>
            <a:gdLst/>
            <a:ahLst/>
            <a:cxnLst/>
            <a:rect l="l" t="t" r="r" b="b"/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4288">
            <a:solidFill>
              <a:srgbClr val="9B9B9B"/>
            </a:solidFill>
          </a:ln>
        </p:spPr>
      </p:sp>
      <p:sp>
        <p:nvSpPr>
          <p:cNvPr id="56" name="Line 56"/>
          <p:cNvSpPr/>
          <p:nvPr/>
        </p:nvSpPr>
        <p:spPr>
          <a:xfrm>
            <a:off x="1295400" y="4210050"/>
            <a:ext cx="9601200" cy="9525"/>
          </a:xfrm>
          <a:custGeom>
            <a:avLst/>
            <a:gdLst/>
            <a:ahLst/>
            <a:cxnLst/>
            <a:rect l="l" t="t" r="r" b="b"/>
            <a:pathLst>
              <a:path w="9601200" h="9525">
                <a:moveTo>
                  <a:pt x="9601200" y="0"/>
                </a:moveTo>
                <a:lnTo>
                  <a:pt x="0" y="0"/>
                </a:lnTo>
              </a:path>
            </a:pathLst>
          </a:custGeom>
          <a:noFill/>
          <a:ln w="14288">
            <a:solidFill>
              <a:srgbClr val="9B9B9B"/>
            </a:solidFill>
          </a:ln>
        </p:spPr>
      </p:sp>
      <p:sp>
        <p:nvSpPr>
          <p:cNvPr id="57" name="Line 57"/>
          <p:cNvSpPr/>
          <p:nvPr/>
        </p:nvSpPr>
        <p:spPr>
          <a:xfrm>
            <a:off x="1295400" y="3962400"/>
            <a:ext cx="9525" cy="247650"/>
          </a:xfrm>
          <a:custGeom>
            <a:avLst/>
            <a:gdLst/>
            <a:ahLst/>
            <a:cxnLst/>
            <a:rect l="l" t="t" r="r" b="b"/>
            <a:pathLst>
              <a:path w="9525" h="247650">
                <a:moveTo>
                  <a:pt x="0" y="247650"/>
                </a:moveTo>
                <a:lnTo>
                  <a:pt x="0" y="0"/>
                </a:lnTo>
              </a:path>
            </a:pathLst>
          </a:custGeom>
          <a:noFill/>
          <a:ln w="14288">
            <a:solidFill>
              <a:srgbClr val="9B9B9B"/>
            </a:solidFill>
          </a:ln>
        </p:spPr>
      </p:sp>
      <p:sp>
        <p:nvSpPr>
          <p:cNvPr id="58" name="Polygon 58"/>
          <p:cNvSpPr/>
          <p:nvPr/>
        </p:nvSpPr>
        <p:spPr>
          <a:xfrm>
            <a:off x="1247775" y="3962400"/>
            <a:ext cx="95250" cy="76200"/>
          </a:xfrm>
          <a:custGeom>
            <a:avLst/>
            <a:gdLst/>
            <a:ahLst/>
            <a:cxnLst/>
            <a:rect l="l" t="t" r="r" b="b"/>
            <a:pathLst>
              <a:path w="95250" h="76200">
                <a:moveTo>
                  <a:pt x="0" y="76200"/>
                </a:moveTo>
                <a:lnTo>
                  <a:pt x="47625" y="0"/>
                </a:lnTo>
                <a:lnTo>
                  <a:pt x="95250" y="76200"/>
                </a:lnTo>
                <a:close/>
              </a:path>
            </a:pathLst>
          </a:custGeom>
          <a:solidFill>
            <a:srgbClr val="9B9B9B"/>
          </a:solidFill>
          <a:ln>
            <a:noFill/>
          </a:ln>
        </p:spPr>
      </p:sp>
      <p:sp>
        <p:nvSpPr>
          <p:cNvPr id="59" name="TextBox 59"/>
          <p:cNvSpPr txBox="1"/>
          <p:nvPr/>
        </p:nvSpPr>
        <p:spPr>
          <a:xfrm>
            <a:off x="4880259" y="4306252"/>
            <a:ext cx="243148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每月复盘 · 持续迭代，避免回潮</a:t>
            </a:r>
          </a:p>
        </p:txBody>
      </p:sp>
      <p:sp>
        <p:nvSpPr>
          <p:cNvPr id="60" name="Ellipse 60"/>
          <p:cNvSpPr/>
          <p:nvPr/>
        </p:nvSpPr>
        <p:spPr>
          <a:xfrm>
            <a:off x="390525" y="5934075"/>
            <a:ext cx="57150" cy="57150"/>
          </a:xfrm>
          <a:prstGeom prst="ellipse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61" name="TextBox 61"/>
          <p:cNvSpPr txBox="1"/>
          <p:nvPr/>
        </p:nvSpPr>
        <p:spPr>
          <a:xfrm>
            <a:off x="557212" y="5898356"/>
            <a:ext cx="545856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闭环每月跑一轮：数据驱动诊断、诊断驱动改善、改善沉淀为标准。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70522" y="139541"/>
            <a:ext cx="98131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改善方案 · 决策</a:t>
            </a:r>
          </a:p>
        </p:txBody>
      </p:sp>
      <p:sp>
        <p:nvSpPr>
          <p:cNvPr id="4" name="Rectangle 4"/>
          <p:cNvSpPr/>
          <p:nvPr/>
        </p:nvSpPr>
        <p:spPr>
          <a:xfrm>
            <a:off x="11315700" y="152400"/>
            <a:ext cx="85725" cy="85725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1396288" y="131445"/>
            <a:ext cx="42614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Aham</a:t>
            </a:r>
          </a:p>
        </p:txBody>
      </p:sp>
      <p:sp>
        <p:nvSpPr>
          <p:cNvPr id="6" name="Line 6"/>
          <p:cNvSpPr/>
          <p:nvPr/>
        </p:nvSpPr>
        <p:spPr>
          <a:xfrm>
            <a:off x="381000" y="304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50520" y="483870"/>
            <a:ext cx="8158695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维持现状年损 ¥420 万，立即改善 12 周回本</a:t>
            </a:r>
          </a:p>
        </p:txBody>
      </p:sp>
      <p:sp>
        <p:nvSpPr>
          <p:cNvPr id="8" name="Line 8"/>
          <p:cNvSpPr/>
          <p:nvPr/>
        </p:nvSpPr>
        <p:spPr>
          <a:xfrm>
            <a:off x="381000" y="8953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9" name="Line 9"/>
          <p:cNvSpPr/>
          <p:nvPr/>
        </p:nvSpPr>
        <p:spPr>
          <a:xfrm>
            <a:off x="381000" y="65722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370522" y="6664166"/>
            <a:ext cx="95008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来源：内部测算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60681" y="6664166"/>
            <a:ext cx="46079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10 / 11</a:t>
            </a:r>
          </a:p>
        </p:txBody>
      </p:sp>
      <p:sp>
        <p:nvSpPr>
          <p:cNvPr id="12" name="Rectangle 12"/>
          <p:cNvSpPr/>
          <p:nvPr/>
        </p:nvSpPr>
        <p:spPr>
          <a:xfrm>
            <a:off x="6286500" y="1428750"/>
            <a:ext cx="5524500" cy="411480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645795" y="1707832"/>
            <a:ext cx="11674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维持现状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5320" y="2017395"/>
            <a:ext cx="9001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DO NOTHING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646545" y="1707832"/>
            <a:ext cx="11674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立即改善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797165" y="1772602"/>
            <a:ext cx="38480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36EE8"/>
                </a:solidFill>
                <a:latin typeface="Inter"/>
                <a:ea typeface="Microsoft YaHei"/>
                <a:cs typeface="Inter"/>
              </a:rPr>
              <a:t>推荐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810500" y="1962150"/>
            <a:ext cx="381000" cy="19050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6656070" y="2017395"/>
            <a:ext cx="65316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ACT NOW</a:t>
            </a:r>
          </a:p>
        </p:txBody>
      </p:sp>
      <p:sp>
        <p:nvSpPr>
          <p:cNvPr id="19" name="Ellipse 19"/>
          <p:cNvSpPr/>
          <p:nvPr/>
        </p:nvSpPr>
        <p:spPr>
          <a:xfrm>
            <a:off x="5848350" y="1714500"/>
            <a:ext cx="495300" cy="495300"/>
          </a:xfrm>
          <a:prstGeom prst="ellipse">
            <a:avLst/>
          </a:prstGeom>
          <a:solidFill>
            <a:srgbClr val="FFFFFF"/>
          </a:solidFill>
          <a:ln w="14288">
            <a:solidFill>
              <a:srgbClr val="E7E7E7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5956365" y="1899285"/>
            <a:ext cx="27927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VS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53415" y="2706052"/>
            <a:ext cx="75871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综合 OEE</a:t>
            </a:r>
          </a:p>
        </p:txBody>
      </p:sp>
      <p:sp>
        <p:nvSpPr>
          <p:cNvPr id="22" name="Ellipse 22"/>
          <p:cNvSpPr/>
          <p:nvPr/>
        </p:nvSpPr>
        <p:spPr>
          <a:xfrm>
            <a:off x="2686050" y="2733675"/>
            <a:ext cx="76200" cy="76200"/>
          </a:xfrm>
          <a:prstGeom prst="ellipse">
            <a:avLst/>
          </a:prstGeom>
          <a:solidFill>
            <a:srgbClr val="9E3D31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2860358" y="2681764"/>
            <a:ext cx="38231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71%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654165" y="2706052"/>
            <a:ext cx="75871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综合 OEE</a:t>
            </a:r>
          </a:p>
        </p:txBody>
      </p:sp>
      <p:sp>
        <p:nvSpPr>
          <p:cNvPr id="25" name="Ellipse 25"/>
          <p:cNvSpPr/>
          <p:nvPr/>
        </p:nvSpPr>
        <p:spPr>
          <a:xfrm>
            <a:off x="8686800" y="2733675"/>
            <a:ext cx="76200" cy="76200"/>
          </a:xfrm>
          <a:prstGeom prst="ellipse">
            <a:avLst/>
          </a:prstGeom>
          <a:solidFill>
            <a:srgbClr val="5A7A60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8861108" y="2681764"/>
            <a:ext cx="53114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85%+</a:t>
            </a:r>
          </a:p>
        </p:txBody>
      </p:sp>
      <p:sp>
        <p:nvSpPr>
          <p:cNvPr id="27" name="Line 27"/>
          <p:cNvSpPr/>
          <p:nvPr/>
        </p:nvSpPr>
        <p:spPr>
          <a:xfrm>
            <a:off x="666750" y="2990850"/>
            <a:ext cx="5048250" cy="9525"/>
          </a:xfrm>
          <a:custGeom>
            <a:avLst/>
            <a:gdLst/>
            <a:ahLst/>
            <a:cxnLst/>
            <a:rect l="l" t="t" r="r" b="b"/>
            <a:pathLst>
              <a:path w="5048250" h="9525">
                <a:moveTo>
                  <a:pt x="0" y="0"/>
                </a:moveTo>
                <a:lnTo>
                  <a:pt x="50482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28" name="Line 28"/>
          <p:cNvSpPr/>
          <p:nvPr/>
        </p:nvSpPr>
        <p:spPr>
          <a:xfrm>
            <a:off x="6667500" y="2990850"/>
            <a:ext cx="4914900" cy="9525"/>
          </a:xfrm>
          <a:custGeom>
            <a:avLst/>
            <a:gdLst/>
            <a:ahLst/>
            <a:cxnLst/>
            <a:rect l="l" t="t" r="r" b="b"/>
            <a:pathLst>
              <a:path w="4914900" h="9525">
                <a:moveTo>
                  <a:pt x="0" y="0"/>
                </a:moveTo>
                <a:lnTo>
                  <a:pt x="49149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29" name="TextBox 29"/>
          <p:cNvSpPr txBox="1"/>
          <p:nvPr/>
        </p:nvSpPr>
        <p:spPr>
          <a:xfrm>
            <a:off x="653415" y="3239452"/>
            <a:ext cx="87133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年停机损失</a:t>
            </a:r>
          </a:p>
        </p:txBody>
      </p:sp>
      <p:sp>
        <p:nvSpPr>
          <p:cNvPr id="30" name="Ellipse 30"/>
          <p:cNvSpPr/>
          <p:nvPr/>
        </p:nvSpPr>
        <p:spPr>
          <a:xfrm>
            <a:off x="2686050" y="3267075"/>
            <a:ext cx="76200" cy="76200"/>
          </a:xfrm>
          <a:prstGeom prst="ellipse">
            <a:avLst/>
          </a:prstGeom>
          <a:solidFill>
            <a:srgbClr val="9E3D31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2860358" y="3215164"/>
            <a:ext cx="80062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¥420 万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654165" y="3239452"/>
            <a:ext cx="87133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年停机损失</a:t>
            </a:r>
          </a:p>
        </p:txBody>
      </p:sp>
      <p:sp>
        <p:nvSpPr>
          <p:cNvPr id="33" name="Ellipse 33"/>
          <p:cNvSpPr/>
          <p:nvPr/>
        </p:nvSpPr>
        <p:spPr>
          <a:xfrm>
            <a:off x="8686800" y="3267075"/>
            <a:ext cx="76200" cy="76200"/>
          </a:xfrm>
          <a:prstGeom prst="ellipse">
            <a:avLst/>
          </a:prstGeom>
          <a:solidFill>
            <a:srgbClr val="5A7A60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8861108" y="3215164"/>
            <a:ext cx="107011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省 ¥340 万</a:t>
            </a:r>
          </a:p>
        </p:txBody>
      </p:sp>
      <p:sp>
        <p:nvSpPr>
          <p:cNvPr id="35" name="Line 35"/>
          <p:cNvSpPr/>
          <p:nvPr/>
        </p:nvSpPr>
        <p:spPr>
          <a:xfrm>
            <a:off x="666750" y="3524250"/>
            <a:ext cx="5048250" cy="9525"/>
          </a:xfrm>
          <a:custGeom>
            <a:avLst/>
            <a:gdLst/>
            <a:ahLst/>
            <a:cxnLst/>
            <a:rect l="l" t="t" r="r" b="b"/>
            <a:pathLst>
              <a:path w="5048250" h="9525">
                <a:moveTo>
                  <a:pt x="0" y="0"/>
                </a:moveTo>
                <a:lnTo>
                  <a:pt x="50482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36" name="Line 36"/>
          <p:cNvSpPr/>
          <p:nvPr/>
        </p:nvSpPr>
        <p:spPr>
          <a:xfrm>
            <a:off x="6667500" y="3524250"/>
            <a:ext cx="4914900" cy="9525"/>
          </a:xfrm>
          <a:custGeom>
            <a:avLst/>
            <a:gdLst/>
            <a:ahLst/>
            <a:cxnLst/>
            <a:rect l="l" t="t" r="r" b="b"/>
            <a:pathLst>
              <a:path w="4914900" h="9525">
                <a:moveTo>
                  <a:pt x="0" y="0"/>
                </a:moveTo>
                <a:lnTo>
                  <a:pt x="49149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653415" y="3772852"/>
            <a:ext cx="70240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效率趋势</a:t>
            </a:r>
          </a:p>
        </p:txBody>
      </p:sp>
      <p:sp>
        <p:nvSpPr>
          <p:cNvPr id="38" name="Ellipse 38"/>
          <p:cNvSpPr/>
          <p:nvPr/>
        </p:nvSpPr>
        <p:spPr>
          <a:xfrm>
            <a:off x="2686050" y="3800475"/>
            <a:ext cx="76200" cy="76200"/>
          </a:xfrm>
          <a:prstGeom prst="ellipse">
            <a:avLst/>
          </a:prstGeom>
          <a:solidFill>
            <a:srgbClr val="9E3D31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2860358" y="3748564"/>
            <a:ext cx="85291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持续下滑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654165" y="3772852"/>
            <a:ext cx="70240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效率趋势</a:t>
            </a:r>
          </a:p>
        </p:txBody>
      </p:sp>
      <p:sp>
        <p:nvSpPr>
          <p:cNvPr id="41" name="Ellipse 41"/>
          <p:cNvSpPr/>
          <p:nvPr/>
        </p:nvSpPr>
        <p:spPr>
          <a:xfrm>
            <a:off x="8686800" y="3800475"/>
            <a:ext cx="76200" cy="76200"/>
          </a:xfrm>
          <a:prstGeom prst="ellipse">
            <a:avLst/>
          </a:prstGeom>
          <a:solidFill>
            <a:srgbClr val="5A7A60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8861108" y="3748564"/>
            <a:ext cx="93738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12 周回本</a:t>
            </a:r>
          </a:p>
        </p:txBody>
      </p:sp>
      <p:sp>
        <p:nvSpPr>
          <p:cNvPr id="43" name="Line 43"/>
          <p:cNvSpPr/>
          <p:nvPr/>
        </p:nvSpPr>
        <p:spPr>
          <a:xfrm>
            <a:off x="666750" y="4057650"/>
            <a:ext cx="5048250" cy="9525"/>
          </a:xfrm>
          <a:custGeom>
            <a:avLst/>
            <a:gdLst/>
            <a:ahLst/>
            <a:cxnLst/>
            <a:rect l="l" t="t" r="r" b="b"/>
            <a:pathLst>
              <a:path w="5048250" h="9525">
                <a:moveTo>
                  <a:pt x="0" y="0"/>
                </a:moveTo>
                <a:lnTo>
                  <a:pt x="50482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44" name="Line 44"/>
          <p:cNvSpPr/>
          <p:nvPr/>
        </p:nvSpPr>
        <p:spPr>
          <a:xfrm>
            <a:off x="6667500" y="4057650"/>
            <a:ext cx="4914900" cy="9525"/>
          </a:xfrm>
          <a:custGeom>
            <a:avLst/>
            <a:gdLst/>
            <a:ahLst/>
            <a:cxnLst/>
            <a:rect l="l" t="t" r="r" b="b"/>
            <a:pathLst>
              <a:path w="4914900" h="9525">
                <a:moveTo>
                  <a:pt x="0" y="0"/>
                </a:moveTo>
                <a:lnTo>
                  <a:pt x="49149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45" name="TextBox 45"/>
          <p:cNvSpPr txBox="1"/>
          <p:nvPr/>
        </p:nvSpPr>
        <p:spPr>
          <a:xfrm>
            <a:off x="653415" y="4306252"/>
            <a:ext cx="70240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实施风险</a:t>
            </a:r>
          </a:p>
        </p:txBody>
      </p:sp>
      <p:sp>
        <p:nvSpPr>
          <p:cNvPr id="46" name="Ellipse 46"/>
          <p:cNvSpPr/>
          <p:nvPr/>
        </p:nvSpPr>
        <p:spPr>
          <a:xfrm>
            <a:off x="2686050" y="4333875"/>
            <a:ext cx="76200" cy="76200"/>
          </a:xfrm>
          <a:prstGeom prst="ellipse">
            <a:avLst/>
          </a:prstGeom>
          <a:solidFill>
            <a:srgbClr val="8A7333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2860358" y="4281964"/>
            <a:ext cx="85291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风险累积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654165" y="4306252"/>
            <a:ext cx="70240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实施风险</a:t>
            </a:r>
          </a:p>
        </p:txBody>
      </p:sp>
      <p:sp>
        <p:nvSpPr>
          <p:cNvPr id="49" name="Ellipse 49"/>
          <p:cNvSpPr/>
          <p:nvPr/>
        </p:nvSpPr>
        <p:spPr>
          <a:xfrm>
            <a:off x="8686800" y="4333875"/>
            <a:ext cx="76200" cy="76200"/>
          </a:xfrm>
          <a:prstGeom prst="ellipse">
            <a:avLst/>
          </a:prstGeom>
          <a:solidFill>
            <a:srgbClr val="5A7A60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8861108" y="4281964"/>
            <a:ext cx="85291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中等可控</a:t>
            </a:r>
          </a:p>
        </p:txBody>
      </p:sp>
      <p:sp>
        <p:nvSpPr>
          <p:cNvPr id="51" name="Line 51"/>
          <p:cNvSpPr/>
          <p:nvPr/>
        </p:nvSpPr>
        <p:spPr>
          <a:xfrm>
            <a:off x="666750" y="4591050"/>
            <a:ext cx="5048250" cy="9525"/>
          </a:xfrm>
          <a:custGeom>
            <a:avLst/>
            <a:gdLst/>
            <a:ahLst/>
            <a:cxnLst/>
            <a:rect l="l" t="t" r="r" b="b"/>
            <a:pathLst>
              <a:path w="5048250" h="9525">
                <a:moveTo>
                  <a:pt x="0" y="0"/>
                </a:moveTo>
                <a:lnTo>
                  <a:pt x="50482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52" name="Line 52"/>
          <p:cNvSpPr/>
          <p:nvPr/>
        </p:nvSpPr>
        <p:spPr>
          <a:xfrm>
            <a:off x="6667500" y="4591050"/>
            <a:ext cx="4914900" cy="9525"/>
          </a:xfrm>
          <a:custGeom>
            <a:avLst/>
            <a:gdLst/>
            <a:ahLst/>
            <a:cxnLst/>
            <a:rect l="l" t="t" r="r" b="b"/>
            <a:pathLst>
              <a:path w="4914900" h="9525">
                <a:moveTo>
                  <a:pt x="0" y="0"/>
                </a:moveTo>
                <a:lnTo>
                  <a:pt x="49149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53" name="TextBox 53"/>
          <p:cNvSpPr txBox="1"/>
          <p:nvPr/>
        </p:nvSpPr>
        <p:spPr>
          <a:xfrm>
            <a:off x="653415" y="4839652"/>
            <a:ext cx="7719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12 个月后</a:t>
            </a:r>
          </a:p>
        </p:txBody>
      </p:sp>
      <p:sp>
        <p:nvSpPr>
          <p:cNvPr id="54" name="Ellipse 54"/>
          <p:cNvSpPr/>
          <p:nvPr/>
        </p:nvSpPr>
        <p:spPr>
          <a:xfrm>
            <a:off x="2686050" y="4867275"/>
            <a:ext cx="76200" cy="76200"/>
          </a:xfrm>
          <a:prstGeom prst="ellipse">
            <a:avLst/>
          </a:prstGeom>
          <a:solidFill>
            <a:srgbClr val="9E3D31"/>
          </a:solidFill>
          <a:ln>
            <a:noFill/>
          </a:ln>
        </p:spPr>
      </p:sp>
      <p:sp>
        <p:nvSpPr>
          <p:cNvPr id="55" name="TextBox 55"/>
          <p:cNvSpPr txBox="1"/>
          <p:nvPr/>
        </p:nvSpPr>
        <p:spPr>
          <a:xfrm>
            <a:off x="2860358" y="4815364"/>
            <a:ext cx="105805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进一步恶化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6654165" y="4839652"/>
            <a:ext cx="7719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12 个月后</a:t>
            </a:r>
          </a:p>
        </p:txBody>
      </p:sp>
      <p:sp>
        <p:nvSpPr>
          <p:cNvPr id="57" name="Ellipse 57"/>
          <p:cNvSpPr/>
          <p:nvPr/>
        </p:nvSpPr>
        <p:spPr>
          <a:xfrm>
            <a:off x="8686800" y="4867275"/>
            <a:ext cx="76200" cy="76200"/>
          </a:xfrm>
          <a:prstGeom prst="ellipse">
            <a:avLst/>
          </a:prstGeom>
          <a:solidFill>
            <a:srgbClr val="5A7A60"/>
          </a:solidFill>
          <a:ln>
            <a:noFill/>
          </a:ln>
        </p:spPr>
      </p:sp>
      <p:sp>
        <p:nvSpPr>
          <p:cNvPr id="58" name="TextBox 58"/>
          <p:cNvSpPr txBox="1"/>
          <p:nvPr/>
        </p:nvSpPr>
        <p:spPr>
          <a:xfrm>
            <a:off x="8861108" y="4815364"/>
            <a:ext cx="126318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进入良性循环</a:t>
            </a:r>
          </a:p>
        </p:txBody>
      </p:sp>
      <p:sp>
        <p:nvSpPr>
          <p:cNvPr id="59" name="Line 59"/>
          <p:cNvSpPr/>
          <p:nvPr/>
        </p:nvSpPr>
        <p:spPr>
          <a:xfrm>
            <a:off x="666750" y="5124450"/>
            <a:ext cx="5048250" cy="9525"/>
          </a:xfrm>
          <a:custGeom>
            <a:avLst/>
            <a:gdLst/>
            <a:ahLst/>
            <a:cxnLst/>
            <a:rect l="l" t="t" r="r" b="b"/>
            <a:pathLst>
              <a:path w="5048250" h="9525">
                <a:moveTo>
                  <a:pt x="0" y="0"/>
                </a:moveTo>
                <a:lnTo>
                  <a:pt x="50482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60" name="Line 60"/>
          <p:cNvSpPr/>
          <p:nvPr/>
        </p:nvSpPr>
        <p:spPr>
          <a:xfrm>
            <a:off x="6667500" y="5124450"/>
            <a:ext cx="4914900" cy="9525"/>
          </a:xfrm>
          <a:custGeom>
            <a:avLst/>
            <a:gdLst/>
            <a:ahLst/>
            <a:cxnLst/>
            <a:rect l="l" t="t" r="r" b="b"/>
            <a:pathLst>
              <a:path w="4914900" h="9525">
                <a:moveTo>
                  <a:pt x="0" y="0"/>
                </a:moveTo>
                <a:lnTo>
                  <a:pt x="49149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61" name="Ellipse 61"/>
          <p:cNvSpPr/>
          <p:nvPr/>
        </p:nvSpPr>
        <p:spPr>
          <a:xfrm>
            <a:off x="390525" y="5934075"/>
            <a:ext cx="57150" cy="57150"/>
          </a:xfrm>
          <a:prstGeom prst="ellipse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62" name="TextBox 62"/>
          <p:cNvSpPr txBox="1"/>
          <p:nvPr/>
        </p:nvSpPr>
        <p:spPr>
          <a:xfrm>
            <a:off x="557212" y="5898356"/>
            <a:ext cx="612223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同样 12 周：要么继续亏 ¥420 万/年，要么省下 ¥340 万——选择显而易见。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68618" y="656749"/>
            <a:ext cx="146732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767676"/>
                </a:solidFill>
                <a:latin typeface="Inter"/>
                <a:ea typeface="Microsoft YaHei"/>
                <a:cs typeface="Inter"/>
              </a:rPr>
              <a:t>PART 03 — 改善方案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39090" y="2806065"/>
            <a:ext cx="5148917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5F5F5"/>
                </a:solidFill>
                <a:latin typeface="Inter"/>
                <a:ea typeface="Microsoft YaHei"/>
                <a:cs typeface="Inter"/>
              </a:rPr>
              <a:t>已经看清问题在哪，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39090" y="3472815"/>
            <a:ext cx="6274495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5F5F5"/>
                </a:solidFill>
                <a:latin typeface="Inter"/>
                <a:ea typeface="Microsoft YaHei"/>
                <a:cs typeface="Inter"/>
              </a:rPr>
              <a:t>接下来是怎么把它解决。</a:t>
            </a:r>
          </a:p>
        </p:txBody>
      </p:sp>
      <p:sp>
        <p:nvSpPr>
          <p:cNvPr id="6" name="Rectangle 6"/>
          <p:cNvSpPr/>
          <p:nvPr/>
        </p:nvSpPr>
        <p:spPr>
          <a:xfrm>
            <a:off x="400050" y="4114800"/>
            <a:ext cx="1104900" cy="28575"/>
          </a:xfrm>
          <a:prstGeom prst="rect">
            <a:avLst/>
          </a:prstGeom>
          <a:solidFill>
            <a:srgbClr val="5C8BED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363855" y="4426268"/>
            <a:ext cx="492767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A8A8A8"/>
                </a:solidFill>
                <a:latin typeface="Inter"/>
                <a:ea typeface="Microsoft YaHei"/>
                <a:cs typeface="Inter"/>
              </a:rPr>
              <a:t>从根因到闭环：方案选型、体系架构、90 天落地。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70522" y="6578441"/>
            <a:ext cx="133006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767676"/>
                </a:solidFill>
                <a:latin typeface="Inter"/>
                <a:ea typeface="Microsoft YaHei"/>
                <a:cs typeface="Inter"/>
              </a:rPr>
              <a:t>Aham · 运营改善咨询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376297" y="6578441"/>
            <a:ext cx="44518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767676"/>
                </a:solidFill>
                <a:latin typeface="JetBrains Mono"/>
                <a:ea typeface="Microsoft YaHei"/>
                <a:cs typeface="JetBrains Mono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