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jpg" ContentType="image/jpeg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893445" y="869632"/>
            <a:ext cx="64918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AHAM</a:t>
            </a:r>
          </a:p>
        </p:txBody>
      </p:sp>
      <p:sp>
        <p:nvSpPr>
          <p:cNvPr id="4" name="Line 4"/>
          <p:cNvSpPr/>
          <p:nvPr/>
        </p:nvSpPr>
        <p:spPr>
          <a:xfrm>
            <a:off x="914400" y="1238250"/>
            <a:ext cx="1181100" cy="9525"/>
          </a:xfrm>
          <a:custGeom>
            <a:avLst/>
            <a:gdLst/>
            <a:ahLst/>
            <a:cxnLst/>
            <a:rect l="l" t="t" r="r" b="b"/>
            <a:pathLst>
              <a:path w="1181100" h="9525">
                <a:moveTo>
                  <a:pt x="0" y="0"/>
                </a:moveTo>
                <a:lnTo>
                  <a:pt x="1181100" y="0"/>
                </a:lnTo>
              </a:path>
            </a:pathLst>
          </a:custGeom>
          <a:noFill/>
          <a:ln w="28575">
            <a:solidFill>
              <a:srgbClr val="1677FF"/>
            </a:solidFill>
          </a:ln>
        </p:spPr>
      </p:sp>
      <p:sp>
        <p:nvSpPr>
          <p:cNvPr id="5" name="TextBox 5"/>
          <p:cNvSpPr txBox="1"/>
          <p:nvPr/>
        </p:nvSpPr>
        <p:spPr>
          <a:xfrm>
            <a:off x="899160" y="1470660"/>
            <a:ext cx="2510409" cy="2438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200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Internal Evaluation · 2026 Q2</a:t>
            </a:r>
          </a:p>
        </p:txBody>
      </p:sp>
      <p:sp>
        <p:nvSpPr>
          <p:cNvPr id="6" name="Line 6"/>
          <p:cNvSpPr/>
          <p:nvPr/>
        </p:nvSpPr>
        <p:spPr>
          <a:xfrm>
            <a:off x="914400" y="4000500"/>
            <a:ext cx="9525" cy="1143000"/>
          </a:xfrm>
          <a:custGeom>
            <a:avLst/>
            <a:gdLst/>
            <a:ahLst/>
            <a:cxnLst/>
            <a:rect l="l" t="t" r="r" b="b"/>
            <a:pathLst>
              <a:path w="9525" h="1143000">
                <a:moveTo>
                  <a:pt x="0" y="0"/>
                </a:moveTo>
                <a:lnTo>
                  <a:pt x="0" y="1143000"/>
                </a:lnTo>
              </a:path>
            </a:pathLst>
          </a:custGeom>
          <a:noFill/>
          <a:ln w="57150">
            <a:solidFill>
              <a:srgbClr val="1677FF"/>
            </a:solidFill>
          </a:ln>
        </p:spPr>
      </p:sp>
      <p:sp>
        <p:nvSpPr>
          <p:cNvPr id="7" name="TextBox 7"/>
          <p:cNvSpPr txBox="1"/>
          <p:nvPr/>
        </p:nvSpPr>
        <p:spPr>
          <a:xfrm>
            <a:off x="1200150" y="3990975"/>
            <a:ext cx="6394085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50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AI PPT 工具选型评估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26820" y="4789170"/>
            <a:ext cx="601980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40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为内部咨询交付效率提升提供决策依据</a:t>
            </a:r>
          </a:p>
        </p:txBody>
      </p:sp>
      <p:grpSp>
        <p:nvGrpSpPr>
          <p:cNvPr id="18" name="Group 18"/>
          <p:cNvGrpSpPr/>
          <p:nvPr/>
        </p:nvGrpSpPr>
        <p:grpSpPr>
          <a:xfrm>
            <a:off x="895350" y="6858000"/>
            <a:ext cx="11116151" cy="828675"/>
            <a:chOff x="895350" y="6858000"/>
            <a:chExt cx="11116151" cy="828675"/>
          </a:xfrm>
        </p:grpSpPr>
        <p:sp>
          <p:nvSpPr>
            <p:cNvPr id="9" name="Line 9"/>
            <p:cNvSpPr/>
            <p:nvPr/>
          </p:nvSpPr>
          <p:spPr>
            <a:xfrm>
              <a:off x="914400" y="6858000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9525">
              <a:solidFill>
                <a:srgbClr val="E2E2E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01065" y="7125652"/>
              <a:ext cx="80876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88888"/>
                  </a:solidFill>
                  <a:latin typeface="Segoe UI"/>
                  <a:ea typeface="Microsoft YaHei"/>
                  <a:cs typeface="Segoe UI"/>
                </a:rPr>
                <a:t>REPORT TO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95350" y="7381875"/>
              <a:ext cx="275463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[示例客户] 交付运营委员会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520565" y="7125652"/>
              <a:ext cx="91611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88888"/>
                  </a:solidFill>
                  <a:latin typeface="Segoe UI"/>
                  <a:ea typeface="Microsoft YaHei"/>
                  <a:cs typeface="Segoe UI"/>
                </a:rPr>
                <a:t>PREPARED BY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514850" y="7381875"/>
              <a:ext cx="172497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Aham 内部评估组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140065" y="7125652"/>
              <a:ext cx="36404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88888"/>
                  </a:solidFill>
                  <a:latin typeface="Segoe UI"/>
                  <a:ea typeface="Microsoft YaHei"/>
                  <a:cs typeface="Segoe UI"/>
                </a:rPr>
                <a:t>DATE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134350" y="7381875"/>
              <a:ext cx="124301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2026-04-22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807065" y="7125652"/>
              <a:ext cx="6094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88888"/>
                  </a:solidFill>
                  <a:latin typeface="Segoe UI"/>
                  <a:ea typeface="Microsoft YaHei"/>
                  <a:cs typeface="Segoe UI"/>
                </a:rPr>
                <a:t>VERSION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801350" y="7381875"/>
              <a:ext cx="121015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v1.0 · Final</a:t>
              </a:r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6923210" y="9602152"/>
            <a:ext cx="4637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01 / 10</a:t>
            </a:r>
          </a:p>
        </p:txBody>
      </p:sp>
      <p:sp>
        <p:nvSpPr>
          <p:cNvPr id="20" name="Line 20"/>
          <p:cNvSpPr/>
          <p:nvPr/>
        </p:nvSpPr>
        <p:spPr>
          <a:xfrm>
            <a:off x="914400" y="9525000"/>
            <a:ext cx="16459200" cy="9525"/>
          </a:xfrm>
          <a:custGeom>
            <a:avLst/>
            <a:gdLst/>
            <a:ahLst/>
            <a:cxnLst/>
            <a:rect l="l" t="t" r="r" b="b"/>
            <a:pathLst>
              <a:path w="16459200" h="9525">
                <a:moveTo>
                  <a:pt x="0" y="0"/>
                </a:moveTo>
                <a:lnTo>
                  <a:pt x="16459200" y="0"/>
                </a:lnTo>
              </a:path>
            </a:pathLst>
          </a:custGeom>
          <a:noFill/>
          <a:ln w="9525">
            <a:solidFill>
              <a:srgbClr val="E2E2E2"/>
            </a:solidFill>
          </a:ln>
        </p:spPr>
      </p:sp>
      <p:sp>
        <p:nvSpPr>
          <p:cNvPr id="21" name="TextBox 21"/>
          <p:cNvSpPr txBox="1"/>
          <p:nvPr/>
        </p:nvSpPr>
        <p:spPr>
          <a:xfrm>
            <a:off x="901065" y="9602152"/>
            <a:ext cx="2395966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CONFIDENTIAL · 仅供内部评估使用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901065" y="458152"/>
            <a:ext cx="98512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02 · 现状诊断</a:t>
            </a:r>
          </a:p>
        </p:txBody>
      </p:sp>
      <p:sp>
        <p:nvSpPr>
          <p:cNvPr id="4" name="Line 4"/>
          <p:cNvSpPr/>
          <p:nvPr/>
        </p:nvSpPr>
        <p:spPr>
          <a:xfrm>
            <a:off x="914400" y="723900"/>
            <a:ext cx="16459200" cy="9525"/>
          </a:xfrm>
          <a:custGeom>
            <a:avLst/>
            <a:gdLst/>
            <a:ahLst/>
            <a:cxnLst/>
            <a:rect l="l" t="t" r="r" b="b"/>
            <a:pathLst>
              <a:path w="16459200" h="9525">
                <a:moveTo>
                  <a:pt x="0" y="0"/>
                </a:moveTo>
                <a:lnTo>
                  <a:pt x="16459200" y="0"/>
                </a:lnTo>
              </a:path>
            </a:pathLst>
          </a:custGeom>
          <a:noFill/>
          <a:ln w="9525">
            <a:solidFill>
              <a:srgbClr val="E2E2E2"/>
            </a:solidFill>
          </a:ln>
        </p:spPr>
      </p:sp>
      <p:sp>
        <p:nvSpPr>
          <p:cNvPr id="5" name="Line 5"/>
          <p:cNvSpPr/>
          <p:nvPr/>
        </p:nvSpPr>
        <p:spPr>
          <a:xfrm>
            <a:off x="914400" y="1238250"/>
            <a:ext cx="9525" cy="666750"/>
          </a:xfrm>
          <a:custGeom>
            <a:avLst/>
            <a:gdLst/>
            <a:ahLst/>
            <a:cxnLst/>
            <a:rect l="l" t="t" r="r" b="b"/>
            <a:pathLst>
              <a:path w="9525" h="666750">
                <a:moveTo>
                  <a:pt x="0" y="0"/>
                </a:moveTo>
                <a:lnTo>
                  <a:pt x="0" y="666750"/>
                </a:lnTo>
              </a:path>
            </a:pathLst>
          </a:custGeom>
          <a:noFill/>
          <a:ln w="57150">
            <a:solidFill>
              <a:srgbClr val="1677FF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1223010" y="1346835"/>
            <a:ext cx="11372193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咨询顾问 68% 的 PPT 时间花在排版对齐,仅 32% 用于内容思考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40155" y="1854518"/>
            <a:ext cx="538738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——数据来源:内部 Q1 交付时间统计,N=47 位顾问,2026-01~03</a:t>
            </a:r>
          </a:p>
        </p:txBody>
      </p:sp>
      <p:grpSp>
        <p:nvGrpSpPr>
          <p:cNvPr id="58" name="Group 58"/>
          <p:cNvGrpSpPr/>
          <p:nvPr/>
        </p:nvGrpSpPr>
        <p:grpSpPr>
          <a:xfrm>
            <a:off x="914400" y="2667000"/>
            <a:ext cx="16459200" cy="4276725"/>
            <a:chOff x="914400" y="2667000"/>
            <a:chExt cx="16459200" cy="4276725"/>
          </a:xfrm>
        </p:grpSpPr>
        <p:sp>
          <p:nvSpPr>
            <p:cNvPr id="8" name="Rectangle 8"/>
            <p:cNvSpPr/>
            <p:nvPr/>
          </p:nvSpPr>
          <p:spPr>
            <a:xfrm>
              <a:off x="914400" y="2667000"/>
              <a:ext cx="16459200" cy="5334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202055" y="2864168"/>
              <a:ext cx="4286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环节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469255" y="2864168"/>
              <a:ext cx="173978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平均耗时(小时/份)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088755" y="2864168"/>
              <a:ext cx="4286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占比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374755" y="2864168"/>
              <a:ext cx="202568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顾问自评"创造价值"度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375255" y="2864168"/>
              <a:ext cx="110885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可 AI 替代性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02055" y="3549968"/>
              <a:ext cx="18383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内容构思 · 论点提炼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469255" y="3549968"/>
              <a:ext cx="35961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5.2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088755" y="3549968"/>
              <a:ext cx="52720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18.6%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11391900" y="3524250"/>
              <a:ext cx="952500" cy="228600"/>
            </a:xfrm>
            <a:prstGeom prst="rect">
              <a:avLst/>
            </a:prstGeom>
            <a:solidFill>
              <a:srgbClr val="EDF3EE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1471910" y="3566160"/>
              <a:ext cx="3547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E6B3E"/>
                  </a:solidFill>
                  <a:latin typeface="Segoe UI"/>
                  <a:ea typeface="Microsoft YaHei"/>
                  <a:cs typeface="Segoe UI"/>
                </a:rPr>
                <a:t>● 高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5375255" y="3549968"/>
              <a:ext cx="4286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55555"/>
                  </a:solidFill>
                  <a:latin typeface="Segoe UI"/>
                  <a:ea typeface="Microsoft YaHei"/>
                  <a:cs typeface="Segoe UI"/>
                </a:rPr>
                <a:t>部分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914400" y="3886200"/>
              <a:ext cx="16459200" cy="9525"/>
            </a:xfrm>
            <a:custGeom>
              <a:avLst/>
              <a:gdLst/>
              <a:ahLst/>
              <a:cxnLst/>
              <a:rect l="l" t="t" r="r" b="b"/>
              <a:pathLst>
                <a:path w="16459200" h="9525">
                  <a:moveTo>
                    <a:pt x="0" y="0"/>
                  </a:moveTo>
                  <a:lnTo>
                    <a:pt x="16459200" y="0"/>
                  </a:lnTo>
                </a:path>
              </a:pathLst>
            </a:custGeom>
            <a:noFill/>
            <a:ln w="9525">
              <a:solidFill>
                <a:srgbClr val="E2E2E2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202055" y="4121468"/>
              <a:ext cx="203554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数据查找 · 证据链组织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469255" y="4121468"/>
              <a:ext cx="35961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3.8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088755" y="4121468"/>
              <a:ext cx="52720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13.6%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11391900" y="4095750"/>
              <a:ext cx="952500" cy="228600"/>
            </a:xfrm>
            <a:prstGeom prst="rect">
              <a:avLst/>
            </a:prstGeom>
            <a:solidFill>
              <a:srgbClr val="EDF3EE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1471910" y="4137660"/>
              <a:ext cx="3547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2E6B3E"/>
                  </a:solidFill>
                  <a:latin typeface="Segoe UI"/>
                  <a:ea typeface="Microsoft YaHei"/>
                  <a:cs typeface="Segoe UI"/>
                </a:rPr>
                <a:t>● 高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5375255" y="4121468"/>
              <a:ext cx="42862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55555"/>
                  </a:solidFill>
                  <a:latin typeface="Segoe UI"/>
                  <a:ea typeface="Microsoft YaHei"/>
                  <a:cs typeface="Segoe UI"/>
                </a:rPr>
                <a:t>部分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914400" y="4457700"/>
              <a:ext cx="16459200" cy="9525"/>
            </a:xfrm>
            <a:custGeom>
              <a:avLst/>
              <a:gdLst/>
              <a:ahLst/>
              <a:cxnLst/>
              <a:rect l="l" t="t" r="r" b="b"/>
              <a:pathLst>
                <a:path w="16459200" h="9525">
                  <a:moveTo>
                    <a:pt x="0" y="0"/>
                  </a:moveTo>
                  <a:lnTo>
                    <a:pt x="16459200" y="0"/>
                  </a:lnTo>
                </a:path>
              </a:pathLst>
            </a:custGeom>
            <a:noFill/>
            <a:ln w="9525">
              <a:solidFill>
                <a:srgbClr val="E2E2E2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914400" y="4572000"/>
              <a:ext cx="16459200" cy="5715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202055" y="4788218"/>
              <a:ext cx="192857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版式排版 · 对齐调整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465445" y="4755832"/>
              <a:ext cx="47206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9C2B2B"/>
                  </a:solidFill>
                  <a:latin typeface="Segoe UI"/>
                  <a:ea typeface="Microsoft YaHei"/>
                  <a:cs typeface="Segoe UI"/>
                </a:rPr>
                <a:t>11.4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9084945" y="4755832"/>
              <a:ext cx="73774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9C2B2B"/>
                  </a:solidFill>
                  <a:latin typeface="Segoe UI"/>
                  <a:ea typeface="Microsoft YaHei"/>
                  <a:cs typeface="Segoe UI"/>
                </a:rPr>
                <a:t>40.7%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11391900" y="4762500"/>
              <a:ext cx="952500" cy="228600"/>
            </a:xfrm>
            <a:prstGeom prst="rect">
              <a:avLst/>
            </a:prstGeom>
            <a:solidFill>
              <a:srgbClr val="F5E6E6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1471910" y="4804410"/>
              <a:ext cx="3547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9C2B2B"/>
                  </a:solidFill>
                  <a:latin typeface="Segoe UI"/>
                  <a:ea typeface="Microsoft YaHei"/>
                  <a:cs typeface="Segoe UI"/>
                </a:rPr>
                <a:t>× 低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5375255" y="4788218"/>
              <a:ext cx="24131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高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914400" y="5143500"/>
              <a:ext cx="16459200" cy="9525"/>
            </a:xfrm>
            <a:custGeom>
              <a:avLst/>
              <a:gdLst/>
              <a:ahLst/>
              <a:cxnLst/>
              <a:rect l="l" t="t" r="r" b="b"/>
              <a:pathLst>
                <a:path w="16459200" h="9525">
                  <a:moveTo>
                    <a:pt x="0" y="0"/>
                  </a:moveTo>
                  <a:lnTo>
                    <a:pt x="16459200" y="0"/>
                  </a:lnTo>
                </a:path>
              </a:pathLst>
            </a:custGeom>
            <a:noFill/>
            <a:ln w="9525">
              <a:solidFill>
                <a:srgbClr val="E2E2E2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202055" y="5378768"/>
              <a:ext cx="18383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视觉呈现 · 图表绘制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469255" y="5378768"/>
              <a:ext cx="35961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4.6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088755" y="5378768"/>
              <a:ext cx="52720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16.4%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11391900" y="5353050"/>
              <a:ext cx="952500" cy="228600"/>
            </a:xfrm>
            <a:prstGeom prst="rect">
              <a:avLst/>
            </a:prstGeom>
            <a:solidFill>
              <a:srgbClr val="F7EFE0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1471910" y="5394960"/>
              <a:ext cx="3547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5A00"/>
                  </a:solidFill>
                  <a:latin typeface="Segoe UI"/>
                  <a:ea typeface="Microsoft YaHei"/>
                  <a:cs typeface="Segoe UI"/>
                </a:rPr>
                <a:t>▲ 中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5375255" y="5378768"/>
              <a:ext cx="23145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55555"/>
                  </a:solidFill>
                  <a:latin typeface="Segoe UI"/>
                  <a:ea typeface="Microsoft YaHei"/>
                  <a:cs typeface="Segoe UI"/>
                </a:rPr>
                <a:t>高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914400" y="5715000"/>
              <a:ext cx="16459200" cy="9525"/>
            </a:xfrm>
            <a:custGeom>
              <a:avLst/>
              <a:gdLst/>
              <a:ahLst/>
              <a:cxnLst/>
              <a:rect l="l" t="t" r="r" b="b"/>
              <a:pathLst>
                <a:path w="16459200" h="9525">
                  <a:moveTo>
                    <a:pt x="0" y="0"/>
                  </a:moveTo>
                  <a:lnTo>
                    <a:pt x="16459200" y="0"/>
                  </a:lnTo>
                </a:path>
              </a:pathLst>
            </a:custGeom>
            <a:noFill/>
            <a:ln w="9525">
              <a:solidFill>
                <a:srgbClr val="E2E2E2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202055" y="5950268"/>
              <a:ext cx="183837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文字润色 · 反复修订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5469255" y="5950268"/>
              <a:ext cx="35961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3.0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088755" y="5950268"/>
              <a:ext cx="527209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10.7%</a:t>
              </a: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11391900" y="5924550"/>
              <a:ext cx="952500" cy="228600"/>
            </a:xfrm>
            <a:prstGeom prst="rect">
              <a:avLst/>
            </a:prstGeom>
            <a:solidFill>
              <a:srgbClr val="F7EFE0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11471910" y="5966460"/>
              <a:ext cx="3547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A5A00"/>
                  </a:solidFill>
                  <a:latin typeface="Segoe UI"/>
                  <a:ea typeface="Microsoft YaHei"/>
                  <a:cs typeface="Segoe UI"/>
                </a:rPr>
                <a:t>▲ 中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5375255" y="5950268"/>
              <a:ext cx="23145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555555"/>
                  </a:solidFill>
                  <a:latin typeface="Segoe UI"/>
                  <a:ea typeface="Microsoft YaHei"/>
                  <a:cs typeface="Segoe UI"/>
                </a:rPr>
                <a:t>中</a:t>
              </a:r>
            </a:p>
          </p:txBody>
        </p:sp>
        <p:sp>
          <p:nvSpPr>
            <p:cNvPr id="49" name="Line 49"/>
            <p:cNvSpPr/>
            <p:nvPr/>
          </p:nvSpPr>
          <p:spPr>
            <a:xfrm>
              <a:off x="914400" y="6286500"/>
              <a:ext cx="16459200" cy="9525"/>
            </a:xfrm>
            <a:custGeom>
              <a:avLst/>
              <a:gdLst/>
              <a:ahLst/>
              <a:cxnLst/>
              <a:rect l="l" t="t" r="r" b="b"/>
              <a:pathLst>
                <a:path w="16459200" h="9525">
                  <a:moveTo>
                    <a:pt x="0" y="0"/>
                  </a:moveTo>
                  <a:lnTo>
                    <a:pt x="16459200" y="0"/>
                  </a:lnTo>
                </a:path>
              </a:pathLst>
            </a:custGeom>
            <a:noFill/>
            <a:ln w="9525">
              <a:solidFill>
                <a:srgbClr val="E2E2E2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914400" y="6400800"/>
              <a:ext cx="16459200" cy="533400"/>
            </a:xfrm>
            <a:prstGeom prst="rect">
              <a:avLst/>
            </a:prstGeom>
            <a:solidFill>
              <a:srgbClr val="FAFAFA"/>
            </a:solidFill>
            <a:ln>
              <a:noFill/>
            </a:ln>
          </p:spPr>
        </p:sp>
        <p:sp>
          <p:nvSpPr>
            <p:cNvPr id="51" name="Line 51"/>
            <p:cNvSpPr/>
            <p:nvPr/>
          </p:nvSpPr>
          <p:spPr>
            <a:xfrm>
              <a:off x="914400" y="6400800"/>
              <a:ext cx="16459200" cy="9525"/>
            </a:xfrm>
            <a:custGeom>
              <a:avLst/>
              <a:gdLst/>
              <a:ahLst/>
              <a:cxnLst/>
              <a:rect l="l" t="t" r="r" b="b"/>
              <a:pathLst>
                <a:path w="16459200" h="9525">
                  <a:moveTo>
                    <a:pt x="0" y="0"/>
                  </a:moveTo>
                  <a:lnTo>
                    <a:pt x="16459200" y="0"/>
                  </a:lnTo>
                </a:path>
              </a:pathLst>
            </a:custGeom>
            <a:noFill/>
            <a:ln w="19050">
              <a:solidFill>
                <a:srgbClr val="1A1A1A"/>
              </a:solidFill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202055" y="6597968"/>
              <a:ext cx="44834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合计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5469255" y="6597968"/>
              <a:ext cx="48974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28.0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088755" y="6597968"/>
              <a:ext cx="43799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100%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1376660" y="6614160"/>
              <a:ext cx="12687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55555"/>
                  </a:solidFill>
                  <a:latin typeface="Segoe UI"/>
                  <a:ea typeface="Microsoft YaHei"/>
                  <a:cs typeface="Segoe UI"/>
                </a:rPr>
                <a:t>—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5377160" y="6614160"/>
              <a:ext cx="12687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55555"/>
                  </a:solidFill>
                  <a:latin typeface="Segoe UI"/>
                  <a:ea typeface="Microsoft YaHei"/>
                  <a:cs typeface="Segoe UI"/>
                </a:rPr>
                <a:t>—</a:t>
              </a:r>
            </a:p>
          </p:txBody>
        </p:sp>
        <p:sp>
          <p:nvSpPr>
            <p:cNvPr id="57" name="Line 57"/>
            <p:cNvSpPr/>
            <p:nvPr/>
          </p:nvSpPr>
          <p:spPr>
            <a:xfrm>
              <a:off x="914400" y="6934200"/>
              <a:ext cx="16459200" cy="9525"/>
            </a:xfrm>
            <a:custGeom>
              <a:avLst/>
              <a:gdLst/>
              <a:ahLst/>
              <a:cxnLst/>
              <a:rect l="l" t="t" r="r" b="b"/>
              <a:pathLst>
                <a:path w="16459200" h="9525">
                  <a:moveTo>
                    <a:pt x="0" y="0"/>
                  </a:moveTo>
                  <a:lnTo>
                    <a:pt x="16459200" y="0"/>
                  </a:lnTo>
                </a:path>
              </a:pathLst>
            </a:custGeom>
            <a:noFill/>
            <a:ln w="19050">
              <a:solidFill>
                <a:srgbClr val="1A1A1A"/>
              </a:solidFill>
            </a:ln>
          </p:spPr>
        </p:sp>
      </p:grpSp>
      <p:grpSp>
        <p:nvGrpSpPr>
          <p:cNvPr id="62" name="Group 62"/>
          <p:cNvGrpSpPr/>
          <p:nvPr/>
        </p:nvGrpSpPr>
        <p:grpSpPr>
          <a:xfrm>
            <a:off x="914400" y="7810500"/>
            <a:ext cx="9941242" cy="762000"/>
            <a:chOff x="914400" y="7810500"/>
            <a:chExt cx="9941242" cy="762000"/>
          </a:xfrm>
        </p:grpSpPr>
        <p:sp>
          <p:nvSpPr>
            <p:cNvPr id="59" name="Rectangle 59"/>
            <p:cNvSpPr/>
            <p:nvPr/>
          </p:nvSpPr>
          <p:spPr>
            <a:xfrm>
              <a:off x="914400" y="7810500"/>
              <a:ext cx="76200" cy="762000"/>
            </a:xfrm>
            <a:prstGeom prst="rect">
              <a:avLst/>
            </a:prstGeom>
            <a:solidFill>
              <a:srgbClr val="1677FF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205865" y="7963852"/>
              <a:ext cx="83943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88888"/>
                  </a:solidFill>
                  <a:latin typeface="Segoe UI"/>
                  <a:ea typeface="Microsoft YaHei"/>
                  <a:cs typeface="Segoe UI"/>
                </a:rPr>
                <a:t>KEY INSIGHT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200150" y="8220075"/>
              <a:ext cx="9655492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排版对齐 (40.7%) + 图表绘制 (16.4%) + 文字润色 (10.7%) = 67.8% 的时间可通过 AI 工具显著压缩</a:t>
              </a:r>
            </a:p>
          </p:txBody>
        </p:sp>
      </p:grpSp>
      <p:sp>
        <p:nvSpPr>
          <p:cNvPr id="63" name="Line 63"/>
          <p:cNvSpPr/>
          <p:nvPr/>
        </p:nvSpPr>
        <p:spPr>
          <a:xfrm>
            <a:off x="914400" y="9525000"/>
            <a:ext cx="16459200" cy="9525"/>
          </a:xfrm>
          <a:custGeom>
            <a:avLst/>
            <a:gdLst/>
            <a:ahLst/>
            <a:cxnLst/>
            <a:rect l="l" t="t" r="r" b="b"/>
            <a:pathLst>
              <a:path w="16459200" h="9525">
                <a:moveTo>
                  <a:pt x="0" y="0"/>
                </a:moveTo>
                <a:lnTo>
                  <a:pt x="16459200" y="0"/>
                </a:lnTo>
              </a:path>
            </a:pathLst>
          </a:custGeom>
          <a:noFill/>
          <a:ln w="9525">
            <a:solidFill>
              <a:srgbClr val="E2E2E2"/>
            </a:solidFill>
          </a:ln>
        </p:spPr>
      </p:sp>
      <p:sp>
        <p:nvSpPr>
          <p:cNvPr id="64" name="TextBox 64"/>
          <p:cNvSpPr txBox="1"/>
          <p:nvPr/>
        </p:nvSpPr>
        <p:spPr>
          <a:xfrm>
            <a:off x="901065" y="9602152"/>
            <a:ext cx="31243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AHAM · Internal Evaluation · CONFIDENTIAL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16884872" y="9602152"/>
            <a:ext cx="5020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901065" y="458152"/>
            <a:ext cx="129182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03 · 流程差异分析</a:t>
            </a:r>
          </a:p>
        </p:txBody>
      </p:sp>
      <p:sp>
        <p:nvSpPr>
          <p:cNvPr id="4" name="Line 4"/>
          <p:cNvSpPr/>
          <p:nvPr/>
        </p:nvSpPr>
        <p:spPr>
          <a:xfrm>
            <a:off x="914400" y="723900"/>
            <a:ext cx="16459200" cy="9525"/>
          </a:xfrm>
          <a:custGeom>
            <a:avLst/>
            <a:gdLst/>
            <a:ahLst/>
            <a:cxnLst/>
            <a:rect l="l" t="t" r="r" b="b"/>
            <a:pathLst>
              <a:path w="16459200" h="9525">
                <a:moveTo>
                  <a:pt x="0" y="0"/>
                </a:moveTo>
                <a:lnTo>
                  <a:pt x="16459200" y="0"/>
                </a:lnTo>
              </a:path>
            </a:pathLst>
          </a:custGeom>
          <a:noFill/>
          <a:ln w="9525">
            <a:solidFill>
              <a:srgbClr val="E2E2E2"/>
            </a:solidFill>
          </a:ln>
        </p:spPr>
      </p:sp>
      <p:sp>
        <p:nvSpPr>
          <p:cNvPr id="5" name="Line 5"/>
          <p:cNvSpPr/>
          <p:nvPr/>
        </p:nvSpPr>
        <p:spPr>
          <a:xfrm>
            <a:off x="914400" y="1238250"/>
            <a:ext cx="9525" cy="666750"/>
          </a:xfrm>
          <a:custGeom>
            <a:avLst/>
            <a:gdLst/>
            <a:ahLst/>
            <a:cxnLst/>
            <a:rect l="l" t="t" r="r" b="b"/>
            <a:pathLst>
              <a:path w="9525" h="666750">
                <a:moveTo>
                  <a:pt x="0" y="0"/>
                </a:moveTo>
                <a:lnTo>
                  <a:pt x="0" y="666750"/>
                </a:lnTo>
              </a:path>
            </a:pathLst>
          </a:custGeom>
          <a:noFill/>
          <a:ln w="57150">
            <a:solidFill>
              <a:srgbClr val="1677FF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1223010" y="1346835"/>
            <a:ext cx="1309050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Aham 将"反复对齐→回到内容→再对齐"的循环,替换为单向八阶段流水线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40155" y="1854518"/>
            <a:ext cx="392834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——两种流程的实质区别:"是否允许反复回退"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899160" y="2727960"/>
            <a:ext cx="15636240" cy="2134552"/>
            <a:chOff x="899160" y="2727960"/>
            <a:chExt cx="15636240" cy="2134552"/>
          </a:xfrm>
        </p:grpSpPr>
        <p:sp>
          <p:nvSpPr>
            <p:cNvPr id="8" name="TextBox 8"/>
            <p:cNvSpPr txBox="1"/>
            <p:nvPr/>
          </p:nvSpPr>
          <p:spPr>
            <a:xfrm>
              <a:off x="899160" y="2727960"/>
              <a:ext cx="310629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88888"/>
                  </a:solidFill>
                  <a:latin typeface="Segoe UI"/>
                  <a:ea typeface="Microsoft YaHei"/>
                  <a:cs typeface="Segoe UI"/>
                </a:rPr>
                <a:t>传统流程 · 平均 28 小时/份 · 反复回退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914400" y="3009900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9525">
              <a:solidFill>
                <a:srgbClr val="888888"/>
              </a:solidFill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914400" y="3333750"/>
              <a:ext cx="15621000" cy="762000"/>
              <a:chOff x="914400" y="3333750"/>
              <a:chExt cx="15621000" cy="76200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914400" y="3333750"/>
                <a:ext cx="2667000" cy="762000"/>
              </a:xfrm>
              <a:prstGeom prst="rect">
                <a:avLst/>
              </a:prstGeom>
              <a:solidFill>
                <a:srgbClr val="FAFAFA"/>
              </a:solidFill>
              <a:ln w="9525">
                <a:solidFill>
                  <a:srgbClr val="E2E2E2"/>
                </a:solidFill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1882140" y="3537585"/>
                <a:ext cx="73152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333333"/>
                    </a:solidFill>
                    <a:latin typeface="Segoe UI"/>
                    <a:ea typeface="Microsoft YaHei"/>
                    <a:cs typeface="Segoe UI"/>
                  </a:rPr>
                  <a:t>构思大纲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2108049" y="3791902"/>
                <a:ext cx="27970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888888"/>
                    </a:solidFill>
                    <a:latin typeface="Segoe UI"/>
                    <a:ea typeface="Microsoft YaHei"/>
                    <a:cs typeface="Segoe UI"/>
                  </a:rPr>
                  <a:t>~4h</a:t>
                </a:r>
              </a:p>
            </p:txBody>
          </p:sp>
          <p:sp>
            <p:nvSpPr>
              <p:cNvPr id="13" name="Freeform 13"/>
              <p:cNvSpPr/>
              <p:nvPr/>
            </p:nvSpPr>
            <p:spPr>
              <a:xfrm>
                <a:off x="3629025" y="3714750"/>
                <a:ext cx="428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28625" h="9525">
                    <a:moveTo>
                      <a:pt x="0" y="0"/>
                    </a:moveTo>
                    <a:lnTo>
                      <a:pt x="428625" y="0"/>
                    </a:lnTo>
                  </a:path>
                </a:pathLst>
              </a:custGeom>
              <a:noFill/>
              <a:ln w="14288">
                <a:solidFill>
                  <a:srgbClr val="555555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3981450" y="3657600"/>
                <a:ext cx="762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14300">
                    <a:moveTo>
                      <a:pt x="0" y="0"/>
                    </a:moveTo>
                    <a:lnTo>
                      <a:pt x="76200" y="57150"/>
                    </a:lnTo>
                    <a:lnTo>
                      <a:pt x="0" y="114300"/>
                    </a:lnTo>
                  </a:path>
                </a:pathLst>
              </a:custGeom>
              <a:noFill/>
              <a:ln w="14288">
                <a:solidFill>
                  <a:srgbClr val="555555"/>
                </a:solidFill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4152900" y="3333750"/>
                <a:ext cx="2667000" cy="762000"/>
              </a:xfrm>
              <a:prstGeom prst="rect">
                <a:avLst/>
              </a:prstGeom>
              <a:solidFill>
                <a:srgbClr val="FAFAFA"/>
              </a:solidFill>
              <a:ln w="9525">
                <a:solidFill>
                  <a:srgbClr val="E2E2E2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5033010" y="3537585"/>
                <a:ext cx="9067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333333"/>
                    </a:solidFill>
                    <a:latin typeface="Segoe UI"/>
                    <a:ea typeface="Microsoft YaHei"/>
                    <a:cs typeface="Segoe UI"/>
                  </a:rPr>
                  <a:t>找素材数据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5346549" y="3791902"/>
                <a:ext cx="27970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888888"/>
                    </a:solidFill>
                    <a:latin typeface="Segoe UI"/>
                    <a:ea typeface="Microsoft YaHei"/>
                    <a:cs typeface="Segoe UI"/>
                  </a:rPr>
                  <a:t>~5h</a:t>
                </a:r>
              </a:p>
            </p:txBody>
          </p:sp>
          <p:sp>
            <p:nvSpPr>
              <p:cNvPr id="18" name="Freeform 18"/>
              <p:cNvSpPr/>
              <p:nvPr/>
            </p:nvSpPr>
            <p:spPr>
              <a:xfrm>
                <a:off x="6867525" y="3714750"/>
                <a:ext cx="428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28625" h="9525">
                    <a:moveTo>
                      <a:pt x="0" y="0"/>
                    </a:moveTo>
                    <a:lnTo>
                      <a:pt x="428625" y="0"/>
                    </a:lnTo>
                  </a:path>
                </a:pathLst>
              </a:custGeom>
              <a:noFill/>
              <a:ln w="14288">
                <a:solidFill>
                  <a:srgbClr val="555555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7219950" y="3657600"/>
                <a:ext cx="762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14300">
                    <a:moveTo>
                      <a:pt x="0" y="0"/>
                    </a:moveTo>
                    <a:lnTo>
                      <a:pt x="76200" y="57150"/>
                    </a:lnTo>
                    <a:lnTo>
                      <a:pt x="0" y="114300"/>
                    </a:lnTo>
                  </a:path>
                </a:pathLst>
              </a:custGeom>
              <a:noFill/>
              <a:ln w="14288">
                <a:solidFill>
                  <a:srgbClr val="555555"/>
                </a:solidFill>
              </a:ln>
            </p:spPr>
          </p:sp>
          <p:sp>
            <p:nvSpPr>
              <p:cNvPr id="20" name="Rectangle 20"/>
              <p:cNvSpPr/>
              <p:nvPr/>
            </p:nvSpPr>
            <p:spPr>
              <a:xfrm>
                <a:off x="7391400" y="3333750"/>
                <a:ext cx="2667000" cy="762000"/>
              </a:xfrm>
              <a:prstGeom prst="rect">
                <a:avLst/>
              </a:prstGeom>
              <a:solidFill>
                <a:srgbClr val="F5E6E6"/>
              </a:solidFill>
              <a:ln w="9525">
                <a:solidFill>
                  <a:srgbClr val="9C2B2B"/>
                </a:solidFill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8258366" y="3537585"/>
                <a:ext cx="93306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排版 · 对齐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8574698" y="3791902"/>
                <a:ext cx="30040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9C2B2B"/>
                    </a:solidFill>
                    <a:latin typeface="Segoe UI"/>
                    <a:ea typeface="Microsoft YaHei"/>
                    <a:cs typeface="Segoe UI"/>
                  </a:rPr>
                  <a:t>~11h</a:t>
                </a:r>
              </a:p>
            </p:txBody>
          </p:sp>
          <p:sp>
            <p:nvSpPr>
              <p:cNvPr id="23" name="Freeform 23"/>
              <p:cNvSpPr/>
              <p:nvPr/>
            </p:nvSpPr>
            <p:spPr>
              <a:xfrm>
                <a:off x="10106025" y="3714750"/>
                <a:ext cx="428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28625" h="9525">
                    <a:moveTo>
                      <a:pt x="0" y="0"/>
                    </a:moveTo>
                    <a:lnTo>
                      <a:pt x="428625" y="0"/>
                    </a:lnTo>
                  </a:path>
                </a:pathLst>
              </a:custGeom>
              <a:noFill/>
              <a:ln w="14288">
                <a:solidFill>
                  <a:srgbClr val="555555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10458450" y="3657600"/>
                <a:ext cx="762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14300">
                    <a:moveTo>
                      <a:pt x="0" y="0"/>
                    </a:moveTo>
                    <a:lnTo>
                      <a:pt x="76200" y="57150"/>
                    </a:lnTo>
                    <a:lnTo>
                      <a:pt x="0" y="114300"/>
                    </a:lnTo>
                  </a:path>
                </a:pathLst>
              </a:custGeom>
              <a:noFill/>
              <a:ln w="14288">
                <a:solidFill>
                  <a:srgbClr val="555555"/>
                </a:solidFill>
              </a:ln>
            </p:spPr>
          </p:sp>
          <p:sp>
            <p:nvSpPr>
              <p:cNvPr id="25" name="Rectangle 25"/>
              <p:cNvSpPr/>
              <p:nvPr/>
            </p:nvSpPr>
            <p:spPr>
              <a:xfrm>
                <a:off x="10629900" y="3333750"/>
                <a:ext cx="2667000" cy="762000"/>
              </a:xfrm>
              <a:prstGeom prst="rect">
                <a:avLst/>
              </a:prstGeom>
              <a:solidFill>
                <a:srgbClr val="F7EFE0"/>
              </a:solidFill>
              <a:ln w="9525">
                <a:solidFill>
                  <a:srgbClr val="8A5A00"/>
                </a:solidFill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11597640" y="3537585"/>
                <a:ext cx="73152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调整图表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1728662" y="3791902"/>
                <a:ext cx="46947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8A5A00"/>
                    </a:solidFill>
                    <a:latin typeface="Segoe UI"/>
                    <a:ea typeface="Microsoft YaHei"/>
                    <a:cs typeface="Segoe UI"/>
                  </a:rPr>
                  <a:t>~4.6h</a:t>
                </a:r>
              </a:p>
            </p:txBody>
          </p:sp>
          <p:sp>
            <p:nvSpPr>
              <p:cNvPr id="28" name="Freeform 28"/>
              <p:cNvSpPr/>
              <p:nvPr/>
            </p:nvSpPr>
            <p:spPr>
              <a:xfrm>
                <a:off x="13344525" y="3714750"/>
                <a:ext cx="4286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28625" h="9525">
                    <a:moveTo>
                      <a:pt x="0" y="0"/>
                    </a:moveTo>
                    <a:lnTo>
                      <a:pt x="428625" y="0"/>
                    </a:lnTo>
                  </a:path>
                </a:pathLst>
              </a:custGeom>
              <a:noFill/>
              <a:ln w="14288">
                <a:solidFill>
                  <a:srgbClr val="555555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13696950" y="3657600"/>
                <a:ext cx="762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14300">
                    <a:moveTo>
                      <a:pt x="0" y="0"/>
                    </a:moveTo>
                    <a:lnTo>
                      <a:pt x="76200" y="57150"/>
                    </a:lnTo>
                    <a:lnTo>
                      <a:pt x="0" y="114300"/>
                    </a:lnTo>
                  </a:path>
                </a:pathLst>
              </a:custGeom>
              <a:noFill/>
              <a:ln w="14288">
                <a:solidFill>
                  <a:srgbClr val="555555"/>
                </a:solidFill>
              </a:ln>
            </p:spPr>
          </p:sp>
          <p:sp>
            <p:nvSpPr>
              <p:cNvPr id="30" name="Rectangle 30"/>
              <p:cNvSpPr/>
              <p:nvPr/>
            </p:nvSpPr>
            <p:spPr>
              <a:xfrm>
                <a:off x="13868400" y="3333750"/>
                <a:ext cx="2667000" cy="762000"/>
              </a:xfrm>
              <a:prstGeom prst="rect">
                <a:avLst/>
              </a:prstGeom>
              <a:solidFill>
                <a:srgbClr val="FAFAFA"/>
              </a:solidFill>
              <a:ln w="9525">
                <a:solidFill>
                  <a:srgbClr val="E2E2E2"/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14735366" y="3537585"/>
                <a:ext cx="93306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333333"/>
                    </a:solidFill>
                    <a:latin typeface="Segoe UI"/>
                    <a:ea typeface="Microsoft YaHei"/>
                    <a:cs typeface="Segoe UI"/>
                  </a:rPr>
                  <a:t>润色 · 交付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5062049" y="3791902"/>
                <a:ext cx="27970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888888"/>
                    </a:solidFill>
                    <a:latin typeface="Segoe UI"/>
                    <a:ea typeface="Microsoft YaHei"/>
                    <a:cs typeface="Segoe UI"/>
                  </a:rPr>
                  <a:t>~3h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2209800" y="4171950"/>
              <a:ext cx="6515100" cy="690562"/>
              <a:chOff x="2209800" y="4171950"/>
              <a:chExt cx="6515100" cy="690562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2247900" y="4191000"/>
                <a:ext cx="64770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6477000" h="381000">
                    <a:moveTo>
                      <a:pt x="6477000" y="0"/>
                    </a:moveTo>
                    <a:cubicBezTo>
                      <a:pt x="6477000" y="254000"/>
                      <a:pt x="5397500" y="381000"/>
                      <a:pt x="3238500" y="381000"/>
                    </a:cubicBezTo>
                    <a:cubicBezTo>
                      <a:pt x="3238500" y="381000"/>
                      <a:pt x="2159000" y="381000"/>
                      <a:pt x="0" y="381000"/>
                    </a:cubicBezTo>
                    <a:cubicBezTo>
                      <a:pt x="0" y="381000"/>
                      <a:pt x="0" y="254000"/>
                      <a:pt x="0" y="0"/>
                    </a:cubicBezTo>
                  </a:path>
                </a:pathLst>
              </a:custGeom>
              <a:noFill/>
              <a:ln w="14288">
                <a:solidFill>
                  <a:srgbClr val="9C2B2B"/>
                </a:solidFill>
                <a:prstDash val="dash"/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2209800" y="4171950"/>
                <a:ext cx="7620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76200">
                    <a:moveTo>
                      <a:pt x="0" y="76200"/>
                    </a:moveTo>
                    <a:lnTo>
                      <a:pt x="38100" y="0"/>
                    </a:lnTo>
                    <a:lnTo>
                      <a:pt x="76200" y="76200"/>
                    </a:lnTo>
                  </a:path>
                </a:pathLst>
              </a:custGeom>
              <a:noFill/>
              <a:ln w="14288">
                <a:solidFill>
                  <a:srgbClr val="9C2B2B"/>
                </a:solidFill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3870531" y="4649152"/>
                <a:ext cx="323173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9C2B2B"/>
                    </a:solidFill>
                    <a:latin typeface="Segoe UI"/>
                    <a:ea typeface="Microsoft YaHei"/>
                    <a:cs typeface="Segoe UI"/>
                  </a:rPr>
                  <a:t>发现论点不通→回到构思(平均每份 2.3 次回退)</a:t>
                </a:r>
              </a:p>
            </p:txBody>
          </p:sp>
        </p:grpSp>
      </p:grpSp>
      <p:grpSp>
        <p:nvGrpSpPr>
          <p:cNvPr id="74" name="Group 74"/>
          <p:cNvGrpSpPr/>
          <p:nvPr/>
        </p:nvGrpSpPr>
        <p:grpSpPr>
          <a:xfrm>
            <a:off x="899160" y="5394960"/>
            <a:ext cx="16255365" cy="1753552"/>
            <a:chOff x="899160" y="5394960"/>
            <a:chExt cx="16255365" cy="1753552"/>
          </a:xfrm>
        </p:grpSpPr>
        <p:sp>
          <p:nvSpPr>
            <p:cNvPr id="39" name="TextBox 39"/>
            <p:cNvSpPr txBox="1"/>
            <p:nvPr/>
          </p:nvSpPr>
          <p:spPr>
            <a:xfrm>
              <a:off x="899160" y="5394960"/>
              <a:ext cx="35532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677FF"/>
                  </a:solidFill>
                  <a:latin typeface="Segoe UI"/>
                  <a:ea typeface="Microsoft YaHei"/>
                  <a:cs typeface="Segoe UI"/>
                </a:rPr>
                <a:t>Aham 八阶段 · 目标 8-10 小时/份 · 单向推进</a:t>
              </a:r>
            </a:p>
          </p:txBody>
        </p:sp>
        <p:sp>
          <p:nvSpPr>
            <p:cNvPr id="40" name="Line 40"/>
            <p:cNvSpPr/>
            <p:nvPr/>
          </p:nvSpPr>
          <p:spPr>
            <a:xfrm>
              <a:off x="914400" y="5676900"/>
              <a:ext cx="3810000" cy="9525"/>
            </a:xfrm>
            <a:custGeom>
              <a:avLst/>
              <a:gdLst/>
              <a:ahLst/>
              <a:cxnLst/>
              <a:rect l="l" t="t" r="r" b="b"/>
              <a:pathLst>
                <a:path w="3810000" h="9525">
                  <a:moveTo>
                    <a:pt x="0" y="0"/>
                  </a:moveTo>
                  <a:lnTo>
                    <a:pt x="3810000" y="0"/>
                  </a:lnTo>
                </a:path>
              </a:pathLst>
            </a:custGeom>
            <a:noFill/>
            <a:ln w="9525">
              <a:solidFill>
                <a:srgbClr val="1677FF"/>
              </a:solidFill>
            </a:ln>
          </p:spPr>
        </p:sp>
        <p:grpSp>
          <p:nvGrpSpPr>
            <p:cNvPr id="72" name="Group 72"/>
            <p:cNvGrpSpPr/>
            <p:nvPr/>
          </p:nvGrpSpPr>
          <p:grpSpPr>
            <a:xfrm>
              <a:off x="914400" y="6000750"/>
              <a:ext cx="16240125" cy="762000"/>
              <a:chOff x="914400" y="6000750"/>
              <a:chExt cx="16240125" cy="762000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914400" y="6000750"/>
                <a:ext cx="1905000" cy="762000"/>
              </a:xfrm>
              <a:prstGeom prst="rect">
                <a:avLst/>
              </a:prstGeom>
              <a:solidFill>
                <a:srgbClr val="E6F4FF"/>
              </a:solidFill>
              <a:ln w="9525">
                <a:solidFill>
                  <a:srgbClr val="1677FF"/>
                </a:solidFill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1435679" y="6173152"/>
                <a:ext cx="86244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1 · 规范加载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1388840" y="6427470"/>
                <a:ext cx="95612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55555"/>
                    </a:solidFill>
                    <a:latin typeface="Segoe UI"/>
                    <a:ea typeface="Microsoft YaHei"/>
                    <a:cs typeface="Segoe UI"/>
                  </a:rPr>
                  <a:t>色值/字体/禁用</a:t>
                </a:r>
              </a:p>
            </p:txBody>
          </p:sp>
          <p:sp>
            <p:nvSpPr>
              <p:cNvPr id="44" name="Rectangle 44"/>
              <p:cNvSpPr/>
              <p:nvPr/>
            </p:nvSpPr>
            <p:spPr>
              <a:xfrm>
                <a:off x="2962275" y="6000750"/>
                <a:ext cx="1905000" cy="7620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1677FF"/>
                </a:solidFill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3464385" y="6173152"/>
                <a:ext cx="90077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2 · 材料解析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3509010" y="6427470"/>
                <a:ext cx="81153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55555"/>
                    </a:solidFill>
                    <a:latin typeface="Segoe UI"/>
                    <a:ea typeface="Microsoft YaHei"/>
                    <a:cs typeface="Segoe UI"/>
                  </a:rPr>
                  <a:t>提取关键事实</a:t>
                </a:r>
              </a:p>
            </p:txBody>
          </p:sp>
          <p:sp>
            <p:nvSpPr>
              <p:cNvPr id="47" name="Rectangle 47"/>
              <p:cNvSpPr/>
              <p:nvPr/>
            </p:nvSpPr>
            <p:spPr>
              <a:xfrm>
                <a:off x="5010150" y="6000750"/>
                <a:ext cx="1905000" cy="7620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1677FF"/>
                </a:solidFill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5512260" y="6173152"/>
                <a:ext cx="90077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3 · 论点提炼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5622608" y="6427470"/>
                <a:ext cx="68008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55555"/>
                    </a:solidFill>
                    <a:latin typeface="Segoe UI"/>
                    <a:ea typeface="Microsoft YaHei"/>
                    <a:cs typeface="Segoe UI"/>
                  </a:rPr>
                  <a:t>金字塔结构</a:t>
                </a:r>
              </a:p>
            </p:txBody>
          </p:sp>
          <p:sp>
            <p:nvSpPr>
              <p:cNvPr id="50" name="Rectangle 50"/>
              <p:cNvSpPr/>
              <p:nvPr/>
            </p:nvSpPr>
            <p:spPr>
              <a:xfrm>
                <a:off x="7058025" y="6000750"/>
                <a:ext cx="1905000" cy="7620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1677FF"/>
                </a:solidFill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7560135" y="6173152"/>
                <a:ext cx="90077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4 · 叙事骨架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7654052" y="6427470"/>
                <a:ext cx="71294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55555"/>
                    </a:solidFill>
                    <a:latin typeface="Segoe UI"/>
                    <a:ea typeface="Microsoft YaHei"/>
                    <a:cs typeface="Segoe UI"/>
                  </a:rPr>
                  <a:t>Ghost Deck</a:t>
                </a:r>
              </a:p>
            </p:txBody>
          </p:sp>
          <p:sp>
            <p:nvSpPr>
              <p:cNvPr id="53" name="Rectangle 53"/>
              <p:cNvSpPr/>
              <p:nvPr/>
            </p:nvSpPr>
            <p:spPr>
              <a:xfrm>
                <a:off x="9105900" y="6000750"/>
                <a:ext cx="1905000" cy="7620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1677FF"/>
                </a:solidFill>
              </a:ln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9608010" y="6173152"/>
                <a:ext cx="90077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5 · 版式规划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9603343" y="6427470"/>
                <a:ext cx="91011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55555"/>
                    </a:solidFill>
                    <a:latin typeface="Segoe UI"/>
                    <a:ea typeface="Microsoft YaHei"/>
                    <a:cs typeface="Segoe UI"/>
                  </a:rPr>
                  <a:t>Part结构+版式</a:t>
                </a:r>
              </a:p>
            </p:txBody>
          </p:sp>
          <p:sp>
            <p:nvSpPr>
              <p:cNvPr id="56" name="Rectangle 56"/>
              <p:cNvSpPr/>
              <p:nvPr/>
            </p:nvSpPr>
            <p:spPr>
              <a:xfrm>
                <a:off x="11153775" y="6000750"/>
                <a:ext cx="1905000" cy="7620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1677FF"/>
                </a:solidFill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11655885" y="6173152"/>
                <a:ext cx="90077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6 · 样稿确认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11789235" y="6427470"/>
                <a:ext cx="63407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55555"/>
                    </a:solidFill>
                    <a:latin typeface="Segoe UI"/>
                    <a:ea typeface="Microsoft YaHei"/>
                    <a:cs typeface="Segoe UI"/>
                  </a:rPr>
                  <a:t>3-5页对齐</a:t>
                </a:r>
              </a:p>
            </p:txBody>
          </p:sp>
          <p:sp>
            <p:nvSpPr>
              <p:cNvPr id="59" name="Rectangle 59"/>
              <p:cNvSpPr/>
              <p:nvPr/>
            </p:nvSpPr>
            <p:spPr>
              <a:xfrm>
                <a:off x="13201650" y="6000750"/>
                <a:ext cx="1905000" cy="7620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1677FF"/>
                </a:solidFill>
              </a:ln>
            </p:spPr>
          </p:sp>
          <p:sp>
            <p:nvSpPr>
              <p:cNvPr id="60" name="TextBox 60"/>
              <p:cNvSpPr txBox="1"/>
              <p:nvPr/>
            </p:nvSpPr>
            <p:spPr>
              <a:xfrm>
                <a:off x="13703760" y="6173152"/>
                <a:ext cx="90077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7 · 逐页设计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13853541" y="6427470"/>
                <a:ext cx="60121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55555"/>
                    </a:solidFill>
                    <a:latin typeface="Segoe UI"/>
                    <a:ea typeface="Microsoft YaHei"/>
                    <a:cs typeface="Segoe UI"/>
                  </a:rPr>
                  <a:t>SVG→PPTX</a:t>
                </a:r>
              </a:p>
            </p:txBody>
          </p:sp>
          <p:sp>
            <p:nvSpPr>
              <p:cNvPr id="62" name="Rectangle 62"/>
              <p:cNvSpPr/>
              <p:nvPr/>
            </p:nvSpPr>
            <p:spPr>
              <a:xfrm>
                <a:off x="15249525" y="6000750"/>
                <a:ext cx="1905000" cy="762000"/>
              </a:xfrm>
              <a:prstGeom prst="rect">
                <a:avLst/>
              </a:prstGeom>
              <a:solidFill>
                <a:srgbClr val="1677FF"/>
              </a:solidFill>
              <a:ln w="9525">
                <a:solidFill>
                  <a:srgbClr val="1677FF"/>
                </a:solidFill>
              </a:ln>
            </p:spPr>
          </p:sp>
          <p:sp>
            <p:nvSpPr>
              <p:cNvPr id="63" name="TextBox 63"/>
              <p:cNvSpPr txBox="1"/>
              <p:nvPr/>
            </p:nvSpPr>
            <p:spPr>
              <a:xfrm>
                <a:off x="15751635" y="6173152"/>
                <a:ext cx="90077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8 · 质检交付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15842266" y="6427470"/>
                <a:ext cx="719519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QC清单扫描</a:t>
                </a:r>
              </a:p>
            </p:txBody>
          </p:sp>
          <p:sp>
            <p:nvSpPr>
              <p:cNvPr id="65" name="Line 65"/>
              <p:cNvSpPr/>
              <p:nvPr/>
            </p:nvSpPr>
            <p:spPr>
              <a:xfrm>
                <a:off x="2819400" y="6381750"/>
                <a:ext cx="142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">
                    <a:moveTo>
                      <a:pt x="0" y="0"/>
                    </a:moveTo>
                    <a:lnTo>
                      <a:pt x="142875" y="0"/>
                    </a:lnTo>
                  </a:path>
                </a:pathLst>
              </a:custGeom>
              <a:noFill/>
              <a:ln w="14288">
                <a:solidFill>
                  <a:srgbClr val="1677FF"/>
                </a:solidFill>
              </a:ln>
            </p:spPr>
          </p:sp>
          <p:sp>
            <p:nvSpPr>
              <p:cNvPr id="66" name="Line 66"/>
              <p:cNvSpPr/>
              <p:nvPr/>
            </p:nvSpPr>
            <p:spPr>
              <a:xfrm>
                <a:off x="4867275" y="6381750"/>
                <a:ext cx="142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">
                    <a:moveTo>
                      <a:pt x="0" y="0"/>
                    </a:moveTo>
                    <a:lnTo>
                      <a:pt x="142875" y="0"/>
                    </a:lnTo>
                  </a:path>
                </a:pathLst>
              </a:custGeom>
              <a:noFill/>
              <a:ln w="14288">
                <a:solidFill>
                  <a:srgbClr val="1677FF"/>
                </a:solidFill>
              </a:ln>
            </p:spPr>
          </p:sp>
          <p:sp>
            <p:nvSpPr>
              <p:cNvPr id="67" name="Line 67"/>
              <p:cNvSpPr/>
              <p:nvPr/>
            </p:nvSpPr>
            <p:spPr>
              <a:xfrm>
                <a:off x="6915150" y="6381750"/>
                <a:ext cx="142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">
                    <a:moveTo>
                      <a:pt x="0" y="0"/>
                    </a:moveTo>
                    <a:lnTo>
                      <a:pt x="142875" y="0"/>
                    </a:lnTo>
                  </a:path>
                </a:pathLst>
              </a:custGeom>
              <a:noFill/>
              <a:ln w="14288">
                <a:solidFill>
                  <a:srgbClr val="1677FF"/>
                </a:solidFill>
              </a:ln>
            </p:spPr>
          </p:sp>
          <p:sp>
            <p:nvSpPr>
              <p:cNvPr id="68" name="Line 68"/>
              <p:cNvSpPr/>
              <p:nvPr/>
            </p:nvSpPr>
            <p:spPr>
              <a:xfrm>
                <a:off x="8963025" y="6381750"/>
                <a:ext cx="142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">
                    <a:moveTo>
                      <a:pt x="0" y="0"/>
                    </a:moveTo>
                    <a:lnTo>
                      <a:pt x="142875" y="0"/>
                    </a:lnTo>
                  </a:path>
                </a:pathLst>
              </a:custGeom>
              <a:noFill/>
              <a:ln w="14288">
                <a:solidFill>
                  <a:srgbClr val="1677FF"/>
                </a:solidFill>
              </a:ln>
            </p:spPr>
          </p:sp>
          <p:sp>
            <p:nvSpPr>
              <p:cNvPr id="69" name="Line 69"/>
              <p:cNvSpPr/>
              <p:nvPr/>
            </p:nvSpPr>
            <p:spPr>
              <a:xfrm>
                <a:off x="11010900" y="6381750"/>
                <a:ext cx="142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">
                    <a:moveTo>
                      <a:pt x="0" y="0"/>
                    </a:moveTo>
                    <a:lnTo>
                      <a:pt x="142875" y="0"/>
                    </a:lnTo>
                  </a:path>
                </a:pathLst>
              </a:custGeom>
              <a:noFill/>
              <a:ln w="14288">
                <a:solidFill>
                  <a:srgbClr val="1677FF"/>
                </a:solidFill>
              </a:ln>
            </p:spPr>
          </p:sp>
          <p:sp>
            <p:nvSpPr>
              <p:cNvPr id="70" name="Line 70"/>
              <p:cNvSpPr/>
              <p:nvPr/>
            </p:nvSpPr>
            <p:spPr>
              <a:xfrm>
                <a:off x="13058775" y="6381750"/>
                <a:ext cx="142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">
                    <a:moveTo>
                      <a:pt x="0" y="0"/>
                    </a:moveTo>
                    <a:lnTo>
                      <a:pt x="142875" y="0"/>
                    </a:lnTo>
                  </a:path>
                </a:pathLst>
              </a:custGeom>
              <a:noFill/>
              <a:ln w="14288">
                <a:solidFill>
                  <a:srgbClr val="1677FF"/>
                </a:solidFill>
              </a:ln>
            </p:spPr>
          </p:sp>
          <p:sp>
            <p:nvSpPr>
              <p:cNvPr id="71" name="Line 71"/>
              <p:cNvSpPr/>
              <p:nvPr/>
            </p:nvSpPr>
            <p:spPr>
              <a:xfrm>
                <a:off x="15106650" y="6381750"/>
                <a:ext cx="1428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9525">
                    <a:moveTo>
                      <a:pt x="0" y="0"/>
                    </a:moveTo>
                    <a:lnTo>
                      <a:pt x="142875" y="0"/>
                    </a:lnTo>
                  </a:path>
                </a:pathLst>
              </a:custGeom>
              <a:noFill/>
              <a:ln w="14288">
                <a:solidFill>
                  <a:srgbClr val="1677FF"/>
                </a:solidFill>
              </a:ln>
            </p:spPr>
          </p:sp>
        </p:grpSp>
        <p:sp>
          <p:nvSpPr>
            <p:cNvPr id="73" name="TextBox 73"/>
            <p:cNvSpPr txBox="1"/>
            <p:nvPr/>
          </p:nvSpPr>
          <p:spPr>
            <a:xfrm>
              <a:off x="901065" y="6935152"/>
              <a:ext cx="638313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6B3E"/>
                  </a:solidFill>
                  <a:latin typeface="Segoe UI"/>
                  <a:ea typeface="Microsoft YaHei"/>
                  <a:cs typeface="Segoe UI"/>
                </a:rPr>
                <a:t>● 关键差异:样稿确认(第 6 阶段)强制在"设计"之前对齐方向,避免第 7 阶段完成后再推倒重做</a:t>
              </a:r>
            </a:p>
          </p:txBody>
        </p:sp>
      </p:grpSp>
      <p:sp>
        <p:nvSpPr>
          <p:cNvPr id="75" name="Line 75"/>
          <p:cNvSpPr/>
          <p:nvPr/>
        </p:nvSpPr>
        <p:spPr>
          <a:xfrm>
            <a:off x="914400" y="9525000"/>
            <a:ext cx="16459200" cy="9525"/>
          </a:xfrm>
          <a:custGeom>
            <a:avLst/>
            <a:gdLst/>
            <a:ahLst/>
            <a:cxnLst/>
            <a:rect l="l" t="t" r="r" b="b"/>
            <a:pathLst>
              <a:path w="16459200" h="9525">
                <a:moveTo>
                  <a:pt x="0" y="0"/>
                </a:moveTo>
                <a:lnTo>
                  <a:pt x="16459200" y="0"/>
                </a:lnTo>
              </a:path>
            </a:pathLst>
          </a:custGeom>
          <a:noFill/>
          <a:ln w="9525">
            <a:solidFill>
              <a:srgbClr val="E2E2E2"/>
            </a:solidFill>
          </a:ln>
        </p:spPr>
      </p:sp>
      <p:sp>
        <p:nvSpPr>
          <p:cNvPr id="76" name="TextBox 76"/>
          <p:cNvSpPr txBox="1"/>
          <p:nvPr/>
        </p:nvSpPr>
        <p:spPr>
          <a:xfrm>
            <a:off x="901065" y="9602152"/>
            <a:ext cx="31243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AHAM · Internal Evaluation · CONFIDENTIAL</a:t>
            </a:r>
          </a:p>
        </p:txBody>
      </p:sp>
      <p:sp>
        <p:nvSpPr>
          <p:cNvPr id="77" name="TextBox 77"/>
          <p:cNvSpPr txBox="1"/>
          <p:nvPr/>
        </p:nvSpPr>
        <p:spPr>
          <a:xfrm>
            <a:off x="16884872" y="9602152"/>
            <a:ext cx="5020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901065" y="458152"/>
            <a:ext cx="98512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04 · 实施路线</a:t>
            </a:r>
          </a:p>
        </p:txBody>
      </p:sp>
      <p:sp>
        <p:nvSpPr>
          <p:cNvPr id="4" name="Line 4"/>
          <p:cNvSpPr/>
          <p:nvPr/>
        </p:nvSpPr>
        <p:spPr>
          <a:xfrm>
            <a:off x="914400" y="723900"/>
            <a:ext cx="16459200" cy="9525"/>
          </a:xfrm>
          <a:custGeom>
            <a:avLst/>
            <a:gdLst/>
            <a:ahLst/>
            <a:cxnLst/>
            <a:rect l="l" t="t" r="r" b="b"/>
            <a:pathLst>
              <a:path w="16459200" h="9525">
                <a:moveTo>
                  <a:pt x="0" y="0"/>
                </a:moveTo>
                <a:lnTo>
                  <a:pt x="16459200" y="0"/>
                </a:lnTo>
              </a:path>
            </a:pathLst>
          </a:custGeom>
          <a:noFill/>
          <a:ln w="9525">
            <a:solidFill>
              <a:srgbClr val="E2E2E2"/>
            </a:solidFill>
          </a:ln>
        </p:spPr>
      </p:sp>
      <p:sp>
        <p:nvSpPr>
          <p:cNvPr id="5" name="Line 5"/>
          <p:cNvSpPr/>
          <p:nvPr/>
        </p:nvSpPr>
        <p:spPr>
          <a:xfrm>
            <a:off x="914400" y="1238250"/>
            <a:ext cx="9525" cy="666750"/>
          </a:xfrm>
          <a:custGeom>
            <a:avLst/>
            <a:gdLst/>
            <a:ahLst/>
            <a:cxnLst/>
            <a:rect l="l" t="t" r="r" b="b"/>
            <a:pathLst>
              <a:path w="9525" h="666750">
                <a:moveTo>
                  <a:pt x="0" y="0"/>
                </a:moveTo>
                <a:lnTo>
                  <a:pt x="0" y="666750"/>
                </a:lnTo>
              </a:path>
            </a:pathLst>
          </a:custGeom>
          <a:noFill/>
          <a:ln w="57150">
            <a:solidFill>
              <a:srgbClr val="1677FF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1223010" y="1346835"/>
            <a:ext cx="1164132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建议分三阶段推进 Aham 工具落地,2026 年 Q4 前完成全员切换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40155" y="1854518"/>
            <a:ext cx="528880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——每阶段设置明确里程碑与成功指标,不达标则暂停扩大推广</a:t>
            </a:r>
          </a:p>
        </p:txBody>
      </p:sp>
      <p:grpSp>
        <p:nvGrpSpPr>
          <p:cNvPr id="55" name="Group 55"/>
          <p:cNvGrpSpPr/>
          <p:nvPr/>
        </p:nvGrpSpPr>
        <p:grpSpPr>
          <a:xfrm>
            <a:off x="561784" y="3333750"/>
            <a:ext cx="17142524" cy="2305050"/>
            <a:chOff x="561784" y="3333750"/>
            <a:chExt cx="17142524" cy="2305050"/>
          </a:xfrm>
        </p:grpSpPr>
        <p:sp>
          <p:nvSpPr>
            <p:cNvPr id="8" name="Line 8"/>
            <p:cNvSpPr/>
            <p:nvPr/>
          </p:nvSpPr>
          <p:spPr>
            <a:xfrm>
              <a:off x="914400" y="5143500"/>
              <a:ext cx="16459200" cy="9525"/>
            </a:xfrm>
            <a:custGeom>
              <a:avLst/>
              <a:gdLst/>
              <a:ahLst/>
              <a:cxnLst/>
              <a:rect l="l" t="t" r="r" b="b"/>
              <a:pathLst>
                <a:path w="16459200" h="9525">
                  <a:moveTo>
                    <a:pt x="0" y="0"/>
                  </a:moveTo>
                  <a:lnTo>
                    <a:pt x="16459200" y="0"/>
                  </a:lnTo>
                </a:path>
              </a:pathLst>
            </a:custGeom>
            <a:noFill/>
            <a:ln w="19050">
              <a:solidFill>
                <a:srgbClr val="1A1A1A"/>
              </a:solidFill>
            </a:ln>
          </p:spPr>
        </p:sp>
        <p:grpSp>
          <p:nvGrpSpPr>
            <p:cNvPr id="19" name="Group 19"/>
            <p:cNvGrpSpPr/>
            <p:nvPr/>
          </p:nvGrpSpPr>
          <p:grpSpPr>
            <a:xfrm>
              <a:off x="561784" y="5095875"/>
              <a:ext cx="17142524" cy="542925"/>
              <a:chOff x="561784" y="5095875"/>
              <a:chExt cx="17142524" cy="542925"/>
            </a:xfrm>
          </p:grpSpPr>
          <p:sp>
            <p:nvSpPr>
              <p:cNvPr id="9" name="Line 9"/>
              <p:cNvSpPr/>
              <p:nvPr/>
            </p:nvSpPr>
            <p:spPr>
              <a:xfrm>
                <a:off x="914400" y="5095875"/>
                <a:ext cx="95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0">
                    <a:moveTo>
                      <a:pt x="0" y="0"/>
                    </a:moveTo>
                    <a:lnTo>
                      <a:pt x="0" y="95250"/>
                    </a:lnTo>
                  </a:path>
                </a:pathLst>
              </a:custGeom>
              <a:noFill/>
              <a:ln w="19050">
                <a:solidFill>
                  <a:srgbClr val="1A1A1A"/>
                </a:solidFill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561784" y="5394960"/>
                <a:ext cx="70523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333333"/>
                    </a:solidFill>
                    <a:latin typeface="Segoe UI"/>
                    <a:ea typeface="Microsoft YaHei"/>
                    <a:cs typeface="Segoe UI"/>
                  </a:rPr>
                  <a:t>2026-05</a:t>
                </a:r>
              </a:p>
            </p:txBody>
          </p:sp>
          <p:sp>
            <p:nvSpPr>
              <p:cNvPr id="11" name="Line 11"/>
              <p:cNvSpPr/>
              <p:nvPr/>
            </p:nvSpPr>
            <p:spPr>
              <a:xfrm>
                <a:off x="5029200" y="5095875"/>
                <a:ext cx="95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0">
                    <a:moveTo>
                      <a:pt x="0" y="0"/>
                    </a:moveTo>
                    <a:lnTo>
                      <a:pt x="0" y="95250"/>
                    </a:lnTo>
                  </a:path>
                </a:pathLst>
              </a:custGeom>
              <a:noFill/>
              <a:ln w="19050">
                <a:solidFill>
                  <a:srgbClr val="1A1A1A"/>
                </a:solidFill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4676584" y="5394960"/>
                <a:ext cx="70523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333333"/>
                    </a:solidFill>
                    <a:latin typeface="Segoe UI"/>
                    <a:ea typeface="Microsoft YaHei"/>
                    <a:cs typeface="Segoe UI"/>
                  </a:rPr>
                  <a:t>2026-07</a:t>
                </a:r>
              </a:p>
            </p:txBody>
          </p:sp>
          <p:sp>
            <p:nvSpPr>
              <p:cNvPr id="13" name="Line 13"/>
              <p:cNvSpPr/>
              <p:nvPr/>
            </p:nvSpPr>
            <p:spPr>
              <a:xfrm>
                <a:off x="9144000" y="5095875"/>
                <a:ext cx="95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0">
                    <a:moveTo>
                      <a:pt x="0" y="0"/>
                    </a:moveTo>
                    <a:lnTo>
                      <a:pt x="0" y="95250"/>
                    </a:lnTo>
                  </a:path>
                </a:pathLst>
              </a:custGeom>
              <a:noFill/>
              <a:ln w="19050">
                <a:solidFill>
                  <a:srgbClr val="1A1A1A"/>
                </a:solidFill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8791384" y="5394960"/>
                <a:ext cx="70523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333333"/>
                    </a:solidFill>
                    <a:latin typeface="Segoe UI"/>
                    <a:ea typeface="Microsoft YaHei"/>
                    <a:cs typeface="Segoe UI"/>
                  </a:rPr>
                  <a:t>2026-09</a:t>
                </a:r>
              </a:p>
            </p:txBody>
          </p:sp>
          <p:sp>
            <p:nvSpPr>
              <p:cNvPr id="15" name="Line 15"/>
              <p:cNvSpPr/>
              <p:nvPr/>
            </p:nvSpPr>
            <p:spPr>
              <a:xfrm>
                <a:off x="13258800" y="5095875"/>
                <a:ext cx="95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0">
                    <a:moveTo>
                      <a:pt x="0" y="0"/>
                    </a:moveTo>
                    <a:lnTo>
                      <a:pt x="0" y="95250"/>
                    </a:lnTo>
                  </a:path>
                </a:pathLst>
              </a:custGeom>
              <a:noFill/>
              <a:ln w="19050">
                <a:solidFill>
                  <a:srgbClr val="1A1A1A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2950000" y="5394960"/>
                <a:ext cx="61760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333333"/>
                    </a:solidFill>
                    <a:latin typeface="Segoe UI"/>
                    <a:ea typeface="Microsoft YaHei"/>
                    <a:cs typeface="Segoe UI"/>
                  </a:rPr>
                  <a:t>2026-11</a:t>
                </a:r>
              </a:p>
            </p:txBody>
          </p:sp>
          <p:sp>
            <p:nvSpPr>
              <p:cNvPr id="17" name="Line 17"/>
              <p:cNvSpPr/>
              <p:nvPr/>
            </p:nvSpPr>
            <p:spPr>
              <a:xfrm>
                <a:off x="17373600" y="5095875"/>
                <a:ext cx="95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0">
                    <a:moveTo>
                      <a:pt x="0" y="0"/>
                    </a:moveTo>
                    <a:lnTo>
                      <a:pt x="0" y="95250"/>
                    </a:lnTo>
                  </a:path>
                </a:pathLst>
              </a:custGeom>
              <a:noFill/>
              <a:ln w="19050">
                <a:solidFill>
                  <a:srgbClr val="1A1A1A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7042892" y="5394960"/>
                <a:ext cx="661416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dirty="0">
                    <a:solidFill>
                      <a:srgbClr val="333333"/>
                    </a:solidFill>
                    <a:latin typeface="Segoe UI"/>
                    <a:ea typeface="Microsoft YaHei"/>
                    <a:cs typeface="Segoe UI"/>
                  </a:rPr>
                  <a:t>2027-01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819150" y="3333750"/>
              <a:ext cx="4210050" cy="1905000"/>
              <a:chOff x="819150" y="3333750"/>
              <a:chExt cx="4210050" cy="190500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914400" y="4572000"/>
                <a:ext cx="4114800" cy="381000"/>
              </a:xfrm>
              <a:prstGeom prst="rect">
                <a:avLst/>
              </a:prstGeom>
              <a:solidFill>
                <a:srgbClr val="E6F4FF"/>
              </a:solidFill>
              <a:ln w="9525">
                <a:solidFill>
                  <a:srgbClr val="1677FF"/>
                </a:solidFill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2427494" y="4680585"/>
                <a:ext cx="108861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阶段 1 · 试点</a:t>
                </a:r>
              </a:p>
            </p:txBody>
          </p:sp>
          <p:sp>
            <p:nvSpPr>
              <p:cNvPr id="22" name="Rectangle 22"/>
              <p:cNvSpPr/>
              <p:nvPr/>
            </p:nvSpPr>
            <p:spPr>
              <a:xfrm>
                <a:off x="914400" y="3333750"/>
                <a:ext cx="3810000" cy="11430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E2E2E2"/>
                </a:solidFill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1053465" y="3487102"/>
                <a:ext cx="121515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888888"/>
                    </a:solidFill>
                    <a:latin typeface="Segoe UI"/>
                    <a:ea typeface="Microsoft YaHei"/>
                    <a:cs typeface="Segoe UI"/>
                  </a:rPr>
                  <a:t>PHASE 01 · PILOT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049655" y="3721418"/>
                <a:ext cx="1245391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6 人试点团队</a:t>
                </a:r>
              </a:p>
            </p:txBody>
          </p:sp>
          <p:sp>
            <p:nvSpPr>
              <p:cNvPr id="25" name="Line 25"/>
              <p:cNvSpPr/>
              <p:nvPr/>
            </p:nvSpPr>
            <p:spPr>
              <a:xfrm>
                <a:off x="1066800" y="3981450"/>
                <a:ext cx="3467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467100" h="9525">
                    <a:moveTo>
                      <a:pt x="0" y="0"/>
                    </a:moveTo>
                    <a:lnTo>
                      <a:pt x="3467100" y="0"/>
                    </a:lnTo>
                  </a:path>
                </a:pathLst>
              </a:custGeom>
              <a:noFill/>
              <a:ln w="9525">
                <a:solidFill>
                  <a:srgbClr val="E2E2E2"/>
                </a:solidFill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1053465" y="4096702"/>
                <a:ext cx="230395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33333"/>
                    </a:solidFill>
                    <a:latin typeface="Segoe UI"/>
                    <a:ea typeface="Microsoft YaHei"/>
                    <a:cs typeface="Segoe UI"/>
                  </a:rPr>
                  <a:t>· 目标:产出 10 份真实客户交付物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1053465" y="4306252"/>
                <a:ext cx="205859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33333"/>
                    </a:solidFill>
                    <a:latin typeface="Segoe UI"/>
                    <a:ea typeface="Microsoft YaHei"/>
                    <a:cs typeface="Segoe UI"/>
                  </a:rPr>
                  <a:t>· 指标:平均耗时 ≤ 12 小时/份</a:t>
                </a:r>
              </a:p>
            </p:txBody>
          </p:sp>
          <p:sp>
            <p:nvSpPr>
              <p:cNvPr id="28" name="Ellipse 28"/>
              <p:cNvSpPr/>
              <p:nvPr/>
            </p:nvSpPr>
            <p:spPr>
              <a:xfrm>
                <a:off x="819150" y="5048250"/>
                <a:ext cx="190500" cy="190500"/>
              </a:xfrm>
              <a:prstGeom prst="ellipse">
                <a:avLst/>
              </a:prstGeom>
              <a:solidFill>
                <a:srgbClr val="1677FF"/>
              </a:solidFill>
              <a:ln>
                <a:noFill/>
              </a:ln>
            </p:spPr>
          </p:sp>
          <p:sp>
            <p:nvSpPr>
              <p:cNvPr id="29" name="Ellipse 29"/>
              <p:cNvSpPr/>
              <p:nvPr/>
            </p:nvSpPr>
            <p:spPr>
              <a:xfrm>
                <a:off x="876300" y="5105400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</p:sp>
        </p:grpSp>
        <p:grpSp>
          <p:nvGrpSpPr>
            <p:cNvPr id="41" name="Group 41"/>
            <p:cNvGrpSpPr/>
            <p:nvPr/>
          </p:nvGrpSpPr>
          <p:grpSpPr>
            <a:xfrm>
              <a:off x="4933950" y="3333750"/>
              <a:ext cx="8324850" cy="1905000"/>
              <a:chOff x="4933950" y="3333750"/>
              <a:chExt cx="8324850" cy="190500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5029200" y="4572000"/>
                <a:ext cx="8229600" cy="381000"/>
              </a:xfrm>
              <a:prstGeom prst="rect">
                <a:avLst/>
              </a:prstGeom>
              <a:solidFill>
                <a:srgbClr val="FAFAFA"/>
              </a:solidFill>
              <a:ln w="9525">
                <a:solidFill>
                  <a:srgbClr val="888888"/>
                </a:solidFill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8576691" y="4680585"/>
                <a:ext cx="113461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阶段 2 · 推广</a:t>
                </a:r>
              </a:p>
            </p:txBody>
          </p:sp>
          <p:sp>
            <p:nvSpPr>
              <p:cNvPr id="33" name="Rectangle 33"/>
              <p:cNvSpPr/>
              <p:nvPr/>
            </p:nvSpPr>
            <p:spPr>
              <a:xfrm>
                <a:off x="5219700" y="3333750"/>
                <a:ext cx="3810000" cy="11430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E2E2E2"/>
                </a:solidFill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5358765" y="3487102"/>
                <a:ext cx="149118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888888"/>
                    </a:solidFill>
                    <a:latin typeface="Segoe UI"/>
                    <a:ea typeface="Microsoft YaHei"/>
                    <a:cs typeface="Segoe UI"/>
                  </a:rPr>
                  <a:t>PHASE 02 · ROLLOUT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5354955" y="3721418"/>
                <a:ext cx="213560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扩展至全部 3 个业务线</a:t>
                </a:r>
              </a:p>
            </p:txBody>
          </p:sp>
          <p:sp>
            <p:nvSpPr>
              <p:cNvPr id="36" name="Line 36"/>
              <p:cNvSpPr/>
              <p:nvPr/>
            </p:nvSpPr>
            <p:spPr>
              <a:xfrm>
                <a:off x="5372100" y="3981450"/>
                <a:ext cx="3467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467100" h="9525">
                    <a:moveTo>
                      <a:pt x="0" y="0"/>
                    </a:moveTo>
                    <a:lnTo>
                      <a:pt x="3467100" y="0"/>
                    </a:lnTo>
                  </a:path>
                </a:pathLst>
              </a:custGeom>
              <a:noFill/>
              <a:ln w="9525">
                <a:solidFill>
                  <a:srgbClr val="E2E2E2"/>
                </a:solidFill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5358765" y="4096702"/>
                <a:ext cx="207392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33333"/>
                    </a:solidFill>
                    <a:latin typeface="Segoe UI"/>
                    <a:ea typeface="Microsoft YaHei"/>
                    <a:cs typeface="Segoe UI"/>
                  </a:rPr>
                  <a:t>· 目标:60% 顾问完成培训上线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5358765" y="4306252"/>
                <a:ext cx="220427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33333"/>
                    </a:solidFill>
                    <a:latin typeface="Segoe UI"/>
                    <a:ea typeface="Microsoft YaHei"/>
                    <a:cs typeface="Segoe UI"/>
                  </a:rPr>
                  <a:t>· 指标:团队平均节省 40%+ 工时</a:t>
                </a:r>
              </a:p>
            </p:txBody>
          </p:sp>
          <p:sp>
            <p:nvSpPr>
              <p:cNvPr id="39" name="Ellipse 39"/>
              <p:cNvSpPr/>
              <p:nvPr/>
            </p:nvSpPr>
            <p:spPr>
              <a:xfrm>
                <a:off x="4933950" y="5048250"/>
                <a:ext cx="190500" cy="190500"/>
              </a:xfrm>
              <a:prstGeom prst="ellipse">
                <a:avLst/>
              </a:prstGeom>
              <a:solidFill>
                <a:srgbClr val="1677FF"/>
              </a:solidFill>
              <a:ln>
                <a:noFill/>
              </a:ln>
            </p:spPr>
          </p:sp>
          <p:sp>
            <p:nvSpPr>
              <p:cNvPr id="40" name="Ellipse 40"/>
              <p:cNvSpPr/>
              <p:nvPr/>
            </p:nvSpPr>
            <p:spPr>
              <a:xfrm>
                <a:off x="4991100" y="5105400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</p:sp>
        </p:grpSp>
        <p:grpSp>
          <p:nvGrpSpPr>
            <p:cNvPr id="54" name="Group 54"/>
            <p:cNvGrpSpPr/>
            <p:nvPr/>
          </p:nvGrpSpPr>
          <p:grpSpPr>
            <a:xfrm>
              <a:off x="13163550" y="3333750"/>
              <a:ext cx="4305300" cy="1905000"/>
              <a:chOff x="13163550" y="3333750"/>
              <a:chExt cx="4305300" cy="1905000"/>
            </a:xfrm>
          </p:grpSpPr>
          <p:sp>
            <p:nvSpPr>
              <p:cNvPr id="42" name="Rectangle 42"/>
              <p:cNvSpPr/>
              <p:nvPr/>
            </p:nvSpPr>
            <p:spPr>
              <a:xfrm>
                <a:off x="13258800" y="4572000"/>
                <a:ext cx="4114800" cy="381000"/>
              </a:xfrm>
              <a:prstGeom prst="rect">
                <a:avLst/>
              </a:prstGeom>
              <a:solidFill>
                <a:srgbClr val="FAFAFA"/>
              </a:solidFill>
              <a:ln w="9525">
                <a:solidFill>
                  <a:srgbClr val="888888"/>
                </a:solidFill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14564868" y="4680585"/>
                <a:ext cx="150266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阶段 3 · 全面应用</a:t>
                </a:r>
              </a:p>
            </p:txBody>
          </p:sp>
          <p:sp>
            <p:nvSpPr>
              <p:cNvPr id="44" name="Rectangle 44"/>
              <p:cNvSpPr/>
              <p:nvPr/>
            </p:nvSpPr>
            <p:spPr>
              <a:xfrm>
                <a:off x="13563600" y="3333750"/>
                <a:ext cx="3810000" cy="11430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E2E2E2"/>
                </a:solidFill>
              </a:ln>
            </p:spPr>
          </p:sp>
          <p:sp>
            <p:nvSpPr>
              <p:cNvPr id="45" name="TextBox 45"/>
              <p:cNvSpPr txBox="1"/>
              <p:nvPr/>
            </p:nvSpPr>
            <p:spPr>
              <a:xfrm>
                <a:off x="13702665" y="3487102"/>
                <a:ext cx="164453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888888"/>
                    </a:solidFill>
                    <a:latin typeface="Segoe UI"/>
                    <a:ea typeface="Microsoft YaHei"/>
                    <a:cs typeface="Segoe UI"/>
                  </a:rPr>
                  <a:t>PHASE 03 · FULL SCALE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13698855" y="3721418"/>
                <a:ext cx="1483471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全员默认工作流</a:t>
                </a:r>
              </a:p>
            </p:txBody>
          </p:sp>
          <p:sp>
            <p:nvSpPr>
              <p:cNvPr id="47" name="Line 47"/>
              <p:cNvSpPr/>
              <p:nvPr/>
            </p:nvSpPr>
            <p:spPr>
              <a:xfrm>
                <a:off x="13716000" y="3981450"/>
                <a:ext cx="34671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3467100" h="9525">
                    <a:moveTo>
                      <a:pt x="0" y="0"/>
                    </a:moveTo>
                    <a:lnTo>
                      <a:pt x="3467100" y="0"/>
                    </a:lnTo>
                  </a:path>
                </a:pathLst>
              </a:custGeom>
              <a:noFill/>
              <a:ln w="9525">
                <a:solidFill>
                  <a:srgbClr val="E2E2E2"/>
                </a:solidFill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13702665" y="4096702"/>
                <a:ext cx="211993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33333"/>
                    </a:solidFill>
                    <a:latin typeface="Segoe UI"/>
                    <a:ea typeface="Microsoft YaHei"/>
                    <a:cs typeface="Segoe UI"/>
                  </a:rPr>
                  <a:t>· 目标:100% 交付物经 Aham 流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13702665" y="4306252"/>
                <a:ext cx="208159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333333"/>
                    </a:solidFill>
                    <a:latin typeface="Segoe UI"/>
                    <a:ea typeface="Microsoft YaHei"/>
                    <a:cs typeface="Segoe UI"/>
                  </a:rPr>
                  <a:t>· 指标:客户满意度 ≥ 4.6/5.0</a:t>
                </a:r>
              </a:p>
            </p:txBody>
          </p:sp>
          <p:sp>
            <p:nvSpPr>
              <p:cNvPr id="50" name="Ellipse 50"/>
              <p:cNvSpPr/>
              <p:nvPr/>
            </p:nvSpPr>
            <p:spPr>
              <a:xfrm>
                <a:off x="13163550" y="5048250"/>
                <a:ext cx="190500" cy="190500"/>
              </a:xfrm>
              <a:prstGeom prst="ellipse">
                <a:avLst/>
              </a:prstGeom>
              <a:solidFill>
                <a:srgbClr val="1677FF"/>
              </a:solidFill>
              <a:ln>
                <a:noFill/>
              </a:ln>
            </p:spPr>
          </p:sp>
          <p:sp>
            <p:nvSpPr>
              <p:cNvPr id="51" name="Ellipse 51"/>
              <p:cNvSpPr/>
              <p:nvPr/>
            </p:nvSpPr>
            <p:spPr>
              <a:xfrm>
                <a:off x="13220700" y="5105400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2" name="Ellipse 52"/>
              <p:cNvSpPr/>
              <p:nvPr/>
            </p:nvSpPr>
            <p:spPr>
              <a:xfrm>
                <a:off x="17278350" y="5048250"/>
                <a:ext cx="190500" cy="190500"/>
              </a:xfrm>
              <a:prstGeom prst="ellipse">
                <a:avLst/>
              </a:prstGeom>
              <a:solidFill>
                <a:srgbClr val="1A1A1A"/>
              </a:solidFill>
              <a:ln>
                <a:noFill/>
              </a:ln>
            </p:spPr>
          </p:sp>
          <p:sp>
            <p:nvSpPr>
              <p:cNvPr id="53" name="Ellipse 53"/>
              <p:cNvSpPr/>
              <p:nvPr/>
            </p:nvSpPr>
            <p:spPr>
              <a:xfrm>
                <a:off x="17335500" y="5105400"/>
                <a:ext cx="76200" cy="762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</p:sp>
        </p:grpSp>
      </p:grpSp>
      <p:grpSp>
        <p:nvGrpSpPr>
          <p:cNvPr id="82" name="Group 82"/>
          <p:cNvGrpSpPr/>
          <p:nvPr/>
        </p:nvGrpSpPr>
        <p:grpSpPr>
          <a:xfrm>
            <a:off x="914400" y="7620000"/>
            <a:ext cx="16459200" cy="1714500"/>
            <a:chOff x="914400" y="7620000"/>
            <a:chExt cx="16459200" cy="1714500"/>
          </a:xfrm>
        </p:grpSpPr>
        <p:sp>
          <p:nvSpPr>
            <p:cNvPr id="56" name="Rectangle 56"/>
            <p:cNvSpPr/>
            <p:nvPr/>
          </p:nvSpPr>
          <p:spPr>
            <a:xfrm>
              <a:off x="914400" y="7620000"/>
              <a:ext cx="16459200" cy="4191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203960" y="7776210"/>
              <a:ext cx="3810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阶段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3947160" y="7776210"/>
              <a:ext cx="7315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参与人数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6995160" y="7776210"/>
              <a:ext cx="90678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预期交付数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10233660" y="7776210"/>
              <a:ext cx="10820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工时节省目标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13853160" y="7776210"/>
              <a:ext cx="7315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风险等级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1203960" y="8252460"/>
              <a:ext cx="112585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试点(Q2-Q3)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3947160" y="8252460"/>
              <a:ext cx="35471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6 人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6995160" y="8252460"/>
              <a:ext cx="40728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10 份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0233660" y="8252460"/>
              <a:ext cx="46863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≥ 40%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13773150" y="8210550"/>
              <a:ext cx="762000" cy="228600"/>
            </a:xfrm>
            <a:prstGeom prst="rect">
              <a:avLst/>
            </a:prstGeom>
            <a:solidFill>
              <a:srgbClr val="EDF3EE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13855065" y="8268652"/>
              <a:ext cx="3103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2E6B3E"/>
                  </a:solidFill>
                  <a:latin typeface="Segoe UI"/>
                  <a:ea typeface="Microsoft YaHei"/>
                  <a:cs typeface="Segoe UI"/>
                </a:rPr>
                <a:t>● 低</a:t>
              </a:r>
            </a:p>
          </p:txBody>
        </p:sp>
        <p:sp>
          <p:nvSpPr>
            <p:cNvPr id="68" name="Line 68"/>
            <p:cNvSpPr/>
            <p:nvPr/>
          </p:nvSpPr>
          <p:spPr>
            <a:xfrm>
              <a:off x="914400" y="8534400"/>
              <a:ext cx="16459200" cy="9525"/>
            </a:xfrm>
            <a:custGeom>
              <a:avLst/>
              <a:gdLst/>
              <a:ahLst/>
              <a:cxnLst/>
              <a:rect l="l" t="t" r="r" b="b"/>
              <a:pathLst>
                <a:path w="16459200" h="9525">
                  <a:moveTo>
                    <a:pt x="0" y="0"/>
                  </a:moveTo>
                  <a:lnTo>
                    <a:pt x="16459200" y="0"/>
                  </a:lnTo>
                </a:path>
              </a:pathLst>
            </a:custGeom>
            <a:noFill/>
            <a:ln w="9525">
              <a:solidFill>
                <a:srgbClr val="E2E2E2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1203960" y="8671560"/>
              <a:ext cx="112585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推广(Q3-Q4)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3947160" y="8671560"/>
              <a:ext cx="45110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32 人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995160" y="8671560"/>
              <a:ext cx="45110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80 份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0233660" y="8671560"/>
              <a:ext cx="46863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≥ 45%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13773150" y="8629650"/>
              <a:ext cx="762000" cy="228600"/>
            </a:xfrm>
            <a:prstGeom prst="rect">
              <a:avLst/>
            </a:prstGeom>
            <a:solidFill>
              <a:srgbClr val="F7EFE0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13855065" y="8687752"/>
              <a:ext cx="3103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A5A00"/>
                  </a:solidFill>
                  <a:latin typeface="Segoe UI"/>
                  <a:ea typeface="Microsoft YaHei"/>
                  <a:cs typeface="Segoe UI"/>
                </a:rPr>
                <a:t>▲ 中</a:t>
              </a:r>
            </a:p>
          </p:txBody>
        </p:sp>
        <p:sp>
          <p:nvSpPr>
            <p:cNvPr id="75" name="Line 75"/>
            <p:cNvSpPr/>
            <p:nvPr/>
          </p:nvSpPr>
          <p:spPr>
            <a:xfrm>
              <a:off x="914400" y="8953500"/>
              <a:ext cx="16459200" cy="9525"/>
            </a:xfrm>
            <a:custGeom>
              <a:avLst/>
              <a:gdLst/>
              <a:ahLst/>
              <a:cxnLst/>
              <a:rect l="l" t="t" r="r" b="b"/>
              <a:pathLst>
                <a:path w="16459200" h="9525">
                  <a:moveTo>
                    <a:pt x="0" y="0"/>
                  </a:moveTo>
                  <a:lnTo>
                    <a:pt x="16459200" y="0"/>
                  </a:lnTo>
                </a:path>
              </a:pathLst>
            </a:custGeom>
            <a:noFill/>
            <a:ln w="9525">
              <a:solidFill>
                <a:srgbClr val="E2E2E2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1203960" y="9090660"/>
              <a:ext cx="114338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全面(2027Q1)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3947160" y="9090660"/>
              <a:ext cx="8542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全员 47 人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6995160" y="9090660"/>
              <a:ext cx="74904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[待替换]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0233660" y="9090660"/>
              <a:ext cx="46863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≥ 50%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13773150" y="9048750"/>
              <a:ext cx="762000" cy="228600"/>
            </a:xfrm>
            <a:prstGeom prst="rect">
              <a:avLst/>
            </a:prstGeom>
            <a:solidFill>
              <a:srgbClr val="F7EFE0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13855065" y="9106852"/>
              <a:ext cx="3103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A5A00"/>
                  </a:solidFill>
                  <a:latin typeface="Segoe UI"/>
                  <a:ea typeface="Microsoft YaHei"/>
                  <a:cs typeface="Segoe UI"/>
                </a:rPr>
                <a:t>▲ 中</a:t>
              </a:r>
            </a:p>
          </p:txBody>
        </p:sp>
      </p:grpSp>
      <p:sp>
        <p:nvSpPr>
          <p:cNvPr id="83" name="Line 83"/>
          <p:cNvSpPr/>
          <p:nvPr/>
        </p:nvSpPr>
        <p:spPr>
          <a:xfrm>
            <a:off x="914400" y="9525000"/>
            <a:ext cx="16459200" cy="9525"/>
          </a:xfrm>
          <a:custGeom>
            <a:avLst/>
            <a:gdLst/>
            <a:ahLst/>
            <a:cxnLst/>
            <a:rect l="l" t="t" r="r" b="b"/>
            <a:pathLst>
              <a:path w="16459200" h="9525">
                <a:moveTo>
                  <a:pt x="0" y="0"/>
                </a:moveTo>
                <a:lnTo>
                  <a:pt x="16459200" y="0"/>
                </a:lnTo>
              </a:path>
            </a:pathLst>
          </a:custGeom>
          <a:noFill/>
          <a:ln w="9525">
            <a:solidFill>
              <a:srgbClr val="E2E2E2"/>
            </a:solidFill>
          </a:ln>
        </p:spPr>
      </p:sp>
      <p:sp>
        <p:nvSpPr>
          <p:cNvPr id="84" name="TextBox 84"/>
          <p:cNvSpPr txBox="1"/>
          <p:nvPr/>
        </p:nvSpPr>
        <p:spPr>
          <a:xfrm>
            <a:off x="901065" y="9602152"/>
            <a:ext cx="31243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AHAM · Internal Evaluation · CONFIDENTIAL</a:t>
            </a:r>
          </a:p>
        </p:txBody>
      </p:sp>
      <p:sp>
        <p:nvSpPr>
          <p:cNvPr id="85" name="TextBox 85"/>
          <p:cNvSpPr txBox="1"/>
          <p:nvPr/>
        </p:nvSpPr>
        <p:spPr>
          <a:xfrm>
            <a:off x="16884872" y="9602152"/>
            <a:ext cx="5020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901065" y="458152"/>
            <a:ext cx="129182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05 · 区域部署规划</a:t>
            </a:r>
          </a:p>
        </p:txBody>
      </p:sp>
      <p:sp>
        <p:nvSpPr>
          <p:cNvPr id="4" name="Line 4"/>
          <p:cNvSpPr/>
          <p:nvPr/>
        </p:nvSpPr>
        <p:spPr>
          <a:xfrm>
            <a:off x="914400" y="723900"/>
            <a:ext cx="16459200" cy="9525"/>
          </a:xfrm>
          <a:custGeom>
            <a:avLst/>
            <a:gdLst/>
            <a:ahLst/>
            <a:cxnLst/>
            <a:rect l="l" t="t" r="r" b="b"/>
            <a:pathLst>
              <a:path w="16459200" h="9525">
                <a:moveTo>
                  <a:pt x="0" y="0"/>
                </a:moveTo>
                <a:lnTo>
                  <a:pt x="16459200" y="0"/>
                </a:lnTo>
              </a:path>
            </a:pathLst>
          </a:custGeom>
          <a:noFill/>
          <a:ln w="9525">
            <a:solidFill>
              <a:srgbClr val="E2E2E2"/>
            </a:solidFill>
          </a:ln>
        </p:spPr>
      </p:sp>
      <p:sp>
        <p:nvSpPr>
          <p:cNvPr id="5" name="Line 5"/>
          <p:cNvSpPr/>
          <p:nvPr/>
        </p:nvSpPr>
        <p:spPr>
          <a:xfrm>
            <a:off x="914400" y="1238250"/>
            <a:ext cx="9525" cy="666750"/>
          </a:xfrm>
          <a:custGeom>
            <a:avLst/>
            <a:gdLst/>
            <a:ahLst/>
            <a:cxnLst/>
            <a:rect l="l" t="t" r="r" b="b"/>
            <a:pathLst>
              <a:path w="9525" h="666750">
                <a:moveTo>
                  <a:pt x="0" y="0"/>
                </a:moveTo>
                <a:lnTo>
                  <a:pt x="0" y="666750"/>
                </a:lnTo>
              </a:path>
            </a:pathLst>
          </a:custGeom>
          <a:noFill/>
          <a:ln w="57150">
            <a:solidFill>
              <a:srgbClr val="1677FF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1223010" y="1346835"/>
            <a:ext cx="11392895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七大区域分公司中,四个核心枢纽优先部署,覆盖 78% 交付产能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40155" y="1854518"/>
            <a:ext cx="504234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——基于各分公司 2026 Q1 交付单量 × 顾问数量的综合权重</a:t>
            </a:r>
          </a:p>
        </p:txBody>
      </p:sp>
      <p:grpSp>
        <p:nvGrpSpPr>
          <p:cNvPr id="48" name="Group 48"/>
          <p:cNvGrpSpPr/>
          <p:nvPr/>
        </p:nvGrpSpPr>
        <p:grpSpPr>
          <a:xfrm>
            <a:off x="1143000" y="2667000"/>
            <a:ext cx="6858000" cy="5715000"/>
            <a:chOff x="1143000" y="2667000"/>
            <a:chExt cx="6858000" cy="5715000"/>
          </a:xfrm>
        </p:grpSpPr>
        <p:sp>
          <p:nvSpPr>
            <p:cNvPr id="8" name="Rectangle 8"/>
            <p:cNvSpPr/>
            <p:nvPr/>
          </p:nvSpPr>
          <p:spPr>
            <a:xfrm>
              <a:off x="1143000" y="2667000"/>
              <a:ext cx="6858000" cy="5715000"/>
            </a:xfrm>
            <a:prstGeom prst="rect">
              <a:avLst/>
            </a:prstGeom>
            <a:solidFill>
              <a:srgbClr val="FAFAFA"/>
            </a:solidFill>
            <a:ln w="9525">
              <a:solidFill>
                <a:srgbClr val="E2E2E2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282065" y="2858452"/>
              <a:ext cx="174421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88888"/>
                  </a:solidFill>
                  <a:latin typeface="Segoe UI"/>
                  <a:ea typeface="Microsoft YaHei"/>
                  <a:cs typeface="Segoe UI"/>
                </a:rPr>
                <a:t>DEPLOYMENT MAP · 示意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1295400" y="3086100"/>
              <a:ext cx="1752600" cy="9525"/>
            </a:xfrm>
            <a:custGeom>
              <a:avLst/>
              <a:gdLst/>
              <a:ahLst/>
              <a:cxnLst/>
              <a:rect l="l" t="t" r="r" b="b"/>
              <a:pathLst>
                <a:path w="1752600" h="9525">
                  <a:moveTo>
                    <a:pt x="0" y="0"/>
                  </a:moveTo>
                  <a:lnTo>
                    <a:pt x="1752600" y="0"/>
                  </a:lnTo>
                </a:path>
              </a:pathLst>
            </a:custGeom>
            <a:noFill/>
            <a:ln w="9525">
              <a:solidFill>
                <a:srgbClr val="E2E2E2"/>
              </a:solidFill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4838700" y="3790950"/>
              <a:ext cx="1134927" cy="928688"/>
              <a:chOff x="4838700" y="3790950"/>
              <a:chExt cx="1134927" cy="928688"/>
            </a:xfrm>
          </p:grpSpPr>
          <p:sp>
            <p:nvSpPr>
              <p:cNvPr id="11" name="Ellipse 11"/>
              <p:cNvSpPr/>
              <p:nvPr/>
            </p:nvSpPr>
            <p:spPr>
              <a:xfrm>
                <a:off x="4838700" y="3790950"/>
                <a:ext cx="609600" cy="609600"/>
              </a:xfrm>
              <a:prstGeom prst="ellipse">
                <a:avLst/>
              </a:prstGeom>
              <a:solidFill>
                <a:srgbClr val="1677FF"/>
              </a:solidFill>
              <a:ln w="19050">
                <a:solidFill>
                  <a:srgbClr val="1A1A1A"/>
                </a:solidFill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4969145" y="4039552"/>
                <a:ext cx="3487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北京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4923139" y="4506278"/>
                <a:ext cx="44072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142 单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5609272" y="3911441"/>
                <a:ext cx="364355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1677FF"/>
                    </a:solidFill>
                    <a:latin typeface="Segoe UI"/>
                    <a:ea typeface="Microsoft YaHei"/>
                    <a:cs typeface="Segoe UI"/>
                  </a:rPr>
                  <a:t>★ 优先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6134100" y="5276850"/>
              <a:ext cx="1173027" cy="995362"/>
              <a:chOff x="6134100" y="5276850"/>
              <a:chExt cx="1173027" cy="995362"/>
            </a:xfrm>
          </p:grpSpPr>
          <p:sp>
            <p:nvSpPr>
              <p:cNvPr id="16" name="Ellipse 16"/>
              <p:cNvSpPr/>
              <p:nvPr/>
            </p:nvSpPr>
            <p:spPr>
              <a:xfrm>
                <a:off x="6134100" y="5276850"/>
                <a:ext cx="685800" cy="685800"/>
              </a:xfrm>
              <a:prstGeom prst="ellipse">
                <a:avLst/>
              </a:prstGeom>
              <a:solidFill>
                <a:srgbClr val="1677FF"/>
              </a:solidFill>
              <a:ln w="19050">
                <a:solidFill>
                  <a:srgbClr val="1A1A1A"/>
                </a:solidFill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6302645" y="5563552"/>
                <a:ext cx="3487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上海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256639" y="6058852"/>
                <a:ext cx="44072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168 单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6942772" y="5435441"/>
                <a:ext cx="364355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1677FF"/>
                    </a:solidFill>
                    <a:latin typeface="Segoe UI"/>
                    <a:ea typeface="Microsoft YaHei"/>
                    <a:cs typeface="Segoe UI"/>
                  </a:rPr>
                  <a:t>★ 优先</a:t>
                </a: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5257800" y="7162800"/>
              <a:ext cx="1096827" cy="842962"/>
              <a:chOff x="5257800" y="7162800"/>
              <a:chExt cx="1096827" cy="842962"/>
            </a:xfrm>
          </p:grpSpPr>
          <p:sp>
            <p:nvSpPr>
              <p:cNvPr id="21" name="Ellipse 21"/>
              <p:cNvSpPr/>
              <p:nvPr/>
            </p:nvSpPr>
            <p:spPr>
              <a:xfrm>
                <a:off x="5257800" y="7162800"/>
                <a:ext cx="533400" cy="533400"/>
              </a:xfrm>
              <a:prstGeom prst="ellipse">
                <a:avLst/>
              </a:prstGeom>
              <a:solidFill>
                <a:srgbClr val="1677FF"/>
              </a:solidFill>
              <a:ln w="19050">
                <a:solidFill>
                  <a:srgbClr val="1A1A1A"/>
                </a:solidFill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5350145" y="7373302"/>
                <a:ext cx="34871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深圳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5327142" y="7792402"/>
                <a:ext cx="39471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98 单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5990272" y="7245191"/>
                <a:ext cx="364355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1677FF"/>
                    </a:solidFill>
                    <a:latin typeface="Segoe UI"/>
                    <a:ea typeface="Microsoft YaHei"/>
                    <a:cs typeface="Segoe UI"/>
                  </a:rPr>
                  <a:t>★ 优先</a:t>
                </a:r>
              </a:p>
            </p:txBody>
          </p:sp>
        </p:grpSp>
        <p:grpSp>
          <p:nvGrpSpPr>
            <p:cNvPr id="30" name="Group 30"/>
            <p:cNvGrpSpPr/>
            <p:nvPr/>
          </p:nvGrpSpPr>
          <p:grpSpPr>
            <a:xfrm>
              <a:off x="3390900" y="5867400"/>
              <a:ext cx="1058727" cy="747712"/>
              <a:chOff x="3390900" y="5867400"/>
              <a:chExt cx="1058727" cy="747712"/>
            </a:xfrm>
          </p:grpSpPr>
          <p:sp>
            <p:nvSpPr>
              <p:cNvPr id="26" name="Ellipse 26"/>
              <p:cNvSpPr/>
              <p:nvPr/>
            </p:nvSpPr>
            <p:spPr>
              <a:xfrm>
                <a:off x="3390900" y="5867400"/>
                <a:ext cx="457200" cy="457200"/>
              </a:xfrm>
              <a:prstGeom prst="ellipse">
                <a:avLst/>
              </a:prstGeom>
              <a:solidFill>
                <a:srgbClr val="1677FF"/>
              </a:solidFill>
              <a:ln w="19050">
                <a:solidFill>
                  <a:srgbClr val="1A1A1A"/>
                </a:solidFill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3470053" y="6055995"/>
                <a:ext cx="29889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成都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3422142" y="6401752"/>
                <a:ext cx="39471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62 单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4085272" y="5930741"/>
                <a:ext cx="364355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1677FF"/>
                    </a:solidFill>
                    <a:latin typeface="Segoe UI"/>
                    <a:ea typeface="Microsoft YaHei"/>
                    <a:cs typeface="Segoe UI"/>
                  </a:rPr>
                  <a:t>★ 优先</a:t>
                </a:r>
              </a:p>
            </p:txBody>
          </p:sp>
        </p:grpSp>
        <p:grpSp>
          <p:nvGrpSpPr>
            <p:cNvPr id="34" name="Group 34"/>
            <p:cNvGrpSpPr/>
            <p:nvPr/>
          </p:nvGrpSpPr>
          <p:grpSpPr>
            <a:xfrm>
              <a:off x="3067050" y="4591050"/>
              <a:ext cx="342900" cy="619125"/>
              <a:chOff x="3067050" y="4591050"/>
              <a:chExt cx="342900" cy="619125"/>
            </a:xfrm>
          </p:grpSpPr>
          <p:sp>
            <p:nvSpPr>
              <p:cNvPr id="31" name="Ellipse 31"/>
              <p:cNvSpPr/>
              <p:nvPr/>
            </p:nvSpPr>
            <p:spPr>
              <a:xfrm>
                <a:off x="3067050" y="4591050"/>
                <a:ext cx="342900" cy="3429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555555"/>
                </a:solidFill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3107531" y="4721066"/>
                <a:ext cx="261937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333333"/>
                    </a:solidFill>
                    <a:latin typeface="Segoe UI"/>
                    <a:ea typeface="Microsoft YaHei"/>
                    <a:cs typeface="Segoe UI"/>
                  </a:rPr>
                  <a:t>西安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3069336" y="5027295"/>
                <a:ext cx="33832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55555"/>
                    </a:solidFill>
                    <a:latin typeface="Segoe UI"/>
                    <a:ea typeface="Microsoft YaHei"/>
                    <a:cs typeface="Segoe UI"/>
                  </a:rPr>
                  <a:t>28 单</a:t>
                </a:r>
              </a:p>
            </p:txBody>
          </p:sp>
        </p:grpSp>
        <p:grpSp>
          <p:nvGrpSpPr>
            <p:cNvPr id="38" name="Group 38"/>
            <p:cNvGrpSpPr/>
            <p:nvPr/>
          </p:nvGrpSpPr>
          <p:grpSpPr>
            <a:xfrm>
              <a:off x="6305550" y="3543300"/>
              <a:ext cx="342900" cy="619125"/>
              <a:chOff x="6305550" y="3543300"/>
              <a:chExt cx="342900" cy="619125"/>
            </a:xfrm>
          </p:grpSpPr>
          <p:sp>
            <p:nvSpPr>
              <p:cNvPr id="35" name="Ellipse 35"/>
              <p:cNvSpPr/>
              <p:nvPr/>
            </p:nvSpPr>
            <p:spPr>
              <a:xfrm>
                <a:off x="6305550" y="3543300"/>
                <a:ext cx="342900" cy="3429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555555"/>
                </a:solidFill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6346031" y="3673316"/>
                <a:ext cx="261937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333333"/>
                    </a:solidFill>
                    <a:latin typeface="Segoe UI"/>
                    <a:ea typeface="Microsoft YaHei"/>
                    <a:cs typeface="Segoe UI"/>
                  </a:rPr>
                  <a:t>沈阳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6307836" y="3979545"/>
                <a:ext cx="33832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55555"/>
                    </a:solidFill>
                    <a:latin typeface="Segoe UI"/>
                    <a:ea typeface="Microsoft YaHei"/>
                    <a:cs typeface="Segoe UI"/>
                  </a:rPr>
                  <a:t>24 单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4953000" y="5905500"/>
              <a:ext cx="381000" cy="657225"/>
              <a:chOff x="4953000" y="5905500"/>
              <a:chExt cx="381000" cy="657225"/>
            </a:xfrm>
          </p:grpSpPr>
          <p:sp>
            <p:nvSpPr>
              <p:cNvPr id="39" name="Ellipse 39"/>
              <p:cNvSpPr/>
              <p:nvPr/>
            </p:nvSpPr>
            <p:spPr>
              <a:xfrm>
                <a:off x="4953000" y="5905500"/>
                <a:ext cx="381000" cy="3810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555555"/>
                </a:solidFill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5012531" y="6054566"/>
                <a:ext cx="261937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333333"/>
                    </a:solidFill>
                    <a:latin typeface="Segoe UI"/>
                    <a:ea typeface="Microsoft YaHei"/>
                    <a:cs typeface="Segoe UI"/>
                  </a:rPr>
                  <a:t>武汉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4974336" y="6379845"/>
                <a:ext cx="33832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55555"/>
                    </a:solidFill>
                    <a:latin typeface="Segoe UI"/>
                    <a:ea typeface="Microsoft YaHei"/>
                    <a:cs typeface="Segoe UI"/>
                  </a:rPr>
                  <a:t>38 单</a:t>
                </a:r>
              </a:p>
            </p:txBody>
          </p:sp>
        </p:grpSp>
        <p:grpSp>
          <p:nvGrpSpPr>
            <p:cNvPr id="47" name="Group 47"/>
            <p:cNvGrpSpPr/>
            <p:nvPr/>
          </p:nvGrpSpPr>
          <p:grpSpPr>
            <a:xfrm>
              <a:off x="1333500" y="7791450"/>
              <a:ext cx="3358324" cy="200025"/>
              <a:chOff x="1333500" y="7791450"/>
              <a:chExt cx="3358324" cy="200025"/>
            </a:xfrm>
          </p:grpSpPr>
          <p:sp>
            <p:nvSpPr>
              <p:cNvPr id="43" name="Ellipse 43"/>
              <p:cNvSpPr/>
              <p:nvPr/>
            </p:nvSpPr>
            <p:spPr>
              <a:xfrm>
                <a:off x="1333500" y="7791450"/>
                <a:ext cx="152400" cy="152400"/>
              </a:xfrm>
              <a:prstGeom prst="ellipse">
                <a:avLst/>
              </a:prstGeom>
              <a:solidFill>
                <a:srgbClr val="1677FF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1550670" y="7808595"/>
                <a:ext cx="131759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55555"/>
                    </a:solidFill>
                    <a:latin typeface="Segoe UI"/>
                    <a:ea typeface="Microsoft YaHei"/>
                    <a:cs typeface="Segoe UI"/>
                  </a:rPr>
                  <a:t>阶段 1 优先部署(4 城)</a:t>
                </a:r>
              </a:p>
            </p:txBody>
          </p:sp>
          <p:sp>
            <p:nvSpPr>
              <p:cNvPr id="45" name="Ellipse 45"/>
              <p:cNvSpPr/>
              <p:nvPr/>
            </p:nvSpPr>
            <p:spPr>
              <a:xfrm>
                <a:off x="3124200" y="7791450"/>
                <a:ext cx="152400" cy="152400"/>
              </a:xfrm>
              <a:prstGeom prst="ellipse">
                <a:avLst/>
              </a:prstGeom>
              <a:solidFill>
                <a:srgbClr val="FFFFFF"/>
              </a:solidFill>
              <a:ln w="19050">
                <a:solidFill>
                  <a:srgbClr val="555555"/>
                </a:solidFill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3341370" y="7808595"/>
                <a:ext cx="135045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55555"/>
                    </a:solidFill>
                    <a:latin typeface="Segoe UI"/>
                    <a:ea typeface="Microsoft YaHei"/>
                    <a:cs typeface="Segoe UI"/>
                  </a:rPr>
                  <a:t>阶段 2 跟进部署(3 城)</a:t>
                </a:r>
              </a:p>
            </p:txBody>
          </p:sp>
        </p:grpSp>
      </p:grpSp>
      <p:grpSp>
        <p:nvGrpSpPr>
          <p:cNvPr id="117" name="Group 117"/>
          <p:cNvGrpSpPr/>
          <p:nvPr/>
        </p:nvGrpSpPr>
        <p:grpSpPr>
          <a:xfrm>
            <a:off x="8572500" y="2667000"/>
            <a:ext cx="8915400" cy="4429125"/>
            <a:chOff x="8572500" y="2667000"/>
            <a:chExt cx="8915400" cy="4429125"/>
          </a:xfrm>
        </p:grpSpPr>
        <p:sp>
          <p:nvSpPr>
            <p:cNvPr id="49" name="Rectangle 49"/>
            <p:cNvSpPr/>
            <p:nvPr/>
          </p:nvSpPr>
          <p:spPr>
            <a:xfrm>
              <a:off x="8572500" y="2667000"/>
              <a:ext cx="8915400" cy="4191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785860" y="2823210"/>
              <a:ext cx="3810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区域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10652760" y="2823210"/>
              <a:ext cx="5562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顾问数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12176760" y="2823210"/>
              <a:ext cx="79286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Q1 交付单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3891260" y="2823210"/>
              <a:ext cx="7315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综合权重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5796260" y="2823210"/>
              <a:ext cx="7315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部署批次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8786812" y="3307556"/>
              <a:ext cx="86653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华东(上海)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653712" y="3307556"/>
              <a:ext cx="1682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12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2177712" y="3307556"/>
              <a:ext cx="2586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168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3892212" y="3307556"/>
              <a:ext cx="50300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28.4%</a:t>
              </a:r>
            </a:p>
          </p:txBody>
        </p:sp>
        <p:sp>
          <p:nvSpPr>
            <p:cNvPr id="59" name="Rectangle 59"/>
            <p:cNvSpPr/>
            <p:nvPr/>
          </p:nvSpPr>
          <p:spPr>
            <a:xfrm>
              <a:off x="15716250" y="3257550"/>
              <a:ext cx="571500" cy="228600"/>
            </a:xfrm>
            <a:prstGeom prst="rect">
              <a:avLst/>
            </a:prstGeom>
            <a:solidFill>
              <a:srgbClr val="1677FF"/>
            </a:solidFill>
            <a:ln>
              <a:noFill/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5929098" y="3323749"/>
              <a:ext cx="1458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01</a:t>
              </a:r>
            </a:p>
          </p:txBody>
        </p:sp>
        <p:sp>
          <p:nvSpPr>
            <p:cNvPr id="61" name="Line 61"/>
            <p:cNvSpPr/>
            <p:nvPr/>
          </p:nvSpPr>
          <p:spPr>
            <a:xfrm>
              <a:off x="8572500" y="3581400"/>
              <a:ext cx="8915400" cy="9525"/>
            </a:xfrm>
            <a:custGeom>
              <a:avLst/>
              <a:gdLst/>
              <a:ahLst/>
              <a:cxnLst/>
              <a:rect l="l" t="t" r="r" b="b"/>
              <a:pathLst>
                <a:path w="8915400" h="9525">
                  <a:moveTo>
                    <a:pt x="0" y="0"/>
                  </a:moveTo>
                  <a:lnTo>
                    <a:pt x="8915400" y="0"/>
                  </a:lnTo>
                </a:path>
              </a:pathLst>
            </a:custGeom>
            <a:noFill/>
            <a:ln w="9525">
              <a:solidFill>
                <a:srgbClr val="E2E2E2"/>
              </a:solidFill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786812" y="3726656"/>
              <a:ext cx="86653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华北(北京)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653712" y="3726656"/>
              <a:ext cx="16823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10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2177712" y="3726656"/>
              <a:ext cx="25860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142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3892212" y="3726656"/>
              <a:ext cx="50300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24.0%</a:t>
              </a:r>
            </a:p>
          </p:txBody>
        </p:sp>
        <p:sp>
          <p:nvSpPr>
            <p:cNvPr id="66" name="Rectangle 66"/>
            <p:cNvSpPr/>
            <p:nvPr/>
          </p:nvSpPr>
          <p:spPr>
            <a:xfrm>
              <a:off x="15716250" y="3676650"/>
              <a:ext cx="571500" cy="228600"/>
            </a:xfrm>
            <a:prstGeom prst="rect">
              <a:avLst/>
            </a:prstGeom>
            <a:solidFill>
              <a:srgbClr val="1677FF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15929098" y="3742849"/>
              <a:ext cx="1458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01</a:t>
              </a:r>
            </a:p>
          </p:txBody>
        </p:sp>
        <p:sp>
          <p:nvSpPr>
            <p:cNvPr id="68" name="Line 68"/>
            <p:cNvSpPr/>
            <p:nvPr/>
          </p:nvSpPr>
          <p:spPr>
            <a:xfrm>
              <a:off x="8572500" y="4000500"/>
              <a:ext cx="8915400" cy="9525"/>
            </a:xfrm>
            <a:custGeom>
              <a:avLst/>
              <a:gdLst/>
              <a:ahLst/>
              <a:cxnLst/>
              <a:rect l="l" t="t" r="r" b="b"/>
              <a:pathLst>
                <a:path w="8915400" h="9525">
                  <a:moveTo>
                    <a:pt x="0" y="0"/>
                  </a:moveTo>
                  <a:lnTo>
                    <a:pt x="8915400" y="0"/>
                  </a:lnTo>
                </a:path>
              </a:pathLst>
            </a:custGeom>
            <a:noFill/>
            <a:ln w="9525">
              <a:solidFill>
                <a:srgbClr val="E2E2E2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8786812" y="4145756"/>
              <a:ext cx="86653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华南(深圳)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0653712" y="4145756"/>
              <a:ext cx="11894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8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2177712" y="4145756"/>
              <a:ext cx="2093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98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3892212" y="4145756"/>
              <a:ext cx="45987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16.6%</a:t>
              </a: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15716250" y="4095750"/>
              <a:ext cx="571500" cy="228600"/>
            </a:xfrm>
            <a:prstGeom prst="rect">
              <a:avLst/>
            </a:prstGeom>
            <a:solidFill>
              <a:srgbClr val="1677FF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15929098" y="4161949"/>
              <a:ext cx="1458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01</a:t>
              </a:r>
            </a:p>
          </p:txBody>
        </p:sp>
        <p:sp>
          <p:nvSpPr>
            <p:cNvPr id="75" name="Line 75"/>
            <p:cNvSpPr/>
            <p:nvPr/>
          </p:nvSpPr>
          <p:spPr>
            <a:xfrm>
              <a:off x="8572500" y="4419600"/>
              <a:ext cx="8915400" cy="9525"/>
            </a:xfrm>
            <a:custGeom>
              <a:avLst/>
              <a:gdLst/>
              <a:ahLst/>
              <a:cxnLst/>
              <a:rect l="l" t="t" r="r" b="b"/>
              <a:pathLst>
                <a:path w="8915400" h="9525">
                  <a:moveTo>
                    <a:pt x="0" y="0"/>
                  </a:moveTo>
                  <a:lnTo>
                    <a:pt x="8915400" y="0"/>
                  </a:lnTo>
                </a:path>
              </a:pathLst>
            </a:custGeom>
            <a:noFill/>
            <a:ln w="9525">
              <a:solidFill>
                <a:srgbClr val="E2E2E2"/>
              </a:solidFill>
            </a:ln>
          </p:spPr>
        </p:sp>
        <p:sp>
          <p:nvSpPr>
            <p:cNvPr id="76" name="TextBox 76"/>
            <p:cNvSpPr txBox="1"/>
            <p:nvPr/>
          </p:nvSpPr>
          <p:spPr>
            <a:xfrm>
              <a:off x="8786812" y="4564856"/>
              <a:ext cx="86653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西南(成都)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10653712" y="4564856"/>
              <a:ext cx="11894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5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2177712" y="4564856"/>
              <a:ext cx="2093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62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3892212" y="4564856"/>
              <a:ext cx="45987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10.5%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15716250" y="4514850"/>
              <a:ext cx="571500" cy="228600"/>
            </a:xfrm>
            <a:prstGeom prst="rect">
              <a:avLst/>
            </a:prstGeom>
            <a:solidFill>
              <a:srgbClr val="1677FF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15929098" y="4581049"/>
              <a:ext cx="1458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01</a:t>
              </a:r>
            </a:p>
          </p:txBody>
        </p:sp>
        <p:sp>
          <p:nvSpPr>
            <p:cNvPr id="82" name="Line 82"/>
            <p:cNvSpPr/>
            <p:nvPr/>
          </p:nvSpPr>
          <p:spPr>
            <a:xfrm>
              <a:off x="8572500" y="4838700"/>
              <a:ext cx="8915400" cy="9525"/>
            </a:xfrm>
            <a:custGeom>
              <a:avLst/>
              <a:gdLst/>
              <a:ahLst/>
              <a:cxnLst/>
              <a:rect l="l" t="t" r="r" b="b"/>
              <a:pathLst>
                <a:path w="8915400" h="9525">
                  <a:moveTo>
                    <a:pt x="0" y="0"/>
                  </a:moveTo>
                  <a:lnTo>
                    <a:pt x="8915400" y="0"/>
                  </a:lnTo>
                </a:path>
              </a:pathLst>
            </a:custGeom>
            <a:noFill/>
            <a:ln w="9525">
              <a:solidFill>
                <a:srgbClr val="E2E2E2"/>
              </a:solidFill>
            </a:ln>
          </p:spPr>
        </p:sp>
        <p:sp>
          <p:nvSpPr>
            <p:cNvPr id="83" name="Rectangle 83"/>
            <p:cNvSpPr/>
            <p:nvPr/>
          </p:nvSpPr>
          <p:spPr>
            <a:xfrm>
              <a:off x="8572500" y="4933950"/>
              <a:ext cx="8915400" cy="3810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8786812" y="5060156"/>
              <a:ext cx="13828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阶段 1 小计(4 城)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0653712" y="5060156"/>
              <a:ext cx="2183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35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2177712" y="5060156"/>
              <a:ext cx="31323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470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3892212" y="5060156"/>
              <a:ext cx="50300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677FF"/>
                  </a:solidFill>
                  <a:latin typeface="Segoe UI"/>
                  <a:ea typeface="Microsoft YaHei"/>
                  <a:cs typeface="Segoe UI"/>
                </a:rPr>
                <a:t>79.5%</a:t>
              </a:r>
            </a:p>
          </p:txBody>
        </p:sp>
        <p:sp>
          <p:nvSpPr>
            <p:cNvPr id="88" name="Line 88"/>
            <p:cNvSpPr/>
            <p:nvPr/>
          </p:nvSpPr>
          <p:spPr>
            <a:xfrm>
              <a:off x="8572500" y="5334000"/>
              <a:ext cx="8915400" cy="9525"/>
            </a:xfrm>
            <a:custGeom>
              <a:avLst/>
              <a:gdLst/>
              <a:ahLst/>
              <a:cxnLst/>
              <a:rect l="l" t="t" r="r" b="b"/>
              <a:pathLst>
                <a:path w="8915400" h="9525">
                  <a:moveTo>
                    <a:pt x="0" y="0"/>
                  </a:moveTo>
                  <a:lnTo>
                    <a:pt x="8915400" y="0"/>
                  </a:lnTo>
                </a:path>
              </a:pathLst>
            </a:custGeom>
            <a:noFill/>
            <a:ln w="9525">
              <a:solidFill>
                <a:srgbClr val="E2E2E2"/>
              </a:solidFill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8786812" y="5479256"/>
              <a:ext cx="86653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55555"/>
                  </a:solidFill>
                  <a:latin typeface="Segoe UI"/>
                  <a:ea typeface="Microsoft YaHei"/>
                  <a:cs typeface="Segoe UI"/>
                </a:rPr>
                <a:t>华中(武汉)</a:t>
              </a:r>
            </a:p>
          </p:txBody>
        </p:sp>
        <p:sp>
          <p:nvSpPr>
            <p:cNvPr id="90" name="TextBox 90"/>
            <p:cNvSpPr txBox="1"/>
            <p:nvPr/>
          </p:nvSpPr>
          <p:spPr>
            <a:xfrm>
              <a:off x="10653712" y="5479256"/>
              <a:ext cx="11894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55555"/>
                  </a:solidFill>
                  <a:latin typeface="Segoe UI"/>
                  <a:ea typeface="Microsoft YaHei"/>
                  <a:cs typeface="Segoe UI"/>
                </a:rPr>
                <a:t>4</a:t>
              </a:r>
            </a:p>
          </p:txBody>
        </p:sp>
        <p:sp>
          <p:nvSpPr>
            <p:cNvPr id="91" name="TextBox 91"/>
            <p:cNvSpPr txBox="1"/>
            <p:nvPr/>
          </p:nvSpPr>
          <p:spPr>
            <a:xfrm>
              <a:off x="12177712" y="5479256"/>
              <a:ext cx="2093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55555"/>
                  </a:solidFill>
                  <a:latin typeface="Segoe UI"/>
                  <a:ea typeface="Microsoft YaHei"/>
                  <a:cs typeface="Segoe UI"/>
                </a:rPr>
                <a:t>38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3892212" y="5479256"/>
              <a:ext cx="3900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55555"/>
                  </a:solidFill>
                  <a:latin typeface="Segoe UI"/>
                  <a:ea typeface="Microsoft YaHei"/>
                  <a:cs typeface="Segoe UI"/>
                </a:rPr>
                <a:t>6.4%</a:t>
              </a:r>
            </a:p>
          </p:txBody>
        </p:sp>
        <p:sp>
          <p:nvSpPr>
            <p:cNvPr id="93" name="Rectangle 93"/>
            <p:cNvSpPr/>
            <p:nvPr/>
          </p:nvSpPr>
          <p:spPr>
            <a:xfrm>
              <a:off x="15716250" y="5429250"/>
              <a:ext cx="571500" cy="228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888888"/>
              </a:solidFill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15911298" y="549544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02</a:t>
              </a:r>
            </a:p>
          </p:txBody>
        </p:sp>
        <p:sp>
          <p:nvSpPr>
            <p:cNvPr id="95" name="Line 95"/>
            <p:cNvSpPr/>
            <p:nvPr/>
          </p:nvSpPr>
          <p:spPr>
            <a:xfrm>
              <a:off x="8572500" y="5753100"/>
              <a:ext cx="8915400" cy="9525"/>
            </a:xfrm>
            <a:custGeom>
              <a:avLst/>
              <a:gdLst/>
              <a:ahLst/>
              <a:cxnLst/>
              <a:rect l="l" t="t" r="r" b="b"/>
              <a:pathLst>
                <a:path w="8915400" h="9525">
                  <a:moveTo>
                    <a:pt x="0" y="0"/>
                  </a:moveTo>
                  <a:lnTo>
                    <a:pt x="8915400" y="0"/>
                  </a:lnTo>
                </a:path>
              </a:pathLst>
            </a:custGeom>
            <a:noFill/>
            <a:ln w="9525">
              <a:solidFill>
                <a:srgbClr val="E2E2E2"/>
              </a:solidFill>
            </a:ln>
          </p:spPr>
        </p:sp>
        <p:sp>
          <p:nvSpPr>
            <p:cNvPr id="96" name="TextBox 96"/>
            <p:cNvSpPr txBox="1"/>
            <p:nvPr/>
          </p:nvSpPr>
          <p:spPr>
            <a:xfrm>
              <a:off x="8786812" y="5898356"/>
              <a:ext cx="86653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55555"/>
                  </a:solidFill>
                  <a:latin typeface="Segoe UI"/>
                  <a:ea typeface="Microsoft YaHei"/>
                  <a:cs typeface="Segoe UI"/>
                </a:rPr>
                <a:t>西北(西安)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10653712" y="5898356"/>
              <a:ext cx="11894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55555"/>
                  </a:solidFill>
                  <a:latin typeface="Segoe UI"/>
                  <a:ea typeface="Microsoft YaHei"/>
                  <a:cs typeface="Segoe UI"/>
                </a:rPr>
                <a:t>3</a:t>
              </a: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12177712" y="5898356"/>
              <a:ext cx="2093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55555"/>
                  </a:solidFill>
                  <a:latin typeface="Segoe UI"/>
                  <a:ea typeface="Microsoft YaHei"/>
                  <a:cs typeface="Segoe UI"/>
                </a:rPr>
                <a:t>28</a:t>
              </a:r>
            </a:p>
          </p:txBody>
        </p:sp>
        <p:sp>
          <p:nvSpPr>
            <p:cNvPr id="99" name="TextBox 99"/>
            <p:cNvSpPr txBox="1"/>
            <p:nvPr/>
          </p:nvSpPr>
          <p:spPr>
            <a:xfrm>
              <a:off x="13892212" y="5898356"/>
              <a:ext cx="3900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55555"/>
                  </a:solidFill>
                  <a:latin typeface="Segoe UI"/>
                  <a:ea typeface="Microsoft YaHei"/>
                  <a:cs typeface="Segoe UI"/>
                </a:rPr>
                <a:t>4.7%</a:t>
              </a:r>
            </a:p>
          </p:txBody>
        </p:sp>
        <p:sp>
          <p:nvSpPr>
            <p:cNvPr id="100" name="Rectangle 100"/>
            <p:cNvSpPr/>
            <p:nvPr/>
          </p:nvSpPr>
          <p:spPr>
            <a:xfrm>
              <a:off x="15716250" y="5848350"/>
              <a:ext cx="571500" cy="228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888888"/>
              </a:solidFill>
            </a:ln>
          </p:spPr>
        </p:sp>
        <p:sp>
          <p:nvSpPr>
            <p:cNvPr id="101" name="TextBox 101"/>
            <p:cNvSpPr txBox="1"/>
            <p:nvPr/>
          </p:nvSpPr>
          <p:spPr>
            <a:xfrm>
              <a:off x="15911298" y="591454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02</a:t>
              </a:r>
            </a:p>
          </p:txBody>
        </p:sp>
        <p:sp>
          <p:nvSpPr>
            <p:cNvPr id="102" name="Line 102"/>
            <p:cNvSpPr/>
            <p:nvPr/>
          </p:nvSpPr>
          <p:spPr>
            <a:xfrm>
              <a:off x="8572500" y="6172200"/>
              <a:ext cx="8915400" cy="9525"/>
            </a:xfrm>
            <a:custGeom>
              <a:avLst/>
              <a:gdLst/>
              <a:ahLst/>
              <a:cxnLst/>
              <a:rect l="l" t="t" r="r" b="b"/>
              <a:pathLst>
                <a:path w="8915400" h="9525">
                  <a:moveTo>
                    <a:pt x="0" y="0"/>
                  </a:moveTo>
                  <a:lnTo>
                    <a:pt x="8915400" y="0"/>
                  </a:lnTo>
                </a:path>
              </a:pathLst>
            </a:custGeom>
            <a:noFill/>
            <a:ln w="9525">
              <a:solidFill>
                <a:srgbClr val="E2E2E2"/>
              </a:solidFill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8786812" y="6317456"/>
              <a:ext cx="86653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55555"/>
                  </a:solidFill>
                  <a:latin typeface="Segoe UI"/>
                  <a:ea typeface="Microsoft YaHei"/>
                  <a:cs typeface="Segoe UI"/>
                </a:rPr>
                <a:t>东北(沈阳)</a:t>
              </a:r>
            </a:p>
          </p:txBody>
        </p:sp>
        <p:sp>
          <p:nvSpPr>
            <p:cNvPr id="104" name="TextBox 104"/>
            <p:cNvSpPr txBox="1"/>
            <p:nvPr/>
          </p:nvSpPr>
          <p:spPr>
            <a:xfrm>
              <a:off x="10653712" y="6317456"/>
              <a:ext cx="11894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55555"/>
                  </a:solidFill>
                  <a:latin typeface="Segoe UI"/>
                  <a:ea typeface="Microsoft YaHei"/>
                  <a:cs typeface="Segoe UI"/>
                </a:rPr>
                <a:t>5</a:t>
              </a:r>
            </a:p>
          </p:txBody>
        </p:sp>
        <p:sp>
          <p:nvSpPr>
            <p:cNvPr id="105" name="TextBox 105"/>
            <p:cNvSpPr txBox="1"/>
            <p:nvPr/>
          </p:nvSpPr>
          <p:spPr>
            <a:xfrm>
              <a:off x="12177712" y="6317456"/>
              <a:ext cx="2093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55555"/>
                  </a:solidFill>
                  <a:latin typeface="Segoe UI"/>
                  <a:ea typeface="Microsoft YaHei"/>
                  <a:cs typeface="Segoe UI"/>
                </a:rPr>
                <a:t>24</a:t>
              </a:r>
            </a:p>
          </p:txBody>
        </p:sp>
        <p:sp>
          <p:nvSpPr>
            <p:cNvPr id="106" name="TextBox 106"/>
            <p:cNvSpPr txBox="1"/>
            <p:nvPr/>
          </p:nvSpPr>
          <p:spPr>
            <a:xfrm>
              <a:off x="13892212" y="6317456"/>
              <a:ext cx="34897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555555"/>
                  </a:solidFill>
                  <a:latin typeface="Segoe UI"/>
                  <a:ea typeface="Microsoft YaHei"/>
                  <a:cs typeface="Segoe UI"/>
                </a:rPr>
                <a:t>4.1%</a:t>
              </a:r>
            </a:p>
          </p:txBody>
        </p:sp>
        <p:sp>
          <p:nvSpPr>
            <p:cNvPr id="107" name="Rectangle 107"/>
            <p:cNvSpPr/>
            <p:nvPr/>
          </p:nvSpPr>
          <p:spPr>
            <a:xfrm>
              <a:off x="15716250" y="6267450"/>
              <a:ext cx="571500" cy="2286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888888"/>
              </a:solidFill>
            </a:ln>
          </p:spPr>
        </p:sp>
        <p:sp>
          <p:nvSpPr>
            <p:cNvPr id="108" name="TextBox 108"/>
            <p:cNvSpPr txBox="1"/>
            <p:nvPr/>
          </p:nvSpPr>
          <p:spPr>
            <a:xfrm>
              <a:off x="15911298" y="6333649"/>
              <a:ext cx="18140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02</a:t>
              </a:r>
            </a:p>
          </p:txBody>
        </p:sp>
        <p:sp>
          <p:nvSpPr>
            <p:cNvPr id="109" name="Line 109"/>
            <p:cNvSpPr/>
            <p:nvPr/>
          </p:nvSpPr>
          <p:spPr>
            <a:xfrm>
              <a:off x="8572500" y="6591300"/>
              <a:ext cx="8915400" cy="9525"/>
            </a:xfrm>
            <a:custGeom>
              <a:avLst/>
              <a:gdLst/>
              <a:ahLst/>
              <a:cxnLst/>
              <a:rect l="l" t="t" r="r" b="b"/>
              <a:pathLst>
                <a:path w="8915400" h="9525">
                  <a:moveTo>
                    <a:pt x="0" y="0"/>
                  </a:moveTo>
                  <a:lnTo>
                    <a:pt x="8915400" y="0"/>
                  </a:lnTo>
                </a:path>
              </a:pathLst>
            </a:custGeom>
            <a:noFill/>
            <a:ln w="9525">
              <a:solidFill>
                <a:srgbClr val="E2E2E2"/>
              </a:solidFill>
            </a:ln>
          </p:spPr>
        </p:sp>
        <p:sp>
          <p:nvSpPr>
            <p:cNvPr id="110" name="Rectangle 110"/>
            <p:cNvSpPr/>
            <p:nvPr/>
          </p:nvSpPr>
          <p:spPr>
            <a:xfrm>
              <a:off x="8572500" y="6705600"/>
              <a:ext cx="8915400" cy="381000"/>
            </a:xfrm>
            <a:prstGeom prst="rect">
              <a:avLst/>
            </a:prstGeom>
            <a:solidFill>
              <a:srgbClr val="FAFAFA"/>
            </a:solidFill>
            <a:ln>
              <a:noFill/>
            </a:ln>
          </p:spPr>
        </p:sp>
        <p:sp>
          <p:nvSpPr>
            <p:cNvPr id="111" name="Line 111"/>
            <p:cNvSpPr/>
            <p:nvPr/>
          </p:nvSpPr>
          <p:spPr>
            <a:xfrm>
              <a:off x="8572500" y="6705600"/>
              <a:ext cx="8915400" cy="9525"/>
            </a:xfrm>
            <a:custGeom>
              <a:avLst/>
              <a:gdLst/>
              <a:ahLst/>
              <a:cxnLst/>
              <a:rect l="l" t="t" r="r" b="b"/>
              <a:pathLst>
                <a:path w="8915400" h="9525">
                  <a:moveTo>
                    <a:pt x="0" y="0"/>
                  </a:moveTo>
                  <a:lnTo>
                    <a:pt x="8915400" y="0"/>
                  </a:lnTo>
                </a:path>
              </a:pathLst>
            </a:custGeom>
            <a:noFill/>
            <a:ln w="19050">
              <a:solidFill>
                <a:srgbClr val="1A1A1A"/>
              </a:solidFill>
            </a:ln>
          </p:spPr>
        </p:sp>
        <p:sp>
          <p:nvSpPr>
            <p:cNvPr id="112" name="TextBox 112"/>
            <p:cNvSpPr txBox="1"/>
            <p:nvPr/>
          </p:nvSpPr>
          <p:spPr>
            <a:xfrm>
              <a:off x="8786812" y="6831806"/>
              <a:ext cx="14260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合计(7 城 · 全员)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10653712" y="6831806"/>
              <a:ext cx="21834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47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12177712" y="6831806"/>
              <a:ext cx="31323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590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13892212" y="6831806"/>
              <a:ext cx="36499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100%</a:t>
              </a:r>
            </a:p>
          </p:txBody>
        </p:sp>
        <p:sp>
          <p:nvSpPr>
            <p:cNvPr id="116" name="Line 116"/>
            <p:cNvSpPr/>
            <p:nvPr/>
          </p:nvSpPr>
          <p:spPr>
            <a:xfrm>
              <a:off x="8572500" y="7086600"/>
              <a:ext cx="8915400" cy="9525"/>
            </a:xfrm>
            <a:custGeom>
              <a:avLst/>
              <a:gdLst/>
              <a:ahLst/>
              <a:cxnLst/>
              <a:rect l="l" t="t" r="r" b="b"/>
              <a:pathLst>
                <a:path w="8915400" h="9525">
                  <a:moveTo>
                    <a:pt x="0" y="0"/>
                  </a:moveTo>
                  <a:lnTo>
                    <a:pt x="8915400" y="0"/>
                  </a:lnTo>
                </a:path>
              </a:pathLst>
            </a:custGeom>
            <a:noFill/>
            <a:ln w="19050">
              <a:solidFill>
                <a:srgbClr val="1A1A1A"/>
              </a:solidFill>
            </a:ln>
          </p:spPr>
        </p:sp>
      </p:grpSp>
      <p:sp>
        <p:nvSpPr>
          <p:cNvPr id="118" name="TextBox 118"/>
          <p:cNvSpPr txBox="1"/>
          <p:nvPr/>
        </p:nvSpPr>
        <p:spPr>
          <a:xfrm>
            <a:off x="902018" y="8848249"/>
            <a:ext cx="743662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数据来源:内部 HR 与 CRM 系统,统计周期 2026-01-01 ~ 2026-03-31。综合权重 = (顾问数 × 0.3) + (交付单数 × 0.7)</a:t>
            </a:r>
          </a:p>
        </p:txBody>
      </p:sp>
      <p:sp>
        <p:nvSpPr>
          <p:cNvPr id="119" name="Line 119"/>
          <p:cNvSpPr/>
          <p:nvPr/>
        </p:nvSpPr>
        <p:spPr>
          <a:xfrm>
            <a:off x="914400" y="9525000"/>
            <a:ext cx="16459200" cy="9525"/>
          </a:xfrm>
          <a:custGeom>
            <a:avLst/>
            <a:gdLst/>
            <a:ahLst/>
            <a:cxnLst/>
            <a:rect l="l" t="t" r="r" b="b"/>
            <a:pathLst>
              <a:path w="16459200" h="9525">
                <a:moveTo>
                  <a:pt x="0" y="0"/>
                </a:moveTo>
                <a:lnTo>
                  <a:pt x="16459200" y="0"/>
                </a:lnTo>
              </a:path>
            </a:pathLst>
          </a:custGeom>
          <a:noFill/>
          <a:ln w="9525">
            <a:solidFill>
              <a:srgbClr val="E2E2E2"/>
            </a:solidFill>
          </a:ln>
        </p:spPr>
      </p:sp>
      <p:sp>
        <p:nvSpPr>
          <p:cNvPr id="120" name="TextBox 120"/>
          <p:cNvSpPr txBox="1"/>
          <p:nvPr/>
        </p:nvSpPr>
        <p:spPr>
          <a:xfrm>
            <a:off x="901065" y="9602152"/>
            <a:ext cx="31243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AHAM · Internal Evaluation · CONFIDENTIAL</a:t>
            </a:r>
          </a:p>
        </p:txBody>
      </p:sp>
      <p:sp>
        <p:nvSpPr>
          <p:cNvPr id="121" name="TextBox 121"/>
          <p:cNvSpPr txBox="1"/>
          <p:nvPr/>
        </p:nvSpPr>
        <p:spPr>
          <a:xfrm>
            <a:off x="16884872" y="9602152"/>
            <a:ext cx="5020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901065" y="458152"/>
            <a:ext cx="1291828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06 · 投入产出测算</a:t>
            </a:r>
          </a:p>
        </p:txBody>
      </p:sp>
      <p:sp>
        <p:nvSpPr>
          <p:cNvPr id="4" name="Line 4"/>
          <p:cNvSpPr/>
          <p:nvPr/>
        </p:nvSpPr>
        <p:spPr>
          <a:xfrm>
            <a:off x="914400" y="723900"/>
            <a:ext cx="16459200" cy="9525"/>
          </a:xfrm>
          <a:custGeom>
            <a:avLst/>
            <a:gdLst/>
            <a:ahLst/>
            <a:cxnLst/>
            <a:rect l="l" t="t" r="r" b="b"/>
            <a:pathLst>
              <a:path w="16459200" h="9525">
                <a:moveTo>
                  <a:pt x="0" y="0"/>
                </a:moveTo>
                <a:lnTo>
                  <a:pt x="16459200" y="0"/>
                </a:lnTo>
              </a:path>
            </a:pathLst>
          </a:custGeom>
          <a:noFill/>
          <a:ln w="9525">
            <a:solidFill>
              <a:srgbClr val="E2E2E2"/>
            </a:solidFill>
          </a:ln>
        </p:spPr>
      </p:sp>
      <p:sp>
        <p:nvSpPr>
          <p:cNvPr id="5" name="Line 5"/>
          <p:cNvSpPr/>
          <p:nvPr/>
        </p:nvSpPr>
        <p:spPr>
          <a:xfrm>
            <a:off x="914400" y="1238250"/>
            <a:ext cx="9525" cy="666750"/>
          </a:xfrm>
          <a:custGeom>
            <a:avLst/>
            <a:gdLst/>
            <a:ahLst/>
            <a:cxnLst/>
            <a:rect l="l" t="t" r="r" b="b"/>
            <a:pathLst>
              <a:path w="9525" h="666750">
                <a:moveTo>
                  <a:pt x="0" y="0"/>
                </a:moveTo>
                <a:lnTo>
                  <a:pt x="0" y="666750"/>
                </a:lnTo>
              </a:path>
            </a:pathLst>
          </a:custGeom>
          <a:noFill/>
          <a:ln w="57150">
            <a:solidFill>
              <a:srgbClr val="1677FF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1223010" y="1346835"/>
            <a:ext cx="1062690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三年累计净收益 ¥[待替换] 万,投资回收期 [待替换] 个月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40155" y="1854518"/>
            <a:ext cx="538738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——部分数字需客户方提供 2024 年度 PPT 产量基线数据后回填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914400" y="2286000"/>
            <a:ext cx="5839301" cy="571500"/>
            <a:chOff x="914400" y="2286000"/>
            <a:chExt cx="5839301" cy="571500"/>
          </a:xfrm>
        </p:grpSpPr>
        <p:sp>
          <p:nvSpPr>
            <p:cNvPr id="8" name="Rectangle 8"/>
            <p:cNvSpPr/>
            <p:nvPr/>
          </p:nvSpPr>
          <p:spPr>
            <a:xfrm>
              <a:off x="914400" y="2286000"/>
              <a:ext cx="76200" cy="571500"/>
            </a:xfrm>
            <a:prstGeom prst="rect">
              <a:avLst/>
            </a:prstGeom>
            <a:solidFill>
              <a:srgbClr val="8A5A00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29665" y="2382202"/>
              <a:ext cx="109247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A5A00"/>
                  </a:solidFill>
                  <a:latin typeface="Segoe UI"/>
                  <a:ea typeface="Microsoft YaHei"/>
                  <a:cs typeface="Segoe UI"/>
                </a:rPr>
                <a:t>▲ DATA PENDING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29665" y="2610802"/>
              <a:ext cx="562403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55555"/>
                  </a:solidFill>
                  <a:latin typeface="Segoe UI"/>
                  <a:ea typeface="Microsoft YaHei"/>
                  <a:cs typeface="Segoe UI"/>
                </a:rPr>
                <a:t>标记为 [待替换] 的字段需数据方补全;Aham 方法论不编造数据,保留占位符以提醒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914400" y="3143250"/>
            <a:ext cx="16459200" cy="5153025"/>
            <a:chOff x="914400" y="3143250"/>
            <a:chExt cx="16459200" cy="5153025"/>
          </a:xfrm>
        </p:grpSpPr>
        <p:sp>
          <p:nvSpPr>
            <p:cNvPr id="12" name="Rectangle 12"/>
            <p:cNvSpPr/>
            <p:nvPr/>
          </p:nvSpPr>
          <p:spPr>
            <a:xfrm>
              <a:off x="914400" y="3143250"/>
              <a:ext cx="16459200" cy="4572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127760" y="3299460"/>
              <a:ext cx="3810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科目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899660" y="3299460"/>
              <a:ext cx="94183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年 1 (2026)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757160" y="3299460"/>
              <a:ext cx="98564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年 2 (2027)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614660" y="3299460"/>
              <a:ext cx="98564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年 3 (2028)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472160" y="3299460"/>
              <a:ext cx="7315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三年累计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5948660" y="3299460"/>
              <a:ext cx="3810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备注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914400" y="3600450"/>
              <a:ext cx="16459200" cy="3429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128712" y="3707606"/>
              <a:ext cx="9170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一 · 投入项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914400" y="3943350"/>
              <a:ext cx="16459200" cy="9525"/>
            </a:xfrm>
            <a:custGeom>
              <a:avLst/>
              <a:gdLst/>
              <a:ahLst/>
              <a:cxnLst/>
              <a:rect l="l" t="t" r="r" b="b"/>
              <a:pathLst>
                <a:path w="16459200" h="9525">
                  <a:moveTo>
                    <a:pt x="0" y="0"/>
                  </a:moveTo>
                  <a:lnTo>
                    <a:pt x="16459200" y="0"/>
                  </a:lnTo>
                </a:path>
              </a:pathLst>
            </a:custGeom>
            <a:noFill/>
            <a:ln w="9525">
              <a:solidFill>
                <a:srgbClr val="E2E2E2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128712" y="4107656"/>
              <a:ext cx="8501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工具授权费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900612" y="4107656"/>
              <a:ext cx="7022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¥ 18.0 万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758112" y="4107656"/>
              <a:ext cx="7022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¥ 16.0 万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615612" y="4107656"/>
              <a:ext cx="7022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¥ 16.0 万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3473112" y="4107656"/>
              <a:ext cx="7790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¥ 50.0 万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5951518" y="4123849"/>
              <a:ext cx="50892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55555"/>
                  </a:solidFill>
                  <a:latin typeface="Segoe UI"/>
                  <a:ea typeface="Microsoft YaHei"/>
                  <a:cs typeface="Segoe UI"/>
                </a:rPr>
                <a:t>47 席位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914400" y="4343400"/>
              <a:ext cx="16459200" cy="9525"/>
            </a:xfrm>
            <a:custGeom>
              <a:avLst/>
              <a:gdLst/>
              <a:ahLst/>
              <a:cxnLst/>
              <a:rect l="l" t="t" r="r" b="b"/>
              <a:pathLst>
                <a:path w="16459200" h="9525">
                  <a:moveTo>
                    <a:pt x="0" y="0"/>
                  </a:moveTo>
                  <a:lnTo>
                    <a:pt x="16459200" y="0"/>
                  </a:lnTo>
                </a:path>
              </a:pathLst>
            </a:custGeom>
            <a:noFill/>
            <a:ln w="9525">
              <a:solidFill>
                <a:srgbClr val="E2E2E2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128712" y="4507706"/>
              <a:ext cx="11787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培训与上线成本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900612" y="4507706"/>
              <a:ext cx="7022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¥ 12.0 万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758112" y="4507706"/>
              <a:ext cx="65293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¥ 4.0 万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0615612" y="4507706"/>
              <a:ext cx="65293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¥ 2.0 万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3473112" y="4507706"/>
              <a:ext cx="73591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¥ 18.0 万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5951518" y="4523899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55555"/>
                  </a:solidFill>
                  <a:latin typeface="Segoe UI"/>
                  <a:ea typeface="Microsoft YaHei"/>
                  <a:cs typeface="Segoe UI"/>
                </a:rPr>
                <a:t>外部顾问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914400" y="4743450"/>
              <a:ext cx="16459200" cy="9525"/>
            </a:xfrm>
            <a:custGeom>
              <a:avLst/>
              <a:gdLst/>
              <a:ahLst/>
              <a:cxnLst/>
              <a:rect l="l" t="t" r="r" b="b"/>
              <a:pathLst>
                <a:path w="16459200" h="9525">
                  <a:moveTo>
                    <a:pt x="0" y="0"/>
                  </a:moveTo>
                  <a:lnTo>
                    <a:pt x="16459200" y="0"/>
                  </a:lnTo>
                </a:path>
              </a:pathLst>
            </a:custGeom>
            <a:noFill/>
            <a:ln w="9525">
              <a:solidFill>
                <a:srgbClr val="E2E2E2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128712" y="4907756"/>
              <a:ext cx="13430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内部实施工时成本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900612" y="4907756"/>
              <a:ext cx="65293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¥ 8.0 万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758112" y="4907756"/>
              <a:ext cx="65293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¥ 3.0 万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615612" y="4907756"/>
              <a:ext cx="65293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¥ 2.0 万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3473112" y="4907756"/>
              <a:ext cx="73591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¥ 13.0 万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5951518" y="4923949"/>
              <a:ext cx="64420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55555"/>
                  </a:solidFill>
                  <a:latin typeface="Segoe UI"/>
                  <a:ea typeface="Microsoft YaHei"/>
                  <a:cs typeface="Segoe UI"/>
                </a:rPr>
                <a:t>PMO 折算</a:t>
              </a:r>
            </a:p>
          </p:txBody>
        </p:sp>
        <p:sp>
          <p:nvSpPr>
            <p:cNvPr id="42" name="Line 42"/>
            <p:cNvSpPr/>
            <p:nvPr/>
          </p:nvSpPr>
          <p:spPr>
            <a:xfrm>
              <a:off x="914400" y="5143500"/>
              <a:ext cx="16459200" cy="9525"/>
            </a:xfrm>
            <a:custGeom>
              <a:avLst/>
              <a:gdLst/>
              <a:ahLst/>
              <a:cxnLst/>
              <a:rect l="l" t="t" r="r" b="b"/>
              <a:pathLst>
                <a:path w="16459200" h="9525">
                  <a:moveTo>
                    <a:pt x="0" y="0"/>
                  </a:moveTo>
                  <a:lnTo>
                    <a:pt x="16459200" y="0"/>
                  </a:lnTo>
                </a:path>
              </a:pathLst>
            </a:custGeom>
            <a:noFill/>
            <a:ln w="9525">
              <a:solidFill>
                <a:srgbClr val="E2E2E2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914400" y="5257800"/>
              <a:ext cx="16459200" cy="342900"/>
            </a:xfrm>
            <a:prstGeom prst="rect">
              <a:avLst/>
            </a:prstGeom>
            <a:solidFill>
              <a:srgbClr val="FAFAFA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128712" y="5364956"/>
              <a:ext cx="7186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投入小计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900612" y="5364956"/>
              <a:ext cx="7790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¥ 38.0 万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758112" y="5364956"/>
              <a:ext cx="7790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¥ 23.0 万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615612" y="5364956"/>
              <a:ext cx="7790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¥ 20.0 万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3473112" y="5364956"/>
              <a:ext cx="73591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9C2B2B"/>
                  </a:solidFill>
                  <a:latin typeface="Segoe UI"/>
                  <a:ea typeface="Microsoft YaHei"/>
                  <a:cs typeface="Segoe UI"/>
                </a:rPr>
                <a:t>¥ 81.0 万</a:t>
              </a:r>
            </a:p>
          </p:txBody>
        </p:sp>
        <p:sp>
          <p:nvSpPr>
            <p:cNvPr id="49" name="Line 49"/>
            <p:cNvSpPr/>
            <p:nvPr/>
          </p:nvSpPr>
          <p:spPr>
            <a:xfrm>
              <a:off x="914400" y="5600700"/>
              <a:ext cx="16459200" cy="9525"/>
            </a:xfrm>
            <a:custGeom>
              <a:avLst/>
              <a:gdLst/>
              <a:ahLst/>
              <a:cxnLst/>
              <a:rect l="l" t="t" r="r" b="b"/>
              <a:pathLst>
                <a:path w="16459200" h="9525">
                  <a:moveTo>
                    <a:pt x="0" y="0"/>
                  </a:moveTo>
                  <a:lnTo>
                    <a:pt x="16459200" y="0"/>
                  </a:lnTo>
                </a:path>
              </a:pathLst>
            </a:custGeom>
            <a:noFill/>
            <a:ln w="9525">
              <a:solidFill>
                <a:srgbClr val="E2E2E2"/>
              </a:solidFill>
            </a:ln>
          </p:spPr>
        </p:sp>
        <p:sp>
          <p:nvSpPr>
            <p:cNvPr id="50" name="Rectangle 50"/>
            <p:cNvSpPr/>
            <p:nvPr/>
          </p:nvSpPr>
          <p:spPr>
            <a:xfrm>
              <a:off x="914400" y="5715000"/>
              <a:ext cx="16459200" cy="342900"/>
            </a:xfrm>
            <a:prstGeom prst="rect">
              <a:avLst/>
            </a:prstGeom>
            <a:solidFill>
              <a:srgbClr val="F5F5F5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1128712" y="5822156"/>
              <a:ext cx="91706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二 · 收益项</a:t>
              </a:r>
            </a:p>
          </p:txBody>
        </p:sp>
        <p:sp>
          <p:nvSpPr>
            <p:cNvPr id="52" name="Line 52"/>
            <p:cNvSpPr/>
            <p:nvPr/>
          </p:nvSpPr>
          <p:spPr>
            <a:xfrm>
              <a:off x="914400" y="6057900"/>
              <a:ext cx="16459200" cy="9525"/>
            </a:xfrm>
            <a:custGeom>
              <a:avLst/>
              <a:gdLst/>
              <a:ahLst/>
              <a:cxnLst/>
              <a:rect l="l" t="t" r="r" b="b"/>
              <a:pathLst>
                <a:path w="16459200" h="9525">
                  <a:moveTo>
                    <a:pt x="0" y="0"/>
                  </a:moveTo>
                  <a:lnTo>
                    <a:pt x="16459200" y="0"/>
                  </a:lnTo>
                </a:path>
              </a:pathLst>
            </a:custGeom>
            <a:noFill/>
            <a:ln w="9525">
              <a:solidFill>
                <a:srgbClr val="E2E2E2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1128712" y="6222206"/>
              <a:ext cx="101441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工时节省折算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4900612" y="6222206"/>
              <a:ext cx="84189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¥ [待替换]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758112" y="6222206"/>
              <a:ext cx="84189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¥ [待替换]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0615612" y="6222206"/>
              <a:ext cx="84189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¥ [待替换]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13473112" y="6222206"/>
              <a:ext cx="88255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¥ [待替换]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5951518" y="6238399"/>
              <a:ext cx="85067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A5A00"/>
                  </a:solidFill>
                  <a:latin typeface="Segoe UI"/>
                  <a:ea typeface="Microsoft YaHei"/>
                  <a:cs typeface="Segoe UI"/>
                </a:rPr>
                <a:t>需 2024 基线</a:t>
              </a:r>
            </a:p>
          </p:txBody>
        </p:sp>
        <p:sp>
          <p:nvSpPr>
            <p:cNvPr id="59" name="Line 59"/>
            <p:cNvSpPr/>
            <p:nvPr/>
          </p:nvSpPr>
          <p:spPr>
            <a:xfrm>
              <a:off x="914400" y="6457950"/>
              <a:ext cx="16459200" cy="9525"/>
            </a:xfrm>
            <a:custGeom>
              <a:avLst/>
              <a:gdLst/>
              <a:ahLst/>
              <a:cxnLst/>
              <a:rect l="l" t="t" r="r" b="b"/>
              <a:pathLst>
                <a:path w="16459200" h="9525">
                  <a:moveTo>
                    <a:pt x="0" y="0"/>
                  </a:moveTo>
                  <a:lnTo>
                    <a:pt x="16459200" y="0"/>
                  </a:lnTo>
                </a:path>
              </a:pathLst>
            </a:custGeom>
            <a:noFill/>
            <a:ln w="9525">
              <a:solidFill>
                <a:srgbClr val="E2E2E2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1128712" y="6622256"/>
              <a:ext cx="15237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提案中标率提升(估)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4900612" y="6622256"/>
              <a:ext cx="74330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¥ 30.0 万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758112" y="6622256"/>
              <a:ext cx="74330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¥ 60.0 万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615612" y="6622256"/>
              <a:ext cx="74330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¥ 80.0 万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13473112" y="6622256"/>
              <a:ext cx="830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¥ 170.0 万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5951518" y="6638449"/>
              <a:ext cx="594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55555"/>
                  </a:solidFill>
                  <a:latin typeface="Segoe UI"/>
                  <a:ea typeface="Microsoft YaHei"/>
                  <a:cs typeface="Segoe UI"/>
                </a:rPr>
                <a:t>保守估算</a:t>
              </a:r>
            </a:p>
          </p:txBody>
        </p:sp>
        <p:sp>
          <p:nvSpPr>
            <p:cNvPr id="66" name="Line 66"/>
            <p:cNvSpPr/>
            <p:nvPr/>
          </p:nvSpPr>
          <p:spPr>
            <a:xfrm>
              <a:off x="914400" y="6858000"/>
              <a:ext cx="16459200" cy="9525"/>
            </a:xfrm>
            <a:custGeom>
              <a:avLst/>
              <a:gdLst/>
              <a:ahLst/>
              <a:cxnLst/>
              <a:rect l="l" t="t" r="r" b="b"/>
              <a:pathLst>
                <a:path w="16459200" h="9525">
                  <a:moveTo>
                    <a:pt x="0" y="0"/>
                  </a:moveTo>
                  <a:lnTo>
                    <a:pt x="16459200" y="0"/>
                  </a:lnTo>
                </a:path>
              </a:pathLst>
            </a:custGeom>
            <a:noFill/>
            <a:ln w="9525">
              <a:solidFill>
                <a:srgbClr val="E2E2E2"/>
              </a:solidFill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1128712" y="7022306"/>
              <a:ext cx="16716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交付周期缩短新增收入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4900612" y="7022306"/>
              <a:ext cx="7022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¥ 15.0 万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758112" y="7022306"/>
              <a:ext cx="74330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¥ 35.0 万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10615612" y="7022306"/>
              <a:ext cx="74330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333333"/>
                  </a:solidFill>
                  <a:latin typeface="Segoe UI"/>
                  <a:ea typeface="Microsoft YaHei"/>
                  <a:cs typeface="Segoe UI"/>
                </a:rPr>
                <a:t>¥ 50.0 万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3473112" y="7022306"/>
              <a:ext cx="830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¥ 100.0 万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15951518" y="7038499"/>
              <a:ext cx="69403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55555"/>
                  </a:solidFill>
                  <a:latin typeface="Segoe UI"/>
                  <a:ea typeface="Microsoft YaHei"/>
                  <a:cs typeface="Segoe UI"/>
                </a:rPr>
                <a:t>按 8% 周转</a:t>
              </a:r>
            </a:p>
          </p:txBody>
        </p:sp>
        <p:sp>
          <p:nvSpPr>
            <p:cNvPr id="73" name="Line 73"/>
            <p:cNvSpPr/>
            <p:nvPr/>
          </p:nvSpPr>
          <p:spPr>
            <a:xfrm>
              <a:off x="914400" y="7258050"/>
              <a:ext cx="16459200" cy="9525"/>
            </a:xfrm>
            <a:custGeom>
              <a:avLst/>
              <a:gdLst/>
              <a:ahLst/>
              <a:cxnLst/>
              <a:rect l="l" t="t" r="r" b="b"/>
              <a:pathLst>
                <a:path w="16459200" h="9525">
                  <a:moveTo>
                    <a:pt x="0" y="0"/>
                  </a:moveTo>
                  <a:lnTo>
                    <a:pt x="16459200" y="0"/>
                  </a:lnTo>
                </a:path>
              </a:pathLst>
            </a:custGeom>
            <a:noFill/>
            <a:ln w="9525">
              <a:solidFill>
                <a:srgbClr val="E2E2E2"/>
              </a:solidFill>
            </a:ln>
          </p:spPr>
        </p:sp>
        <p:sp>
          <p:nvSpPr>
            <p:cNvPr id="74" name="Rectangle 74"/>
            <p:cNvSpPr/>
            <p:nvPr/>
          </p:nvSpPr>
          <p:spPr>
            <a:xfrm>
              <a:off x="914400" y="7372350"/>
              <a:ext cx="16459200" cy="342900"/>
            </a:xfrm>
            <a:prstGeom prst="rect">
              <a:avLst/>
            </a:prstGeom>
            <a:solidFill>
              <a:srgbClr val="FAFAFA"/>
            </a:solidFill>
            <a:ln>
              <a:noFill/>
            </a:ln>
          </p:spPr>
        </p:sp>
        <p:sp>
          <p:nvSpPr>
            <p:cNvPr id="75" name="TextBox 75"/>
            <p:cNvSpPr txBox="1"/>
            <p:nvPr/>
          </p:nvSpPr>
          <p:spPr>
            <a:xfrm>
              <a:off x="1128712" y="7479506"/>
              <a:ext cx="194356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收益小计(不含工时节省)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4900612" y="7479506"/>
              <a:ext cx="7790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¥ 45.0 万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758112" y="7479506"/>
              <a:ext cx="7790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¥ 95.0 万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10615612" y="7479506"/>
              <a:ext cx="83080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¥ 130.0 万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3473112" y="7479506"/>
              <a:ext cx="87393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2E6B3E"/>
                  </a:solidFill>
                  <a:latin typeface="Segoe UI"/>
                  <a:ea typeface="Microsoft YaHei"/>
                  <a:cs typeface="Segoe UI"/>
                </a:rPr>
                <a:t>¥ 270.0 万</a:t>
              </a:r>
            </a:p>
          </p:txBody>
        </p:sp>
        <p:sp>
          <p:nvSpPr>
            <p:cNvPr id="80" name="Line 80"/>
            <p:cNvSpPr/>
            <p:nvPr/>
          </p:nvSpPr>
          <p:spPr>
            <a:xfrm>
              <a:off x="914400" y="7715250"/>
              <a:ext cx="16459200" cy="9525"/>
            </a:xfrm>
            <a:custGeom>
              <a:avLst/>
              <a:gdLst/>
              <a:ahLst/>
              <a:cxnLst/>
              <a:rect l="l" t="t" r="r" b="b"/>
              <a:pathLst>
                <a:path w="16459200" h="9525">
                  <a:moveTo>
                    <a:pt x="0" y="0"/>
                  </a:moveTo>
                  <a:lnTo>
                    <a:pt x="16459200" y="0"/>
                  </a:lnTo>
                </a:path>
              </a:pathLst>
            </a:custGeom>
            <a:noFill/>
            <a:ln w="19050">
              <a:solidFill>
                <a:srgbClr val="1A1A1A"/>
              </a:solidFill>
            </a:ln>
          </p:spPr>
        </p:sp>
        <p:sp>
          <p:nvSpPr>
            <p:cNvPr id="81" name="Rectangle 81"/>
            <p:cNvSpPr/>
            <p:nvPr/>
          </p:nvSpPr>
          <p:spPr>
            <a:xfrm>
              <a:off x="914400" y="7829550"/>
              <a:ext cx="16459200" cy="457200"/>
            </a:xfrm>
            <a:prstGeom prst="rect">
              <a:avLst/>
            </a:prstGeom>
            <a:solidFill>
              <a:srgbClr val="E6F4FF"/>
            </a:solidFill>
            <a:ln>
              <a:noFill/>
            </a:ln>
          </p:spPr>
        </p:sp>
        <p:sp>
          <p:nvSpPr>
            <p:cNvPr id="82" name="TextBox 82"/>
            <p:cNvSpPr txBox="1"/>
            <p:nvPr/>
          </p:nvSpPr>
          <p:spPr>
            <a:xfrm>
              <a:off x="1126808" y="7977664"/>
              <a:ext cx="223203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净收益(保守 · 不含工时)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4898708" y="7977664"/>
              <a:ext cx="77537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E6B3E"/>
                  </a:solidFill>
                  <a:latin typeface="Segoe UI"/>
                  <a:ea typeface="Microsoft YaHei"/>
                  <a:cs typeface="Segoe UI"/>
                </a:rPr>
                <a:t>¥ 7.0 万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7756208" y="7977664"/>
              <a:ext cx="88291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E6B3E"/>
                  </a:solidFill>
                  <a:latin typeface="Segoe UI"/>
                  <a:ea typeface="Microsoft YaHei"/>
                  <a:cs typeface="Segoe UI"/>
                </a:rPr>
                <a:t>¥ 72.0 万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10613708" y="7977664"/>
              <a:ext cx="89269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2E6B3E"/>
                  </a:solidFill>
                  <a:latin typeface="Segoe UI"/>
                  <a:ea typeface="Microsoft YaHei"/>
                  <a:cs typeface="Segoe UI"/>
                </a:rPr>
                <a:t>¥ 110.0 万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13468350" y="7953375"/>
              <a:ext cx="110773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677FF"/>
                  </a:solidFill>
                  <a:latin typeface="Segoe UI"/>
                  <a:ea typeface="Microsoft YaHei"/>
                  <a:cs typeface="Segoe UI"/>
                </a:rPr>
                <a:t>¥ 189.0 万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5951518" y="8010049"/>
              <a:ext cx="73675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55555"/>
                  </a:solidFill>
                  <a:latin typeface="Segoe UI"/>
                  <a:ea typeface="Microsoft YaHei"/>
                  <a:cs typeface="Segoe UI"/>
                </a:rPr>
                <a:t>待工时回补</a:t>
              </a:r>
            </a:p>
          </p:txBody>
        </p:sp>
        <p:sp>
          <p:nvSpPr>
            <p:cNvPr id="88" name="Line 88"/>
            <p:cNvSpPr/>
            <p:nvPr/>
          </p:nvSpPr>
          <p:spPr>
            <a:xfrm>
              <a:off x="914400" y="8286750"/>
              <a:ext cx="16459200" cy="9525"/>
            </a:xfrm>
            <a:custGeom>
              <a:avLst/>
              <a:gdLst/>
              <a:ahLst/>
              <a:cxnLst/>
              <a:rect l="l" t="t" r="r" b="b"/>
              <a:pathLst>
                <a:path w="16459200" h="9525">
                  <a:moveTo>
                    <a:pt x="0" y="0"/>
                  </a:moveTo>
                  <a:lnTo>
                    <a:pt x="16459200" y="0"/>
                  </a:lnTo>
                </a:path>
              </a:pathLst>
            </a:custGeom>
            <a:noFill/>
            <a:ln w="19050">
              <a:solidFill>
                <a:srgbClr val="1A1A1A"/>
              </a:solidFill>
            </a:ln>
          </p:spPr>
        </p:sp>
      </p:grpSp>
      <p:grpSp>
        <p:nvGrpSpPr>
          <p:cNvPr id="101" name="Group 101"/>
          <p:cNvGrpSpPr/>
          <p:nvPr/>
        </p:nvGrpSpPr>
        <p:grpSpPr>
          <a:xfrm>
            <a:off x="914400" y="8572500"/>
            <a:ext cx="16459200" cy="633412"/>
            <a:chOff x="914400" y="8572500"/>
            <a:chExt cx="16459200" cy="633412"/>
          </a:xfrm>
        </p:grpSpPr>
        <p:sp>
          <p:nvSpPr>
            <p:cNvPr id="90" name="Rectangle 90"/>
            <p:cNvSpPr/>
            <p:nvPr/>
          </p:nvSpPr>
          <p:spPr>
            <a:xfrm>
              <a:off x="914400" y="8572500"/>
              <a:ext cx="5334000" cy="571500"/>
            </a:xfrm>
            <a:prstGeom prst="rect">
              <a:avLst/>
            </a:prstGeom>
            <a:solidFill>
              <a:srgbClr val="FAFAFA"/>
            </a:solidFill>
            <a:ln w="9525">
              <a:solidFill>
                <a:srgbClr val="E2E2E2"/>
              </a:solidFill>
            </a:ln>
          </p:spPr>
        </p:sp>
        <p:sp>
          <p:nvSpPr>
            <p:cNvPr id="91" name="TextBox 91"/>
            <p:cNvSpPr txBox="1"/>
            <p:nvPr/>
          </p:nvSpPr>
          <p:spPr>
            <a:xfrm>
              <a:off x="1130618" y="8695849"/>
              <a:ext cx="9289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8888"/>
                  </a:solidFill>
                  <a:latin typeface="Segoe UI"/>
                  <a:ea typeface="Microsoft YaHei"/>
                  <a:cs typeface="Segoe UI"/>
                </a:rPr>
                <a:t>ROI · 3 YEARS</a:t>
              </a:r>
            </a:p>
          </p:txBody>
        </p:sp>
        <p:sp>
          <p:nvSpPr>
            <p:cNvPr id="92" name="TextBox 92"/>
            <p:cNvSpPr txBox="1"/>
            <p:nvPr/>
          </p:nvSpPr>
          <p:spPr>
            <a:xfrm>
              <a:off x="1122045" y="8870632"/>
              <a:ext cx="59858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233%</a:t>
              </a:r>
            </a:p>
          </p:txBody>
        </p:sp>
        <p:sp>
          <p:nvSpPr>
            <p:cNvPr id="93" name="TextBox 93"/>
            <p:cNvSpPr txBox="1"/>
            <p:nvPr/>
          </p:nvSpPr>
          <p:spPr>
            <a:xfrm>
              <a:off x="2807018" y="8943499"/>
              <a:ext cx="182610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55555"/>
                  </a:solidFill>
                  <a:latin typeface="Segoe UI"/>
                  <a:ea typeface="Microsoft YaHei"/>
                  <a:cs typeface="Segoe UI"/>
                </a:rPr>
                <a:t>(保守估计,未计入工时节省)</a:t>
              </a:r>
            </a:p>
          </p:txBody>
        </p:sp>
        <p:sp>
          <p:nvSpPr>
            <p:cNvPr id="94" name="Rectangle 94"/>
            <p:cNvSpPr/>
            <p:nvPr/>
          </p:nvSpPr>
          <p:spPr>
            <a:xfrm>
              <a:off x="6438900" y="8572500"/>
              <a:ext cx="5334000" cy="571500"/>
            </a:xfrm>
            <a:prstGeom prst="rect">
              <a:avLst/>
            </a:prstGeom>
            <a:solidFill>
              <a:srgbClr val="FAFAFA"/>
            </a:solidFill>
            <a:ln w="9525">
              <a:solidFill>
                <a:srgbClr val="E2E2E2"/>
              </a:solidFill>
            </a:ln>
          </p:spPr>
        </p:sp>
        <p:sp>
          <p:nvSpPr>
            <p:cNvPr id="95" name="TextBox 95"/>
            <p:cNvSpPr txBox="1"/>
            <p:nvPr/>
          </p:nvSpPr>
          <p:spPr>
            <a:xfrm>
              <a:off x="6655118" y="8695849"/>
              <a:ext cx="107851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88888"/>
                  </a:solidFill>
                  <a:latin typeface="Segoe UI"/>
                  <a:ea typeface="Microsoft YaHei"/>
                  <a:cs typeface="Segoe UI"/>
                </a:rPr>
                <a:t>PAYBACK PERIOD</a:t>
              </a:r>
            </a:p>
          </p:txBody>
        </p:sp>
        <p:sp>
          <p:nvSpPr>
            <p:cNvPr id="96" name="TextBox 96"/>
            <p:cNvSpPr txBox="1"/>
            <p:nvPr/>
          </p:nvSpPr>
          <p:spPr>
            <a:xfrm>
              <a:off x="6646545" y="8870632"/>
              <a:ext cx="140828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[待替换] 月</a:t>
              </a:r>
            </a:p>
          </p:txBody>
        </p:sp>
        <p:sp>
          <p:nvSpPr>
            <p:cNvPr id="97" name="TextBox 97"/>
            <p:cNvSpPr txBox="1"/>
            <p:nvPr/>
          </p:nvSpPr>
          <p:spPr>
            <a:xfrm>
              <a:off x="8331518" y="8943499"/>
              <a:ext cx="130635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8A5A00"/>
                  </a:solidFill>
                  <a:latin typeface="Segoe UI"/>
                  <a:ea typeface="Microsoft YaHei"/>
                  <a:cs typeface="Segoe UI"/>
                </a:rPr>
                <a:t>需工时节省数据支撑</a:t>
              </a:r>
            </a:p>
          </p:txBody>
        </p:sp>
        <p:sp>
          <p:nvSpPr>
            <p:cNvPr id="98" name="Rectangle 98"/>
            <p:cNvSpPr/>
            <p:nvPr/>
          </p:nvSpPr>
          <p:spPr>
            <a:xfrm>
              <a:off x="11963400" y="8572500"/>
              <a:ext cx="5410200" cy="571500"/>
            </a:xfrm>
            <a:prstGeom prst="rect">
              <a:avLst/>
            </a:prstGeom>
            <a:solidFill>
              <a:srgbClr val="E6F4FF"/>
            </a:solidFill>
            <a:ln w="9525">
              <a:solidFill>
                <a:srgbClr val="1677FF"/>
              </a:solidFill>
            </a:ln>
          </p:spPr>
        </p:sp>
        <p:sp>
          <p:nvSpPr>
            <p:cNvPr id="99" name="TextBox 99"/>
            <p:cNvSpPr txBox="1"/>
            <p:nvPr/>
          </p:nvSpPr>
          <p:spPr>
            <a:xfrm>
              <a:off x="12179618" y="8695849"/>
              <a:ext cx="119955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1677FF"/>
                  </a:solidFill>
                  <a:latin typeface="Segoe UI"/>
                  <a:ea typeface="Microsoft YaHei"/>
                  <a:cs typeface="Segoe UI"/>
                </a:rPr>
                <a:t>RECOMMENDATION</a:t>
              </a:r>
            </a:p>
          </p:txBody>
        </p:sp>
        <p:sp>
          <p:nvSpPr>
            <p:cNvPr id="100" name="TextBox 100"/>
            <p:cNvSpPr txBox="1"/>
            <p:nvPr/>
          </p:nvSpPr>
          <p:spPr>
            <a:xfrm>
              <a:off x="12176760" y="8919210"/>
              <a:ext cx="424460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即使最保守口径,投入亦有 2.3x 回报,建议立即启动</a:t>
              </a:r>
            </a:p>
          </p:txBody>
        </p:sp>
      </p:grpSp>
      <p:sp>
        <p:nvSpPr>
          <p:cNvPr id="102" name="Line 102"/>
          <p:cNvSpPr/>
          <p:nvPr/>
        </p:nvSpPr>
        <p:spPr>
          <a:xfrm>
            <a:off x="914400" y="9525000"/>
            <a:ext cx="16459200" cy="9525"/>
          </a:xfrm>
          <a:custGeom>
            <a:avLst/>
            <a:gdLst/>
            <a:ahLst/>
            <a:cxnLst/>
            <a:rect l="l" t="t" r="r" b="b"/>
            <a:pathLst>
              <a:path w="16459200" h="9525">
                <a:moveTo>
                  <a:pt x="0" y="0"/>
                </a:moveTo>
                <a:lnTo>
                  <a:pt x="16459200" y="0"/>
                </a:lnTo>
              </a:path>
            </a:pathLst>
          </a:custGeom>
          <a:noFill/>
          <a:ln w="9525">
            <a:solidFill>
              <a:srgbClr val="E2E2E2"/>
            </a:solidFill>
          </a:ln>
        </p:spPr>
      </p:sp>
      <p:sp>
        <p:nvSpPr>
          <p:cNvPr id="103" name="TextBox 103"/>
          <p:cNvSpPr txBox="1"/>
          <p:nvPr/>
        </p:nvSpPr>
        <p:spPr>
          <a:xfrm>
            <a:off x="901065" y="9602152"/>
            <a:ext cx="31243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AHAM · Internal Evaluation · CONFIDENTIAL</a:t>
            </a:r>
          </a:p>
        </p:txBody>
      </p:sp>
      <p:sp>
        <p:nvSpPr>
          <p:cNvPr id="104" name="TextBox 104"/>
          <p:cNvSpPr txBox="1"/>
          <p:nvPr/>
        </p:nvSpPr>
        <p:spPr>
          <a:xfrm>
            <a:off x="16884872" y="9602152"/>
            <a:ext cx="5020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901065" y="458152"/>
            <a:ext cx="98512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07 · 建议结论</a:t>
            </a:r>
          </a:p>
        </p:txBody>
      </p:sp>
      <p:sp>
        <p:nvSpPr>
          <p:cNvPr id="4" name="Line 4"/>
          <p:cNvSpPr/>
          <p:nvPr/>
        </p:nvSpPr>
        <p:spPr>
          <a:xfrm>
            <a:off x="914400" y="723900"/>
            <a:ext cx="16459200" cy="9525"/>
          </a:xfrm>
          <a:custGeom>
            <a:avLst/>
            <a:gdLst/>
            <a:ahLst/>
            <a:cxnLst/>
            <a:rect l="l" t="t" r="r" b="b"/>
            <a:pathLst>
              <a:path w="16459200" h="9525">
                <a:moveTo>
                  <a:pt x="0" y="0"/>
                </a:moveTo>
                <a:lnTo>
                  <a:pt x="16459200" y="0"/>
                </a:lnTo>
              </a:path>
            </a:pathLst>
          </a:custGeom>
          <a:noFill/>
          <a:ln w="9525">
            <a:solidFill>
              <a:srgbClr val="E2E2E2"/>
            </a:solidFill>
          </a:ln>
        </p:spPr>
      </p:sp>
      <p:sp>
        <p:nvSpPr>
          <p:cNvPr id="5" name="Line 5"/>
          <p:cNvSpPr/>
          <p:nvPr/>
        </p:nvSpPr>
        <p:spPr>
          <a:xfrm>
            <a:off x="914400" y="1238250"/>
            <a:ext cx="9525" cy="666750"/>
          </a:xfrm>
          <a:custGeom>
            <a:avLst/>
            <a:gdLst/>
            <a:ahLst/>
            <a:cxnLst/>
            <a:rect l="l" t="t" r="r" b="b"/>
            <a:pathLst>
              <a:path w="9525" h="666750">
                <a:moveTo>
                  <a:pt x="0" y="0"/>
                </a:moveTo>
                <a:lnTo>
                  <a:pt x="0" y="666750"/>
                </a:lnTo>
              </a:path>
            </a:pathLst>
          </a:custGeom>
          <a:noFill/>
          <a:ln w="57150">
            <a:solidFill>
              <a:srgbClr val="1677FF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1223010" y="1346835"/>
            <a:ext cx="12096783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我们建议在 Q2 末启动试点,Q4 前完成华东华北两大枢纽全员上线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40155" y="1854518"/>
            <a:ext cx="498319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——基于工时节省测算、实施风险评估与客户价值递增曲线</a:t>
            </a:r>
          </a:p>
        </p:txBody>
      </p:sp>
      <p:grpSp>
        <p:nvGrpSpPr>
          <p:cNvPr id="71" name="Group 71"/>
          <p:cNvGrpSpPr/>
          <p:nvPr/>
        </p:nvGrpSpPr>
        <p:grpSpPr>
          <a:xfrm>
            <a:off x="914400" y="2762250"/>
            <a:ext cx="16459200" cy="5524500"/>
            <a:chOff x="914400" y="2762250"/>
            <a:chExt cx="16459200" cy="5524500"/>
          </a:xfrm>
        </p:grpSpPr>
        <p:grpSp>
          <p:nvGrpSpPr>
            <p:cNvPr id="28" name="Group 28"/>
            <p:cNvGrpSpPr/>
            <p:nvPr/>
          </p:nvGrpSpPr>
          <p:grpSpPr>
            <a:xfrm>
              <a:off x="914400" y="2762250"/>
              <a:ext cx="5334000" cy="5524500"/>
              <a:chOff x="914400" y="2762250"/>
              <a:chExt cx="5334000" cy="5524500"/>
            </a:xfrm>
          </p:grpSpPr>
          <p:sp>
            <p:nvSpPr>
              <p:cNvPr id="8" name="Rectangle 8"/>
              <p:cNvSpPr/>
              <p:nvPr/>
            </p:nvSpPr>
            <p:spPr>
              <a:xfrm>
                <a:off x="914400" y="2762250"/>
                <a:ext cx="5334000" cy="55245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E2E2E2"/>
                </a:solidFill>
              </a:ln>
            </p:spPr>
          </p:sp>
          <p:sp>
            <p:nvSpPr>
              <p:cNvPr id="9" name="Rectangle 9"/>
              <p:cNvSpPr/>
              <p:nvPr/>
            </p:nvSpPr>
            <p:spPr>
              <a:xfrm>
                <a:off x="914400" y="2762250"/>
                <a:ext cx="5334000" cy="38100"/>
              </a:xfrm>
              <a:prstGeom prst="rect">
                <a:avLst/>
              </a:prstGeom>
              <a:solidFill>
                <a:srgbClr val="1677FF"/>
              </a:solidFill>
              <a:ln>
                <a:noFill/>
              </a:ln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1205865" y="3125152"/>
                <a:ext cx="1468184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888888"/>
                    </a:solidFill>
                    <a:latin typeface="Segoe UI"/>
                    <a:ea typeface="Microsoft YaHei"/>
                    <a:cs typeface="Segoe UI"/>
                  </a:rPr>
                  <a:t>RECOMMENDATION 01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194435" y="3504248"/>
                <a:ext cx="2441829" cy="396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即刻启动华东试点</a:t>
                </a:r>
              </a:p>
            </p:txBody>
          </p:sp>
          <p:sp>
            <p:nvSpPr>
              <p:cNvPr id="12" name="Line 12"/>
              <p:cNvSpPr/>
              <p:nvPr/>
            </p:nvSpPr>
            <p:spPr>
              <a:xfrm>
                <a:off x="1219200" y="3886200"/>
                <a:ext cx="1409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09700" h="9525">
                    <a:moveTo>
                      <a:pt x="0" y="0"/>
                    </a:moveTo>
                    <a:lnTo>
                      <a:pt x="1409700" y="0"/>
                    </a:lnTo>
                  </a:path>
                </a:pathLst>
              </a:custGeom>
              <a:noFill/>
              <a:ln w="19050">
                <a:solidFill>
                  <a:srgbClr val="1677FF"/>
                </a:solidFill>
              </a:ln>
            </p:spPr>
          </p:sp>
          <p:grpSp>
            <p:nvGrpSpPr>
              <p:cNvPr id="16" name="Group 16"/>
              <p:cNvGrpSpPr/>
              <p:nvPr/>
            </p:nvGrpSpPr>
            <p:grpSpPr>
              <a:xfrm>
                <a:off x="1203960" y="4180999"/>
                <a:ext cx="2028444" cy="714851"/>
                <a:chOff x="1203960" y="4180999"/>
                <a:chExt cx="2028444" cy="714851"/>
              </a:xfrm>
            </p:grpSpPr>
            <p:sp>
              <p:nvSpPr>
                <p:cNvPr id="13" name="TextBox 13"/>
                <p:cNvSpPr txBox="1"/>
                <p:nvPr/>
              </p:nvSpPr>
              <p:spPr>
                <a:xfrm>
                  <a:off x="1206818" y="4180999"/>
                  <a:ext cx="594360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888888"/>
                      </a:solidFill>
                      <a:latin typeface="Segoe UI"/>
                      <a:ea typeface="Microsoft YaHei"/>
                      <a:cs typeface="Segoe UI"/>
                    </a:rPr>
                    <a:t>具体行动</a:t>
                  </a:r>
                </a:p>
              </p:txBody>
            </p:sp>
            <p:sp>
              <p:nvSpPr>
                <p:cNvPr id="14" name="TextBox 14"/>
                <p:cNvSpPr txBox="1"/>
                <p:nvPr/>
              </p:nvSpPr>
              <p:spPr>
                <a:xfrm>
                  <a:off x="1203960" y="4423410"/>
                  <a:ext cx="1984629" cy="2438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rgbClr val="1A1A1A"/>
                      </a:solidFill>
                      <a:latin typeface="Segoe UI"/>
                      <a:ea typeface="Microsoft YaHei"/>
                      <a:cs typeface="Segoe UI"/>
                    </a:rPr>
                    <a:t>上海分公司 6 人小组接入</a:t>
                  </a:r>
                </a:p>
              </p:txBody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1203960" y="4652010"/>
                  <a:ext cx="2028444" cy="2438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rgbClr val="1A1A1A"/>
                      </a:solidFill>
                      <a:latin typeface="Segoe UI"/>
                      <a:ea typeface="Microsoft YaHei"/>
                      <a:cs typeface="Segoe UI"/>
                    </a:rPr>
                    <a:t>Aham,覆盖 10 份真实交付</a:t>
                  </a:r>
                </a:p>
              </p:txBody>
            </p:sp>
          </p:grpSp>
          <p:grpSp>
            <p:nvGrpSpPr>
              <p:cNvPr id="20" name="Group 20"/>
              <p:cNvGrpSpPr/>
              <p:nvPr/>
            </p:nvGrpSpPr>
            <p:grpSpPr>
              <a:xfrm>
                <a:off x="1196340" y="5038249"/>
                <a:ext cx="1483995" cy="772001"/>
                <a:chOff x="1196340" y="5038249"/>
                <a:chExt cx="1483995" cy="772001"/>
              </a:xfrm>
            </p:grpSpPr>
            <p:sp>
              <p:nvSpPr>
                <p:cNvPr id="17" name="TextBox 17"/>
                <p:cNvSpPr txBox="1"/>
                <p:nvPr/>
              </p:nvSpPr>
              <p:spPr>
                <a:xfrm>
                  <a:off x="1206818" y="5038249"/>
                  <a:ext cx="594360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888888"/>
                      </a:solidFill>
                      <a:latin typeface="Segoe UI"/>
                      <a:ea typeface="Microsoft YaHei"/>
                      <a:cs typeface="Segoe UI"/>
                    </a:rPr>
                    <a:t>量化目标</a:t>
                  </a:r>
                </a:p>
              </p:txBody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1203960" y="5280660"/>
                  <a:ext cx="1476375" cy="2438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rgbClr val="1A1A1A"/>
                      </a:solidFill>
                      <a:latin typeface="Segoe UI"/>
                      <a:ea typeface="Microsoft YaHei"/>
                      <a:cs typeface="Segoe UI"/>
                    </a:rPr>
                    <a:t>人均 PPT 工时下降</a:t>
                  </a:r>
                </a:p>
              </p:txBody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1196340" y="5444490"/>
                  <a:ext cx="735806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b="1" dirty="0">
                      <a:solidFill>
                        <a:srgbClr val="1677FF"/>
                      </a:solidFill>
                      <a:latin typeface="Segoe UI"/>
                      <a:ea typeface="Microsoft YaHei"/>
                      <a:cs typeface="Segoe UI"/>
                    </a:rPr>
                    <a:t>≥ 40%</a:t>
                  </a:r>
                </a:p>
              </p:txBody>
            </p:sp>
          </p:grpSp>
          <p:grpSp>
            <p:nvGrpSpPr>
              <p:cNvPr id="23" name="Group 23"/>
              <p:cNvGrpSpPr/>
              <p:nvPr/>
            </p:nvGrpSpPr>
            <p:grpSpPr>
              <a:xfrm>
                <a:off x="1203960" y="6085999"/>
                <a:ext cx="1818132" cy="486251"/>
                <a:chOff x="1203960" y="6085999"/>
                <a:chExt cx="1818132" cy="486251"/>
              </a:xfrm>
            </p:grpSpPr>
            <p:sp>
              <p:nvSpPr>
                <p:cNvPr id="21" name="TextBox 21"/>
                <p:cNvSpPr txBox="1"/>
                <p:nvPr/>
              </p:nvSpPr>
              <p:spPr>
                <a:xfrm>
                  <a:off x="1206818" y="6085999"/>
                  <a:ext cx="451961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888888"/>
                      </a:solidFill>
                      <a:latin typeface="Segoe UI"/>
                      <a:ea typeface="Microsoft YaHei"/>
                      <a:cs typeface="Segoe UI"/>
                    </a:rPr>
                    <a:t>责任方</a:t>
                  </a:r>
                </a:p>
              </p:txBody>
            </p:sp>
            <p:sp>
              <p:nvSpPr>
                <p:cNvPr id="22" name="TextBox 22"/>
                <p:cNvSpPr txBox="1"/>
                <p:nvPr/>
              </p:nvSpPr>
              <p:spPr>
                <a:xfrm>
                  <a:off x="1203960" y="6328410"/>
                  <a:ext cx="1818132" cy="2438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rgbClr val="1A1A1A"/>
                      </a:solidFill>
                      <a:latin typeface="Segoe UI"/>
                      <a:ea typeface="Microsoft YaHei"/>
                      <a:cs typeface="Segoe UI"/>
                    </a:rPr>
                    <a:t>华东业务线总监 + PMO</a:t>
                  </a:r>
                </a:p>
              </p:txBody>
            </p:sp>
          </p:grpSp>
          <p:grpSp>
            <p:nvGrpSpPr>
              <p:cNvPr id="27" name="Group 27"/>
              <p:cNvGrpSpPr/>
              <p:nvPr/>
            </p:nvGrpSpPr>
            <p:grpSpPr>
              <a:xfrm>
                <a:off x="1202055" y="6943249"/>
                <a:ext cx="1597335" cy="719613"/>
                <a:chOff x="1202055" y="6943249"/>
                <a:chExt cx="1597335" cy="719613"/>
              </a:xfrm>
            </p:grpSpPr>
            <p:sp>
              <p:nvSpPr>
                <p:cNvPr id="24" name="TextBox 24"/>
                <p:cNvSpPr txBox="1"/>
                <p:nvPr/>
              </p:nvSpPr>
              <p:spPr>
                <a:xfrm>
                  <a:off x="1206818" y="6943249"/>
                  <a:ext cx="594360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888888"/>
                      </a:solidFill>
                      <a:latin typeface="Segoe UI"/>
                      <a:ea typeface="Microsoft YaHei"/>
                      <a:cs typeface="Segoe UI"/>
                    </a:rPr>
                    <a:t>时间节点</a:t>
                  </a:r>
                </a:p>
              </p:txBody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1202055" y="7169468"/>
                  <a:ext cx="1597335" cy="2743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rgbClr val="1A1A1A"/>
                      </a:solidFill>
                      <a:latin typeface="Segoe UI"/>
                      <a:ea typeface="Microsoft YaHei"/>
                      <a:cs typeface="Segoe UI"/>
                    </a:rPr>
                    <a:t>2026-05-15 启动</a:t>
                  </a:r>
                </a:p>
              </p:txBody>
            </p:sp>
            <p:sp>
              <p:nvSpPr>
                <p:cNvPr id="26" name="TextBox 26"/>
                <p:cNvSpPr txBox="1"/>
                <p:nvPr/>
              </p:nvSpPr>
              <p:spPr>
                <a:xfrm>
                  <a:off x="1205865" y="7449502"/>
                  <a:ext cx="1184481" cy="213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rgbClr val="555555"/>
                      </a:solidFill>
                      <a:latin typeface="Segoe UI"/>
                      <a:ea typeface="Microsoft YaHei"/>
                      <a:cs typeface="Segoe UI"/>
                    </a:rPr>
                    <a:t>2026-07-31 评估</a:t>
                  </a:r>
                </a:p>
              </p:txBody>
            </p:sp>
          </p:grpSp>
        </p:grpSp>
        <p:grpSp>
          <p:nvGrpSpPr>
            <p:cNvPr id="49" name="Group 49"/>
            <p:cNvGrpSpPr/>
            <p:nvPr/>
          </p:nvGrpSpPr>
          <p:grpSpPr>
            <a:xfrm>
              <a:off x="6477000" y="2762250"/>
              <a:ext cx="5334000" cy="5524500"/>
              <a:chOff x="6477000" y="2762250"/>
              <a:chExt cx="5334000" cy="5524500"/>
            </a:xfrm>
          </p:grpSpPr>
          <p:sp>
            <p:nvSpPr>
              <p:cNvPr id="29" name="Rectangle 29"/>
              <p:cNvSpPr/>
              <p:nvPr/>
            </p:nvSpPr>
            <p:spPr>
              <a:xfrm>
                <a:off x="6477000" y="2762250"/>
                <a:ext cx="5334000" cy="55245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E2E2E2"/>
                </a:solidFill>
              </a:ln>
            </p:spPr>
          </p:sp>
          <p:sp>
            <p:nvSpPr>
              <p:cNvPr id="30" name="Rectangle 30"/>
              <p:cNvSpPr/>
              <p:nvPr/>
            </p:nvSpPr>
            <p:spPr>
              <a:xfrm>
                <a:off x="6477000" y="2762250"/>
                <a:ext cx="5334000" cy="38100"/>
              </a:xfrm>
              <a:prstGeom prst="rect">
                <a:avLst/>
              </a:prstGeom>
              <a:solidFill>
                <a:srgbClr val="1677FF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6768465" y="3125152"/>
                <a:ext cx="150652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888888"/>
                    </a:solidFill>
                    <a:latin typeface="Segoe UI"/>
                    <a:ea typeface="Microsoft YaHei"/>
                    <a:cs typeface="Segoe UI"/>
                  </a:rPr>
                  <a:t>RECOMMENDATION 02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757035" y="3504248"/>
                <a:ext cx="2441829" cy="396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建立规范治理小组</a:t>
                </a:r>
              </a:p>
            </p:txBody>
          </p:sp>
          <p:sp>
            <p:nvSpPr>
              <p:cNvPr id="33" name="Line 33"/>
              <p:cNvSpPr/>
              <p:nvPr/>
            </p:nvSpPr>
            <p:spPr>
              <a:xfrm>
                <a:off x="6781800" y="3886200"/>
                <a:ext cx="1409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09700" h="9525">
                    <a:moveTo>
                      <a:pt x="0" y="0"/>
                    </a:moveTo>
                    <a:lnTo>
                      <a:pt x="1409700" y="0"/>
                    </a:lnTo>
                  </a:path>
                </a:pathLst>
              </a:custGeom>
              <a:noFill/>
              <a:ln w="19050">
                <a:solidFill>
                  <a:srgbClr val="1677FF"/>
                </a:solidFill>
              </a:ln>
            </p:spPr>
          </p:sp>
          <p:grpSp>
            <p:nvGrpSpPr>
              <p:cNvPr id="37" name="Group 37"/>
              <p:cNvGrpSpPr/>
              <p:nvPr/>
            </p:nvGrpSpPr>
            <p:grpSpPr>
              <a:xfrm>
                <a:off x="6766560" y="4180999"/>
                <a:ext cx="2133600" cy="714851"/>
                <a:chOff x="6766560" y="4180999"/>
                <a:chExt cx="2133600" cy="714851"/>
              </a:xfrm>
            </p:grpSpPr>
            <p:sp>
              <p:nvSpPr>
                <p:cNvPr id="34" name="TextBox 34"/>
                <p:cNvSpPr txBox="1"/>
                <p:nvPr/>
              </p:nvSpPr>
              <p:spPr>
                <a:xfrm>
                  <a:off x="6769418" y="4180999"/>
                  <a:ext cx="594360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888888"/>
                      </a:solidFill>
                      <a:latin typeface="Segoe UI"/>
                      <a:ea typeface="Microsoft YaHei"/>
                      <a:cs typeface="Segoe UI"/>
                    </a:rPr>
                    <a:t>具体行动</a:t>
                  </a:r>
                </a:p>
              </p:txBody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6766560" y="4423410"/>
                  <a:ext cx="1879473" cy="2438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rgbClr val="1A1A1A"/>
                      </a:solidFill>
                      <a:latin typeface="Segoe UI"/>
                      <a:ea typeface="Microsoft YaHei"/>
                      <a:cs typeface="Segoe UI"/>
                    </a:rPr>
                    <a:t>3 人兼职小组维护 Aham</a:t>
                  </a:r>
                </a:p>
              </p:txBody>
            </p:sp>
            <p:sp>
              <p:nvSpPr>
                <p:cNvPr id="36" name="TextBox 36"/>
                <p:cNvSpPr txBox="1"/>
                <p:nvPr/>
              </p:nvSpPr>
              <p:spPr>
                <a:xfrm>
                  <a:off x="6766560" y="4652010"/>
                  <a:ext cx="2133600" cy="2438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rgbClr val="1A1A1A"/>
                      </a:solidFill>
                      <a:latin typeface="Segoe UI"/>
                      <a:ea typeface="Microsoft YaHei"/>
                      <a:cs typeface="Segoe UI"/>
                    </a:rPr>
                    <a:t>品牌规范、模板与禁用词库</a:t>
                  </a:r>
                </a:p>
              </p:txBody>
            </p:sp>
          </p:grpSp>
          <p:grpSp>
            <p:nvGrpSpPr>
              <p:cNvPr id="41" name="Group 41"/>
              <p:cNvGrpSpPr/>
              <p:nvPr/>
            </p:nvGrpSpPr>
            <p:grpSpPr>
              <a:xfrm>
                <a:off x="6758940" y="5038249"/>
                <a:ext cx="1089660" cy="772001"/>
                <a:chOff x="6758940" y="5038249"/>
                <a:chExt cx="1089660" cy="772001"/>
              </a:xfrm>
            </p:grpSpPr>
            <p:sp>
              <p:nvSpPr>
                <p:cNvPr id="38" name="TextBox 38"/>
                <p:cNvSpPr txBox="1"/>
                <p:nvPr/>
              </p:nvSpPr>
              <p:spPr>
                <a:xfrm>
                  <a:off x="6769418" y="5038249"/>
                  <a:ext cx="594360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888888"/>
                      </a:solidFill>
                      <a:latin typeface="Segoe UI"/>
                      <a:ea typeface="Microsoft YaHei"/>
                      <a:cs typeface="Segoe UI"/>
                    </a:rPr>
                    <a:t>量化目标</a:t>
                  </a:r>
                </a:p>
              </p:txBody>
            </p:sp>
            <p:sp>
              <p:nvSpPr>
                <p:cNvPr id="39" name="TextBox 39"/>
                <p:cNvSpPr txBox="1"/>
                <p:nvPr/>
              </p:nvSpPr>
              <p:spPr>
                <a:xfrm>
                  <a:off x="6766560" y="5280660"/>
                  <a:ext cx="1082040" cy="2438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rgbClr val="1A1A1A"/>
                      </a:solidFill>
                      <a:latin typeface="Segoe UI"/>
                      <a:ea typeface="Microsoft YaHei"/>
                      <a:cs typeface="Segoe UI"/>
                    </a:rPr>
                    <a:t>规范迭代周期</a:t>
                  </a:r>
                </a:p>
              </p:txBody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6758940" y="5444490"/>
                  <a:ext cx="791013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b="1" dirty="0">
                      <a:solidFill>
                        <a:srgbClr val="1677FF"/>
                      </a:solidFill>
                      <a:latin typeface="Segoe UI"/>
                      <a:ea typeface="Microsoft YaHei"/>
                      <a:cs typeface="Segoe UI"/>
                    </a:rPr>
                    <a:t>≤ 2 周</a:t>
                  </a:r>
                </a:p>
              </p:txBody>
            </p:sp>
          </p:grpSp>
          <p:grpSp>
            <p:nvGrpSpPr>
              <p:cNvPr id="44" name="Group 44"/>
              <p:cNvGrpSpPr/>
              <p:nvPr/>
            </p:nvGrpSpPr>
            <p:grpSpPr>
              <a:xfrm>
                <a:off x="6766560" y="6085999"/>
                <a:ext cx="2133600" cy="486251"/>
                <a:chOff x="6766560" y="6085999"/>
                <a:chExt cx="2133600" cy="486251"/>
              </a:xfrm>
            </p:grpSpPr>
            <p:sp>
              <p:nvSpPr>
                <p:cNvPr id="42" name="TextBox 42"/>
                <p:cNvSpPr txBox="1"/>
                <p:nvPr/>
              </p:nvSpPr>
              <p:spPr>
                <a:xfrm>
                  <a:off x="6769418" y="6085999"/>
                  <a:ext cx="451961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888888"/>
                      </a:solidFill>
                      <a:latin typeface="Segoe UI"/>
                      <a:ea typeface="Microsoft YaHei"/>
                      <a:cs typeface="Segoe UI"/>
                    </a:rPr>
                    <a:t>责任方</a:t>
                  </a:r>
                </a:p>
              </p:txBody>
            </p:sp>
            <p:sp>
              <p:nvSpPr>
                <p:cNvPr id="43" name="TextBox 43"/>
                <p:cNvSpPr txBox="1"/>
                <p:nvPr/>
              </p:nvSpPr>
              <p:spPr>
                <a:xfrm>
                  <a:off x="6766560" y="6328410"/>
                  <a:ext cx="2133600" cy="2438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rgbClr val="1A1A1A"/>
                      </a:solidFill>
                      <a:latin typeface="Segoe UI"/>
                      <a:ea typeface="Microsoft YaHei"/>
                      <a:cs typeface="Segoe UI"/>
                    </a:rPr>
                    <a:t>首席设计官 + 2 位资深顾问</a:t>
                  </a:r>
                </a:p>
              </p:txBody>
            </p:sp>
          </p:grpSp>
          <p:grpSp>
            <p:nvGrpSpPr>
              <p:cNvPr id="48" name="Group 48"/>
              <p:cNvGrpSpPr/>
              <p:nvPr/>
            </p:nvGrpSpPr>
            <p:grpSpPr>
              <a:xfrm>
                <a:off x="6764655" y="6943249"/>
                <a:ext cx="1840039" cy="719613"/>
                <a:chOff x="6764655" y="6943249"/>
                <a:chExt cx="1840039" cy="719613"/>
              </a:xfrm>
            </p:grpSpPr>
            <p:sp>
              <p:nvSpPr>
                <p:cNvPr id="45" name="TextBox 45"/>
                <p:cNvSpPr txBox="1"/>
                <p:nvPr/>
              </p:nvSpPr>
              <p:spPr>
                <a:xfrm>
                  <a:off x="6769418" y="6943249"/>
                  <a:ext cx="594360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888888"/>
                      </a:solidFill>
                      <a:latin typeface="Segoe UI"/>
                      <a:ea typeface="Microsoft YaHei"/>
                      <a:cs typeface="Segoe UI"/>
                    </a:rPr>
                    <a:t>时间节点</a:t>
                  </a:r>
                </a:p>
              </p:txBody>
            </p:sp>
            <p:sp>
              <p:nvSpPr>
                <p:cNvPr id="46" name="TextBox 46"/>
                <p:cNvSpPr txBox="1"/>
                <p:nvPr/>
              </p:nvSpPr>
              <p:spPr>
                <a:xfrm>
                  <a:off x="6764655" y="7169468"/>
                  <a:ext cx="1597335" cy="2743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rgbClr val="1A1A1A"/>
                      </a:solidFill>
                      <a:latin typeface="Segoe UI"/>
                      <a:ea typeface="Microsoft YaHei"/>
                      <a:cs typeface="Segoe UI"/>
                    </a:rPr>
                    <a:t>2026-06-01 成立</a:t>
                  </a:r>
                </a:p>
              </p:txBody>
            </p:sp>
            <p:sp>
              <p:nvSpPr>
                <p:cNvPr id="47" name="TextBox 47"/>
                <p:cNvSpPr txBox="1"/>
                <p:nvPr/>
              </p:nvSpPr>
              <p:spPr>
                <a:xfrm>
                  <a:off x="6768465" y="7449502"/>
                  <a:ext cx="1836229" cy="213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rgbClr val="555555"/>
                      </a:solidFill>
                      <a:latin typeface="Segoe UI"/>
                      <a:ea typeface="Microsoft YaHei"/>
                      <a:cs typeface="Segoe UI"/>
                    </a:rPr>
                    <a:t>首次规范发布 2026-06-30</a:t>
                  </a:r>
                </a:p>
              </p:txBody>
            </p:sp>
          </p:grpSp>
        </p:grpSp>
        <p:grpSp>
          <p:nvGrpSpPr>
            <p:cNvPr id="70" name="Group 70"/>
            <p:cNvGrpSpPr/>
            <p:nvPr/>
          </p:nvGrpSpPr>
          <p:grpSpPr>
            <a:xfrm>
              <a:off x="12039600" y="2762250"/>
              <a:ext cx="5334000" cy="5524500"/>
              <a:chOff x="12039600" y="2762250"/>
              <a:chExt cx="5334000" cy="5524500"/>
            </a:xfrm>
          </p:grpSpPr>
          <p:sp>
            <p:nvSpPr>
              <p:cNvPr id="50" name="Rectangle 50"/>
              <p:cNvSpPr/>
              <p:nvPr/>
            </p:nvSpPr>
            <p:spPr>
              <a:xfrm>
                <a:off x="12039600" y="2762250"/>
                <a:ext cx="5334000" cy="55245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E2E2E2"/>
                </a:solidFill>
              </a:ln>
            </p:spPr>
          </p:sp>
          <p:sp>
            <p:nvSpPr>
              <p:cNvPr id="51" name="Rectangle 51"/>
              <p:cNvSpPr/>
              <p:nvPr/>
            </p:nvSpPr>
            <p:spPr>
              <a:xfrm>
                <a:off x="12039600" y="2762250"/>
                <a:ext cx="5334000" cy="38100"/>
              </a:xfrm>
              <a:prstGeom prst="rect">
                <a:avLst/>
              </a:prstGeom>
              <a:solidFill>
                <a:srgbClr val="1677FF"/>
              </a:solidFill>
              <a:ln>
                <a:noFill/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12331065" y="3125152"/>
                <a:ext cx="1506522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888888"/>
                    </a:solidFill>
                    <a:latin typeface="Segoe UI"/>
                    <a:ea typeface="Microsoft YaHei"/>
                    <a:cs typeface="Segoe UI"/>
                  </a:rPr>
                  <a:t>RECOMMENDATION 03</a:t>
                </a:r>
              </a:p>
            </p:txBody>
          </p:sp>
          <p:sp>
            <p:nvSpPr>
              <p:cNvPr id="53" name="TextBox 53"/>
              <p:cNvSpPr txBox="1"/>
              <p:nvPr/>
            </p:nvSpPr>
            <p:spPr>
              <a:xfrm>
                <a:off x="12319635" y="3504248"/>
                <a:ext cx="3039904" cy="3962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950" b="1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试点结果决定扩展节奏</a:t>
                </a:r>
              </a:p>
            </p:txBody>
          </p:sp>
          <p:sp>
            <p:nvSpPr>
              <p:cNvPr id="54" name="Line 54"/>
              <p:cNvSpPr/>
              <p:nvPr/>
            </p:nvSpPr>
            <p:spPr>
              <a:xfrm>
                <a:off x="12344400" y="3886200"/>
                <a:ext cx="1409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409700" h="9525">
                    <a:moveTo>
                      <a:pt x="0" y="0"/>
                    </a:moveTo>
                    <a:lnTo>
                      <a:pt x="1409700" y="0"/>
                    </a:lnTo>
                  </a:path>
                </a:pathLst>
              </a:custGeom>
              <a:noFill/>
              <a:ln w="19050">
                <a:solidFill>
                  <a:srgbClr val="1677FF"/>
                </a:solidFill>
              </a:ln>
            </p:spPr>
          </p:sp>
          <p:grpSp>
            <p:nvGrpSpPr>
              <p:cNvPr id="58" name="Group 58"/>
              <p:cNvGrpSpPr/>
              <p:nvPr/>
            </p:nvGrpSpPr>
            <p:grpSpPr>
              <a:xfrm>
                <a:off x="12329160" y="4180999"/>
                <a:ext cx="1984629" cy="714851"/>
                <a:chOff x="12329160" y="4180999"/>
                <a:chExt cx="1984629" cy="714851"/>
              </a:xfrm>
            </p:grpSpPr>
            <p:sp>
              <p:nvSpPr>
                <p:cNvPr id="55" name="TextBox 55"/>
                <p:cNvSpPr txBox="1"/>
                <p:nvPr/>
              </p:nvSpPr>
              <p:spPr>
                <a:xfrm>
                  <a:off x="12332018" y="4180999"/>
                  <a:ext cx="594360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888888"/>
                      </a:solidFill>
                      <a:latin typeface="Segoe UI"/>
                      <a:ea typeface="Microsoft YaHei"/>
                      <a:cs typeface="Segoe UI"/>
                    </a:rPr>
                    <a:t>具体行动</a:t>
                  </a:r>
                </a:p>
              </p:txBody>
            </p:sp>
            <p:sp>
              <p:nvSpPr>
                <p:cNvPr id="56" name="TextBox 56"/>
                <p:cNvSpPr txBox="1"/>
                <p:nvPr/>
              </p:nvSpPr>
              <p:spPr>
                <a:xfrm>
                  <a:off x="12329160" y="4423410"/>
                  <a:ext cx="1984629" cy="2438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rgbClr val="1A1A1A"/>
                      </a:solidFill>
                      <a:latin typeface="Segoe UI"/>
                      <a:ea typeface="Microsoft YaHei"/>
                      <a:cs typeface="Segoe UI"/>
                    </a:rPr>
                    <a:t>阶段 1 KPI 达标→华北启动</a:t>
                  </a:r>
                </a:p>
              </p:txBody>
            </p:sp>
            <p:sp>
              <p:nvSpPr>
                <p:cNvPr id="57" name="TextBox 57"/>
                <p:cNvSpPr txBox="1"/>
                <p:nvPr/>
              </p:nvSpPr>
              <p:spPr>
                <a:xfrm>
                  <a:off x="12329160" y="4652010"/>
                  <a:ext cx="1686687" cy="2438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rgbClr val="1A1A1A"/>
                      </a:solidFill>
                      <a:latin typeface="Segoe UI"/>
                      <a:ea typeface="Microsoft YaHei"/>
                      <a:cs typeface="Segoe UI"/>
                    </a:rPr>
                    <a:t>未达→延期 1 季并复盘</a:t>
                  </a:r>
                </a:p>
              </p:txBody>
            </p:sp>
          </p:grpSp>
          <p:grpSp>
            <p:nvGrpSpPr>
              <p:cNvPr id="62" name="Group 62"/>
              <p:cNvGrpSpPr/>
              <p:nvPr/>
            </p:nvGrpSpPr>
            <p:grpSpPr>
              <a:xfrm>
                <a:off x="12321540" y="5038249"/>
                <a:ext cx="1136056" cy="772001"/>
                <a:chOff x="12321540" y="5038249"/>
                <a:chExt cx="1136056" cy="772001"/>
              </a:xfrm>
            </p:grpSpPr>
            <p:sp>
              <p:nvSpPr>
                <p:cNvPr id="59" name="TextBox 59"/>
                <p:cNvSpPr txBox="1"/>
                <p:nvPr/>
              </p:nvSpPr>
              <p:spPr>
                <a:xfrm>
                  <a:off x="12332018" y="5038249"/>
                  <a:ext cx="594360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888888"/>
                      </a:solidFill>
                      <a:latin typeface="Segoe UI"/>
                      <a:ea typeface="Microsoft YaHei"/>
                      <a:cs typeface="Segoe UI"/>
                    </a:rPr>
                    <a:t>量化目标</a:t>
                  </a:r>
                </a:p>
              </p:txBody>
            </p:sp>
            <p:sp>
              <p:nvSpPr>
                <p:cNvPr id="60" name="TextBox 60"/>
                <p:cNvSpPr txBox="1"/>
                <p:nvPr/>
              </p:nvSpPr>
              <p:spPr>
                <a:xfrm>
                  <a:off x="12329160" y="5280660"/>
                  <a:ext cx="678942" cy="2438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rgbClr val="1A1A1A"/>
                      </a:solidFill>
                      <a:latin typeface="Segoe UI"/>
                      <a:ea typeface="Microsoft YaHei"/>
                      <a:cs typeface="Segoe UI"/>
                    </a:rPr>
                    <a:t>KPI 门槛</a:t>
                  </a:r>
                </a:p>
              </p:txBody>
            </p:sp>
            <p:sp>
              <p:nvSpPr>
                <p:cNvPr id="61" name="TextBox 61"/>
                <p:cNvSpPr txBox="1"/>
                <p:nvPr/>
              </p:nvSpPr>
              <p:spPr>
                <a:xfrm>
                  <a:off x="12321540" y="5444490"/>
                  <a:ext cx="1136056" cy="3657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800" b="1" dirty="0">
                      <a:solidFill>
                        <a:srgbClr val="1677FF"/>
                      </a:solidFill>
                      <a:latin typeface="Segoe UI"/>
                      <a:ea typeface="Microsoft YaHei"/>
                      <a:cs typeface="Segoe UI"/>
                    </a:rPr>
                    <a:t>3/3 达标</a:t>
                  </a:r>
                </a:p>
              </p:txBody>
            </p:sp>
          </p:grpSp>
          <p:grpSp>
            <p:nvGrpSpPr>
              <p:cNvPr id="65" name="Group 65"/>
              <p:cNvGrpSpPr/>
              <p:nvPr/>
            </p:nvGrpSpPr>
            <p:grpSpPr>
              <a:xfrm>
                <a:off x="12329160" y="6085999"/>
                <a:ext cx="1257300" cy="486251"/>
                <a:chOff x="12329160" y="6085999"/>
                <a:chExt cx="1257300" cy="486251"/>
              </a:xfrm>
            </p:grpSpPr>
            <p:sp>
              <p:nvSpPr>
                <p:cNvPr id="63" name="TextBox 63"/>
                <p:cNvSpPr txBox="1"/>
                <p:nvPr/>
              </p:nvSpPr>
              <p:spPr>
                <a:xfrm>
                  <a:off x="12332018" y="6085999"/>
                  <a:ext cx="451961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888888"/>
                      </a:solidFill>
                      <a:latin typeface="Segoe UI"/>
                      <a:ea typeface="Microsoft YaHei"/>
                      <a:cs typeface="Segoe UI"/>
                    </a:rPr>
                    <a:t>责任方</a:t>
                  </a:r>
                </a:p>
              </p:txBody>
            </p:sp>
            <p:sp>
              <p:nvSpPr>
                <p:cNvPr id="64" name="TextBox 64"/>
                <p:cNvSpPr txBox="1"/>
                <p:nvPr/>
              </p:nvSpPr>
              <p:spPr>
                <a:xfrm>
                  <a:off x="12329160" y="6328410"/>
                  <a:ext cx="1257300" cy="2438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rgbClr val="1A1A1A"/>
                      </a:solidFill>
                      <a:latin typeface="Segoe UI"/>
                      <a:ea typeface="Microsoft YaHei"/>
                      <a:cs typeface="Segoe UI"/>
                    </a:rPr>
                    <a:t>交付运营委员会</a:t>
                  </a:r>
                </a:p>
              </p:txBody>
            </p:sp>
          </p:grpSp>
          <p:grpSp>
            <p:nvGrpSpPr>
              <p:cNvPr id="69" name="Group 69"/>
              <p:cNvGrpSpPr/>
              <p:nvPr/>
            </p:nvGrpSpPr>
            <p:grpSpPr>
              <a:xfrm>
                <a:off x="12327255" y="6943249"/>
                <a:ext cx="1679019" cy="719613"/>
                <a:chOff x="12327255" y="6943249"/>
                <a:chExt cx="1679019" cy="719613"/>
              </a:xfrm>
            </p:grpSpPr>
            <p:sp>
              <p:nvSpPr>
                <p:cNvPr id="66" name="TextBox 66"/>
                <p:cNvSpPr txBox="1"/>
                <p:nvPr/>
              </p:nvSpPr>
              <p:spPr>
                <a:xfrm>
                  <a:off x="12332018" y="6943249"/>
                  <a:ext cx="594360" cy="1981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75" dirty="0">
                      <a:solidFill>
                        <a:srgbClr val="888888"/>
                      </a:solidFill>
                      <a:latin typeface="Segoe UI"/>
                      <a:ea typeface="Microsoft YaHei"/>
                      <a:cs typeface="Segoe UI"/>
                    </a:rPr>
                    <a:t>时间节点</a:t>
                  </a:r>
                </a:p>
              </p:txBody>
            </p:sp>
            <p:sp>
              <p:nvSpPr>
                <p:cNvPr id="67" name="TextBox 67"/>
                <p:cNvSpPr txBox="1"/>
                <p:nvPr/>
              </p:nvSpPr>
              <p:spPr>
                <a:xfrm>
                  <a:off x="12327255" y="7169468"/>
                  <a:ext cx="1597335" cy="27432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rgbClr val="1A1A1A"/>
                      </a:solidFill>
                      <a:latin typeface="Segoe UI"/>
                      <a:ea typeface="Microsoft YaHei"/>
                      <a:cs typeface="Segoe UI"/>
                    </a:rPr>
                    <a:t>2026-08-15 评审</a:t>
                  </a:r>
                </a:p>
              </p:txBody>
            </p:sp>
            <p:sp>
              <p:nvSpPr>
                <p:cNvPr id="68" name="TextBox 68"/>
                <p:cNvSpPr txBox="1"/>
                <p:nvPr/>
              </p:nvSpPr>
              <p:spPr>
                <a:xfrm>
                  <a:off x="12331065" y="7449502"/>
                  <a:ext cx="1675209" cy="21336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rgbClr val="555555"/>
                      </a:solidFill>
                      <a:latin typeface="Segoe UI"/>
                      <a:ea typeface="Microsoft YaHei"/>
                      <a:cs typeface="Segoe UI"/>
                    </a:rPr>
                    <a:t>9 月底决定 Q4 是否启动</a:t>
                  </a:r>
                </a:p>
              </p:txBody>
            </p:sp>
          </p:grpSp>
        </p:grpSp>
      </p:grpSp>
      <p:grpSp>
        <p:nvGrpSpPr>
          <p:cNvPr id="75" name="Group 75"/>
          <p:cNvGrpSpPr/>
          <p:nvPr/>
        </p:nvGrpSpPr>
        <p:grpSpPr>
          <a:xfrm>
            <a:off x="914400" y="8572500"/>
            <a:ext cx="8126135" cy="657225"/>
            <a:chOff x="914400" y="8572500"/>
            <a:chExt cx="8126135" cy="657225"/>
          </a:xfrm>
        </p:grpSpPr>
        <p:sp>
          <p:nvSpPr>
            <p:cNvPr id="72" name="Rectangle 72"/>
            <p:cNvSpPr/>
            <p:nvPr/>
          </p:nvSpPr>
          <p:spPr>
            <a:xfrm>
              <a:off x="914400" y="8572500"/>
              <a:ext cx="76200" cy="5715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1129665" y="8725852"/>
              <a:ext cx="74742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88888"/>
                  </a:solidFill>
                  <a:latin typeface="Segoe UI"/>
                  <a:ea typeface="Microsoft YaHei"/>
                  <a:cs typeface="Segoe UI"/>
                </a:rPr>
                <a:t>NEXT STEP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123950" y="8924925"/>
              <a:ext cx="791658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本方案提交交付运营委员会 2026-04-28 例会评审 · 评审通过后启动试点招募</a:t>
              </a:r>
            </a:p>
          </p:txBody>
        </p:sp>
      </p:grpSp>
      <p:sp>
        <p:nvSpPr>
          <p:cNvPr id="76" name="Line 76"/>
          <p:cNvSpPr/>
          <p:nvPr/>
        </p:nvSpPr>
        <p:spPr>
          <a:xfrm>
            <a:off x="914400" y="9525000"/>
            <a:ext cx="16459200" cy="9525"/>
          </a:xfrm>
          <a:custGeom>
            <a:avLst/>
            <a:gdLst/>
            <a:ahLst/>
            <a:cxnLst/>
            <a:rect l="l" t="t" r="r" b="b"/>
            <a:pathLst>
              <a:path w="16459200" h="9525">
                <a:moveTo>
                  <a:pt x="0" y="0"/>
                </a:moveTo>
                <a:lnTo>
                  <a:pt x="16459200" y="0"/>
                </a:lnTo>
              </a:path>
            </a:pathLst>
          </a:custGeom>
          <a:noFill/>
          <a:ln w="9525">
            <a:solidFill>
              <a:srgbClr val="E2E2E2"/>
            </a:solidFill>
          </a:ln>
        </p:spPr>
      </p:sp>
      <p:sp>
        <p:nvSpPr>
          <p:cNvPr id="77" name="TextBox 77"/>
          <p:cNvSpPr txBox="1"/>
          <p:nvPr/>
        </p:nvSpPr>
        <p:spPr>
          <a:xfrm>
            <a:off x="901065" y="9602152"/>
            <a:ext cx="31243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AHAM · Internal Evaluation · CONFIDENTIAL</a:t>
            </a:r>
          </a:p>
        </p:txBody>
      </p:sp>
      <p:sp>
        <p:nvSpPr>
          <p:cNvPr id="78" name="TextBox 78"/>
          <p:cNvSpPr txBox="1"/>
          <p:nvPr/>
        </p:nvSpPr>
        <p:spPr>
          <a:xfrm>
            <a:off x="16884872" y="9602152"/>
            <a:ext cx="5020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901065" y="458152"/>
            <a:ext cx="98512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08 · 技术架构</a:t>
            </a:r>
          </a:p>
        </p:txBody>
      </p:sp>
      <p:sp>
        <p:nvSpPr>
          <p:cNvPr id="4" name="Line 4"/>
          <p:cNvSpPr/>
          <p:nvPr/>
        </p:nvSpPr>
        <p:spPr>
          <a:xfrm>
            <a:off x="914400" y="723900"/>
            <a:ext cx="16459200" cy="9525"/>
          </a:xfrm>
          <a:custGeom>
            <a:avLst/>
            <a:gdLst/>
            <a:ahLst/>
            <a:cxnLst/>
            <a:rect l="l" t="t" r="r" b="b"/>
            <a:pathLst>
              <a:path w="16459200" h="9525">
                <a:moveTo>
                  <a:pt x="0" y="0"/>
                </a:moveTo>
                <a:lnTo>
                  <a:pt x="16459200" y="0"/>
                </a:lnTo>
              </a:path>
            </a:pathLst>
          </a:custGeom>
          <a:noFill/>
          <a:ln w="9525">
            <a:solidFill>
              <a:srgbClr val="E2E2E2"/>
            </a:solidFill>
          </a:ln>
        </p:spPr>
      </p:sp>
      <p:sp>
        <p:nvSpPr>
          <p:cNvPr id="5" name="Line 5"/>
          <p:cNvSpPr/>
          <p:nvPr/>
        </p:nvSpPr>
        <p:spPr>
          <a:xfrm>
            <a:off x="914400" y="1238250"/>
            <a:ext cx="9525" cy="666750"/>
          </a:xfrm>
          <a:custGeom>
            <a:avLst/>
            <a:gdLst/>
            <a:ahLst/>
            <a:cxnLst/>
            <a:rect l="l" t="t" r="r" b="b"/>
            <a:pathLst>
              <a:path w="9525" h="666750">
                <a:moveTo>
                  <a:pt x="0" y="0"/>
                </a:moveTo>
                <a:lnTo>
                  <a:pt x="0" y="666750"/>
                </a:lnTo>
              </a:path>
            </a:pathLst>
          </a:custGeom>
          <a:noFill/>
          <a:ln w="57150">
            <a:solidFill>
              <a:srgbClr val="1677FF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1223010" y="1346835"/>
            <a:ext cx="1174483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Aham 采用四层分层架构,22 个核心组件,方法论与工具链强解耦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40155" y="1854518"/>
            <a:ext cx="843362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——交付层可独立替换为 Keynote/Google Slides 导出;规范层可被非 PPT 场景(Word/Excel)复用</a:t>
            </a:r>
          </a:p>
        </p:txBody>
      </p:sp>
      <p:grpSp>
        <p:nvGrpSpPr>
          <p:cNvPr id="38" name="Group 38"/>
          <p:cNvGrpSpPr/>
          <p:nvPr/>
        </p:nvGrpSpPr>
        <p:grpSpPr>
          <a:xfrm>
            <a:off x="914400" y="2762250"/>
            <a:ext cx="16459200" cy="1238250"/>
            <a:chOff x="914400" y="2762250"/>
            <a:chExt cx="16459200" cy="1238250"/>
          </a:xfrm>
        </p:grpSpPr>
        <p:sp>
          <p:nvSpPr>
            <p:cNvPr id="8" name="Rectangle 8"/>
            <p:cNvSpPr/>
            <p:nvPr/>
          </p:nvSpPr>
          <p:spPr>
            <a:xfrm>
              <a:off x="914400" y="2762250"/>
              <a:ext cx="16459200" cy="1238250"/>
            </a:xfrm>
            <a:prstGeom prst="rect">
              <a:avLst/>
            </a:prstGeom>
            <a:solidFill>
              <a:srgbClr val="FAFAFA"/>
            </a:solidFill>
            <a:ln w="9525">
              <a:solidFill>
                <a:srgbClr val="E2E2E2"/>
              </a:solidFill>
            </a:ln>
          </p:spPr>
        </p:sp>
        <p:sp>
          <p:nvSpPr>
            <p:cNvPr id="9" name="Rectangle 9"/>
            <p:cNvSpPr/>
            <p:nvPr/>
          </p:nvSpPr>
          <p:spPr>
            <a:xfrm>
              <a:off x="914400" y="2762250"/>
              <a:ext cx="57150" cy="1238250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129665" y="2934652"/>
              <a:ext cx="118448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88888"/>
                  </a:solidFill>
                  <a:latin typeface="Segoe UI"/>
                  <a:ea typeface="Microsoft YaHei"/>
                  <a:cs typeface="Segoe UI"/>
                </a:rPr>
                <a:t>LAYER 01 · INPUT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22045" y="3136582"/>
              <a:ext cx="210411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输入层 · 素材吸收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29665" y="3429952"/>
              <a:ext cx="501829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55555"/>
                  </a:solidFill>
                  <a:latin typeface="Segoe UI"/>
                  <a:ea typeface="Microsoft YaHei"/>
                  <a:cs typeface="Segoe UI"/>
                </a:rPr>
                <a:t>支持多形态原始素材,统一归一化为结构化 JSON 作为后续处理的唯一输入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4914900" y="3028950"/>
              <a:ext cx="2286000" cy="762000"/>
              <a:chOff x="4914900" y="3028950"/>
              <a:chExt cx="2286000" cy="76200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4914900" y="3028950"/>
                <a:ext cx="2286000" cy="7620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E2E2E2"/>
                </a:solidFill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5055870" y="3160395"/>
                <a:ext cx="88382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888888"/>
                    </a:solidFill>
                    <a:latin typeface="Segoe UI"/>
                    <a:ea typeface="Microsoft YaHei"/>
                    <a:cs typeface="Segoe UI"/>
                  </a:rPr>
                  <a:t>MODULE · I-01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5052060" y="3375660"/>
                <a:ext cx="95059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文档解析器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5055870" y="3598545"/>
                <a:ext cx="139646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55555"/>
                    </a:solidFill>
                    <a:latin typeface="Segoe UI"/>
                    <a:ea typeface="Microsoft YaHei"/>
                    <a:cs typeface="Segoe UI"/>
                  </a:rPr>
                  <a:t>PDF / DOCX / MD / TXT</a:t>
                </a:r>
              </a:p>
            </p:txBody>
          </p:sp>
        </p:grpSp>
        <p:grpSp>
          <p:nvGrpSpPr>
            <p:cNvPr id="22" name="Group 22"/>
            <p:cNvGrpSpPr/>
            <p:nvPr/>
          </p:nvGrpSpPr>
          <p:grpSpPr>
            <a:xfrm>
              <a:off x="7391400" y="3028950"/>
              <a:ext cx="2286000" cy="762000"/>
              <a:chOff x="7391400" y="3028950"/>
              <a:chExt cx="2286000" cy="76200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7391400" y="3028950"/>
                <a:ext cx="2286000" cy="7620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E2E2E2"/>
                </a:solidFill>
              </a:ln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7532370" y="3160395"/>
                <a:ext cx="91668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888888"/>
                    </a:solidFill>
                    <a:latin typeface="Segoe UI"/>
                    <a:ea typeface="Microsoft YaHei"/>
                    <a:cs typeface="Segoe UI"/>
                  </a:rPr>
                  <a:t>MODULE · I-02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7528560" y="3375660"/>
                <a:ext cx="76657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视觉理解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532370" y="3598545"/>
                <a:ext cx="121901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55555"/>
                    </a:solidFill>
                    <a:latin typeface="Segoe UI"/>
                    <a:ea typeface="Microsoft YaHei"/>
                    <a:cs typeface="Segoe UI"/>
                  </a:rPr>
                  <a:t>PPT 截图 / 白板照片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9867900" y="3028950"/>
              <a:ext cx="2286000" cy="762000"/>
              <a:chOff x="9867900" y="3028950"/>
              <a:chExt cx="2286000" cy="762000"/>
            </a:xfrm>
          </p:grpSpPr>
          <p:sp>
            <p:nvSpPr>
              <p:cNvPr id="23" name="Rectangle 23"/>
              <p:cNvSpPr/>
              <p:nvPr/>
            </p:nvSpPr>
            <p:spPr>
              <a:xfrm>
                <a:off x="9867900" y="3028950"/>
                <a:ext cx="2286000" cy="7620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E2E2E2"/>
                </a:solidFill>
              </a:ln>
            </p:spPr>
          </p:sp>
          <p:sp>
            <p:nvSpPr>
              <p:cNvPr id="24" name="TextBox 24"/>
              <p:cNvSpPr txBox="1"/>
              <p:nvPr/>
            </p:nvSpPr>
            <p:spPr>
              <a:xfrm>
                <a:off x="10008870" y="3160395"/>
                <a:ext cx="91668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888888"/>
                    </a:solidFill>
                    <a:latin typeface="Segoe UI"/>
                    <a:ea typeface="Microsoft YaHei"/>
                    <a:cs typeface="Segoe UI"/>
                  </a:rPr>
                  <a:t>MODULE · I-03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0005060" y="3375660"/>
                <a:ext cx="95059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结构化提取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0008870" y="3598545"/>
                <a:ext cx="111385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55555"/>
                    </a:solidFill>
                    <a:latin typeface="Segoe UI"/>
                    <a:ea typeface="Microsoft YaHei"/>
                    <a:cs typeface="Segoe UI"/>
                  </a:rPr>
                  <a:t>表格 · 数据 · 引用</a:t>
                </a:r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12344400" y="3028950"/>
              <a:ext cx="2286000" cy="762000"/>
              <a:chOff x="12344400" y="3028950"/>
              <a:chExt cx="2286000" cy="76200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12344400" y="3028950"/>
                <a:ext cx="2286000" cy="7620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E2E2E2"/>
                </a:solidFill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12485370" y="3160395"/>
                <a:ext cx="91668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888888"/>
                    </a:solidFill>
                    <a:latin typeface="Segoe UI"/>
                    <a:ea typeface="Microsoft YaHei"/>
                    <a:cs typeface="Segoe UI"/>
                  </a:rPr>
                  <a:t>MODULE · I-04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12481560" y="3375660"/>
                <a:ext cx="76657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需求澄清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12485370" y="3598545"/>
                <a:ext cx="111385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55555"/>
                    </a:solidFill>
                    <a:latin typeface="Segoe UI"/>
                    <a:ea typeface="Microsoft YaHei"/>
                    <a:cs typeface="Segoe UI"/>
                  </a:rPr>
                  <a:t>受众 · 篇幅 · 节奏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14820900" y="3028950"/>
              <a:ext cx="2286000" cy="762000"/>
              <a:chOff x="14820900" y="3028950"/>
              <a:chExt cx="2286000" cy="762000"/>
            </a:xfrm>
          </p:grpSpPr>
          <p:sp>
            <p:nvSpPr>
              <p:cNvPr id="33" name="Rectangle 33"/>
              <p:cNvSpPr/>
              <p:nvPr/>
            </p:nvSpPr>
            <p:spPr>
              <a:xfrm>
                <a:off x="14820900" y="3028950"/>
                <a:ext cx="2286000" cy="7620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E2E2E2"/>
                </a:solidFill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14961870" y="3160395"/>
                <a:ext cx="91668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888888"/>
                    </a:solidFill>
                    <a:latin typeface="Segoe UI"/>
                    <a:ea typeface="Microsoft YaHei"/>
                    <a:cs typeface="Segoe UI"/>
                  </a:rPr>
                  <a:t>MODULE · I-05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14958060" y="3375660"/>
                <a:ext cx="95059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素材归一化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14961870" y="3598545"/>
                <a:ext cx="114014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55555"/>
                    </a:solidFill>
                    <a:latin typeface="Segoe UI"/>
                    <a:ea typeface="Microsoft YaHei"/>
                    <a:cs typeface="Segoe UI"/>
                  </a:rPr>
                  <a:t>JSON Schema 统一</a:t>
                </a:r>
              </a:p>
            </p:txBody>
          </p:sp>
        </p:grpSp>
      </p:grpSp>
      <p:grpSp>
        <p:nvGrpSpPr>
          <p:cNvPr id="41" name="Group 41"/>
          <p:cNvGrpSpPr/>
          <p:nvPr/>
        </p:nvGrpSpPr>
        <p:grpSpPr>
          <a:xfrm>
            <a:off x="9096375" y="4000500"/>
            <a:ext cx="95250" cy="228600"/>
            <a:chOff x="9096375" y="4000500"/>
            <a:chExt cx="95250" cy="228600"/>
          </a:xfrm>
        </p:grpSpPr>
        <p:sp>
          <p:nvSpPr>
            <p:cNvPr id="39" name="Freeform 39"/>
            <p:cNvSpPr/>
            <p:nvPr/>
          </p:nvSpPr>
          <p:spPr>
            <a:xfrm>
              <a:off x="9144000" y="400050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4288">
              <a:solidFill>
                <a:srgbClr val="1677FF"/>
              </a:solidFill>
            </a:ln>
          </p:spPr>
        </p:sp>
        <p:sp>
          <p:nvSpPr>
            <p:cNvPr id="40" name="Freeform 40"/>
            <p:cNvSpPr/>
            <p:nvPr/>
          </p:nvSpPr>
          <p:spPr>
            <a:xfrm>
              <a:off x="9096375" y="4152900"/>
              <a:ext cx="95250" cy="76200"/>
            </a:xfrm>
            <a:custGeom>
              <a:avLst/>
              <a:gdLst/>
              <a:ahLst/>
              <a:cxnLst/>
              <a:rect l="l" t="t" r="r" b="b"/>
              <a:pathLst>
                <a:path w="95250" h="76200">
                  <a:moveTo>
                    <a:pt x="0" y="0"/>
                  </a:moveTo>
                  <a:lnTo>
                    <a:pt x="47625" y="76200"/>
                  </a:lnTo>
                  <a:lnTo>
                    <a:pt x="95250" y="0"/>
                  </a:lnTo>
                </a:path>
              </a:pathLst>
            </a:custGeom>
            <a:noFill/>
            <a:ln w="14288">
              <a:solidFill>
                <a:srgbClr val="1677FF"/>
              </a:solidFill>
            </a:ln>
          </p:spPr>
        </p:sp>
      </p:grpSp>
      <p:grpSp>
        <p:nvGrpSpPr>
          <p:cNvPr id="72" name="Group 72"/>
          <p:cNvGrpSpPr/>
          <p:nvPr/>
        </p:nvGrpSpPr>
        <p:grpSpPr>
          <a:xfrm>
            <a:off x="914400" y="4286250"/>
            <a:ext cx="16459200" cy="1428750"/>
            <a:chOff x="914400" y="4286250"/>
            <a:chExt cx="16459200" cy="1428750"/>
          </a:xfrm>
        </p:grpSpPr>
        <p:sp>
          <p:nvSpPr>
            <p:cNvPr id="42" name="Rectangle 42"/>
            <p:cNvSpPr/>
            <p:nvPr/>
          </p:nvSpPr>
          <p:spPr>
            <a:xfrm>
              <a:off x="914400" y="4286250"/>
              <a:ext cx="16459200" cy="1428750"/>
            </a:xfrm>
            <a:prstGeom prst="rect">
              <a:avLst/>
            </a:prstGeom>
            <a:solidFill>
              <a:srgbClr val="E6F4FF"/>
            </a:solidFill>
            <a:ln w="9525">
              <a:solidFill>
                <a:srgbClr val="1677FF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914400" y="4286250"/>
              <a:ext cx="57150" cy="1428750"/>
            </a:xfrm>
            <a:prstGeom prst="rect">
              <a:avLst/>
            </a:prstGeom>
            <a:solidFill>
              <a:srgbClr val="1677FF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129665" y="4458652"/>
              <a:ext cx="188990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1677FF"/>
                  </a:solidFill>
                  <a:latin typeface="Segoe UI"/>
                  <a:ea typeface="Microsoft YaHei"/>
                  <a:cs typeface="Segoe UI"/>
                </a:rPr>
                <a:t>LAYER 02 · METHODOLOGY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22045" y="4660582"/>
              <a:ext cx="3407231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方法论层 · 八阶段引擎 ★ 核心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1129665" y="4953952"/>
              <a:ext cx="556269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55555"/>
                  </a:solidFill>
                  <a:latin typeface="Segoe UI"/>
                  <a:ea typeface="Microsoft YaHei"/>
                  <a:cs typeface="Segoe UI"/>
                </a:rPr>
                <a:t>咨询公司方法论的代码化表达,每阶段独立可测、独立可审计;与交付介质完全解耦</a:t>
              </a:r>
            </a:p>
          </p:txBody>
        </p:sp>
        <p:grpSp>
          <p:nvGrpSpPr>
            <p:cNvPr id="71" name="Group 71"/>
            <p:cNvGrpSpPr/>
            <p:nvPr/>
          </p:nvGrpSpPr>
          <p:grpSpPr>
            <a:xfrm>
              <a:off x="1143000" y="5238750"/>
              <a:ext cx="16097250" cy="390525"/>
              <a:chOff x="1143000" y="5238750"/>
              <a:chExt cx="16097250" cy="390525"/>
            </a:xfrm>
          </p:grpSpPr>
          <p:sp>
            <p:nvSpPr>
              <p:cNvPr id="47" name="Rectangle 47"/>
              <p:cNvSpPr/>
              <p:nvPr/>
            </p:nvSpPr>
            <p:spPr>
              <a:xfrm>
                <a:off x="1143000" y="5238750"/>
                <a:ext cx="1962150" cy="361950"/>
              </a:xfrm>
              <a:prstGeom prst="rect">
                <a:avLst/>
              </a:prstGeom>
              <a:solidFill>
                <a:srgbClr val="1677FF"/>
              </a:solidFill>
              <a:ln>
                <a:noFill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1228725" y="5310188"/>
                <a:ext cx="446246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PHASE 01</a:t>
                </a: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1226820" y="5446395"/>
                <a:ext cx="54864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规范加载</a:t>
                </a:r>
              </a:p>
            </p:txBody>
          </p:sp>
          <p:sp>
            <p:nvSpPr>
              <p:cNvPr id="50" name="Rectangle 50"/>
              <p:cNvSpPr/>
              <p:nvPr/>
            </p:nvSpPr>
            <p:spPr>
              <a:xfrm>
                <a:off x="3162300" y="5238750"/>
                <a:ext cx="1962150" cy="36195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1677FF"/>
                </a:solidFill>
              </a:ln>
            </p:spPr>
          </p:sp>
          <p:sp>
            <p:nvSpPr>
              <p:cNvPr id="51" name="TextBox 51"/>
              <p:cNvSpPr txBox="1"/>
              <p:nvPr/>
            </p:nvSpPr>
            <p:spPr>
              <a:xfrm>
                <a:off x="3248025" y="5310188"/>
                <a:ext cx="473631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1677FF"/>
                    </a:solidFill>
                    <a:latin typeface="Segoe UI"/>
                    <a:ea typeface="Microsoft YaHei"/>
                    <a:cs typeface="Segoe UI"/>
                  </a:rPr>
                  <a:t>PHASE 02</a:t>
                </a:r>
              </a:p>
            </p:txBody>
          </p:sp>
          <p:sp>
            <p:nvSpPr>
              <p:cNvPr id="52" name="TextBox 52"/>
              <p:cNvSpPr txBox="1"/>
              <p:nvPr/>
            </p:nvSpPr>
            <p:spPr>
              <a:xfrm>
                <a:off x="3246120" y="5446395"/>
                <a:ext cx="54864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材料解析</a:t>
                </a:r>
              </a:p>
            </p:txBody>
          </p:sp>
          <p:sp>
            <p:nvSpPr>
              <p:cNvPr id="53" name="Rectangle 53"/>
              <p:cNvSpPr/>
              <p:nvPr/>
            </p:nvSpPr>
            <p:spPr>
              <a:xfrm>
                <a:off x="5181600" y="5238750"/>
                <a:ext cx="1962150" cy="36195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1677FF"/>
                </a:solidFill>
              </a:ln>
            </p:spPr>
          </p:sp>
          <p:sp>
            <p:nvSpPr>
              <p:cNvPr id="54" name="TextBox 54"/>
              <p:cNvSpPr txBox="1"/>
              <p:nvPr/>
            </p:nvSpPr>
            <p:spPr>
              <a:xfrm>
                <a:off x="5267325" y="5310188"/>
                <a:ext cx="473631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1677FF"/>
                    </a:solidFill>
                    <a:latin typeface="Segoe UI"/>
                    <a:ea typeface="Microsoft YaHei"/>
                    <a:cs typeface="Segoe UI"/>
                  </a:rPr>
                  <a:t>PHASE 03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5265420" y="5446395"/>
                <a:ext cx="54864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论点提炼</a:t>
                </a:r>
              </a:p>
            </p:txBody>
          </p:sp>
          <p:sp>
            <p:nvSpPr>
              <p:cNvPr id="56" name="Rectangle 56"/>
              <p:cNvSpPr/>
              <p:nvPr/>
            </p:nvSpPr>
            <p:spPr>
              <a:xfrm>
                <a:off x="7200900" y="5238750"/>
                <a:ext cx="1962150" cy="36195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1677FF"/>
                </a:solidFill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7286625" y="5310188"/>
                <a:ext cx="473631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1677FF"/>
                    </a:solidFill>
                    <a:latin typeface="Segoe UI"/>
                    <a:ea typeface="Microsoft YaHei"/>
                    <a:cs typeface="Segoe UI"/>
                  </a:rPr>
                  <a:t>PHASE 04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7284720" y="5446395"/>
                <a:ext cx="54864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叙事骨架</a:t>
                </a:r>
              </a:p>
            </p:txBody>
          </p:sp>
          <p:sp>
            <p:nvSpPr>
              <p:cNvPr id="59" name="Rectangle 59"/>
              <p:cNvSpPr/>
              <p:nvPr/>
            </p:nvSpPr>
            <p:spPr>
              <a:xfrm>
                <a:off x="9220200" y="5238750"/>
                <a:ext cx="1962150" cy="36195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1677FF"/>
                </a:solidFill>
              </a:ln>
            </p:spPr>
          </p:sp>
          <p:sp>
            <p:nvSpPr>
              <p:cNvPr id="60" name="TextBox 60"/>
              <p:cNvSpPr txBox="1"/>
              <p:nvPr/>
            </p:nvSpPr>
            <p:spPr>
              <a:xfrm>
                <a:off x="9305925" y="5310188"/>
                <a:ext cx="473631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1677FF"/>
                    </a:solidFill>
                    <a:latin typeface="Segoe UI"/>
                    <a:ea typeface="Microsoft YaHei"/>
                    <a:cs typeface="Segoe UI"/>
                  </a:rPr>
                  <a:t>PHASE 05</a:t>
                </a:r>
              </a:p>
            </p:txBody>
          </p:sp>
          <p:sp>
            <p:nvSpPr>
              <p:cNvPr id="61" name="TextBox 61"/>
              <p:cNvSpPr txBox="1"/>
              <p:nvPr/>
            </p:nvSpPr>
            <p:spPr>
              <a:xfrm>
                <a:off x="9304020" y="5446395"/>
                <a:ext cx="54864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版式规划</a:t>
                </a:r>
              </a:p>
            </p:txBody>
          </p:sp>
          <p:sp>
            <p:nvSpPr>
              <p:cNvPr id="62" name="Rectangle 62"/>
              <p:cNvSpPr/>
              <p:nvPr/>
            </p:nvSpPr>
            <p:spPr>
              <a:xfrm>
                <a:off x="11239500" y="5238750"/>
                <a:ext cx="1962150" cy="361950"/>
              </a:xfrm>
              <a:prstGeom prst="rect">
                <a:avLst/>
              </a:prstGeom>
              <a:solidFill>
                <a:srgbClr val="1677FF"/>
              </a:solidFill>
              <a:ln>
                <a:noFill/>
              </a:ln>
            </p:spPr>
          </p:sp>
          <p:sp>
            <p:nvSpPr>
              <p:cNvPr id="63" name="TextBox 63"/>
              <p:cNvSpPr txBox="1"/>
              <p:nvPr/>
            </p:nvSpPr>
            <p:spPr>
              <a:xfrm>
                <a:off x="11325225" y="5310188"/>
                <a:ext cx="473631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PHASE 06</a:t>
                </a:r>
              </a:p>
            </p:txBody>
          </p:sp>
          <p:sp>
            <p:nvSpPr>
              <p:cNvPr id="64" name="TextBox 64"/>
              <p:cNvSpPr txBox="1"/>
              <p:nvPr/>
            </p:nvSpPr>
            <p:spPr>
              <a:xfrm>
                <a:off x="11323320" y="5446395"/>
                <a:ext cx="66036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样稿确认 ★</a:t>
                </a:r>
              </a:p>
            </p:txBody>
          </p:sp>
          <p:sp>
            <p:nvSpPr>
              <p:cNvPr id="65" name="Rectangle 65"/>
              <p:cNvSpPr/>
              <p:nvPr/>
            </p:nvSpPr>
            <p:spPr>
              <a:xfrm>
                <a:off x="13258800" y="5238750"/>
                <a:ext cx="1962150" cy="36195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1677FF"/>
                </a:solidFill>
              </a:ln>
            </p:spPr>
          </p:sp>
          <p:sp>
            <p:nvSpPr>
              <p:cNvPr id="66" name="TextBox 66"/>
              <p:cNvSpPr txBox="1"/>
              <p:nvPr/>
            </p:nvSpPr>
            <p:spPr>
              <a:xfrm>
                <a:off x="13344525" y="5310188"/>
                <a:ext cx="473631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1677FF"/>
                    </a:solidFill>
                    <a:latin typeface="Segoe UI"/>
                    <a:ea typeface="Microsoft YaHei"/>
                    <a:cs typeface="Segoe UI"/>
                  </a:rPr>
                  <a:t>PHASE 07</a:t>
                </a: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13342620" y="5446395"/>
                <a:ext cx="54864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逐页设计</a:t>
                </a:r>
              </a:p>
            </p:txBody>
          </p:sp>
          <p:sp>
            <p:nvSpPr>
              <p:cNvPr id="68" name="Rectangle 68"/>
              <p:cNvSpPr/>
              <p:nvPr/>
            </p:nvSpPr>
            <p:spPr>
              <a:xfrm>
                <a:off x="15278100" y="5238750"/>
                <a:ext cx="1962150" cy="361950"/>
              </a:xfrm>
              <a:prstGeom prst="rect">
                <a:avLst/>
              </a:prstGeom>
              <a:solidFill>
                <a:srgbClr val="1A1A1A"/>
              </a:solidFill>
              <a:ln>
                <a:noFill/>
              </a:ln>
            </p:spPr>
          </p:sp>
          <p:sp>
            <p:nvSpPr>
              <p:cNvPr id="69" name="TextBox 69"/>
              <p:cNvSpPr txBox="1"/>
              <p:nvPr/>
            </p:nvSpPr>
            <p:spPr>
              <a:xfrm>
                <a:off x="15363825" y="5310188"/>
                <a:ext cx="473631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PHASE 08</a:t>
                </a: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15361920" y="5446395"/>
                <a:ext cx="54864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质检交付</a:t>
                </a:r>
              </a:p>
            </p:txBody>
          </p:sp>
        </p:grpSp>
      </p:grpSp>
      <p:grpSp>
        <p:nvGrpSpPr>
          <p:cNvPr id="75" name="Group 75"/>
          <p:cNvGrpSpPr/>
          <p:nvPr/>
        </p:nvGrpSpPr>
        <p:grpSpPr>
          <a:xfrm>
            <a:off x="9096375" y="5715000"/>
            <a:ext cx="95250" cy="228600"/>
            <a:chOff x="9096375" y="5715000"/>
            <a:chExt cx="95250" cy="228600"/>
          </a:xfrm>
        </p:grpSpPr>
        <p:sp>
          <p:nvSpPr>
            <p:cNvPr id="73" name="Freeform 73"/>
            <p:cNvSpPr/>
            <p:nvPr/>
          </p:nvSpPr>
          <p:spPr>
            <a:xfrm>
              <a:off x="9144000" y="571500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4288">
              <a:solidFill>
                <a:srgbClr val="1677FF"/>
              </a:solidFill>
            </a:ln>
          </p:spPr>
        </p:sp>
        <p:sp>
          <p:nvSpPr>
            <p:cNvPr id="74" name="Freeform 74"/>
            <p:cNvSpPr/>
            <p:nvPr/>
          </p:nvSpPr>
          <p:spPr>
            <a:xfrm>
              <a:off x="9096375" y="5867400"/>
              <a:ext cx="95250" cy="76200"/>
            </a:xfrm>
            <a:custGeom>
              <a:avLst/>
              <a:gdLst/>
              <a:ahLst/>
              <a:cxnLst/>
              <a:rect l="l" t="t" r="r" b="b"/>
              <a:pathLst>
                <a:path w="95250" h="76200">
                  <a:moveTo>
                    <a:pt x="0" y="0"/>
                  </a:moveTo>
                  <a:lnTo>
                    <a:pt x="47625" y="76200"/>
                  </a:lnTo>
                  <a:lnTo>
                    <a:pt x="95250" y="0"/>
                  </a:lnTo>
                </a:path>
              </a:pathLst>
            </a:custGeom>
            <a:noFill/>
            <a:ln w="14288">
              <a:solidFill>
                <a:srgbClr val="1677FF"/>
              </a:solidFill>
            </a:ln>
          </p:spPr>
        </p:sp>
      </p:grpSp>
      <p:grpSp>
        <p:nvGrpSpPr>
          <p:cNvPr id="106" name="Group 106"/>
          <p:cNvGrpSpPr/>
          <p:nvPr/>
        </p:nvGrpSpPr>
        <p:grpSpPr>
          <a:xfrm>
            <a:off x="914400" y="6000750"/>
            <a:ext cx="16459200" cy="1238250"/>
            <a:chOff x="914400" y="6000750"/>
            <a:chExt cx="16459200" cy="1238250"/>
          </a:xfrm>
        </p:grpSpPr>
        <p:sp>
          <p:nvSpPr>
            <p:cNvPr id="76" name="Rectangle 76"/>
            <p:cNvSpPr/>
            <p:nvPr/>
          </p:nvSpPr>
          <p:spPr>
            <a:xfrm>
              <a:off x="914400" y="6000750"/>
              <a:ext cx="16459200" cy="1238250"/>
            </a:xfrm>
            <a:prstGeom prst="rect">
              <a:avLst/>
            </a:prstGeom>
            <a:solidFill>
              <a:srgbClr val="FAFAFA"/>
            </a:solidFill>
            <a:ln w="9525">
              <a:solidFill>
                <a:srgbClr val="E2E2E2"/>
              </a:solidFill>
            </a:ln>
          </p:spPr>
        </p:sp>
        <p:sp>
          <p:nvSpPr>
            <p:cNvPr id="77" name="Rectangle 77"/>
            <p:cNvSpPr/>
            <p:nvPr/>
          </p:nvSpPr>
          <p:spPr>
            <a:xfrm>
              <a:off x="914400" y="6000750"/>
              <a:ext cx="57150" cy="1238250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1129665" y="6173152"/>
              <a:ext cx="17135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88888"/>
                  </a:solidFill>
                  <a:latin typeface="Segoe UI"/>
                  <a:ea typeface="Microsoft YaHei"/>
                  <a:cs typeface="Segoe UI"/>
                </a:rPr>
                <a:t>LAYER 03 · GOVERNANCE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122045" y="6375082"/>
              <a:ext cx="286321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规范层 · 品牌与质量约束</a:t>
              </a:r>
            </a:p>
          </p:txBody>
        </p:sp>
        <p:sp>
          <p:nvSpPr>
            <p:cNvPr id="80" name="TextBox 80"/>
            <p:cNvSpPr txBox="1"/>
            <p:nvPr/>
          </p:nvSpPr>
          <p:spPr>
            <a:xfrm>
              <a:off x="1129665" y="6668452"/>
              <a:ext cx="53940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55555"/>
                  </a:solidFill>
                  <a:latin typeface="Segoe UI"/>
                  <a:ea typeface="Microsoft YaHei"/>
                  <a:cs typeface="Segoe UI"/>
                </a:rPr>
                <a:t>作为硬约束注入所有阶段;规范变更通过 v1.x → v2.x 分支管理,不直接改动基线</a:t>
              </a:r>
            </a:p>
          </p:txBody>
        </p:sp>
        <p:grpSp>
          <p:nvGrpSpPr>
            <p:cNvPr id="85" name="Group 85"/>
            <p:cNvGrpSpPr/>
            <p:nvPr/>
          </p:nvGrpSpPr>
          <p:grpSpPr>
            <a:xfrm>
              <a:off x="4914900" y="6267450"/>
              <a:ext cx="2286000" cy="762000"/>
              <a:chOff x="4914900" y="6267450"/>
              <a:chExt cx="2286000" cy="762000"/>
            </a:xfrm>
          </p:grpSpPr>
          <p:sp>
            <p:nvSpPr>
              <p:cNvPr id="81" name="Rectangle 81"/>
              <p:cNvSpPr/>
              <p:nvPr/>
            </p:nvSpPr>
            <p:spPr>
              <a:xfrm>
                <a:off x="4914900" y="6267450"/>
                <a:ext cx="2286000" cy="7620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E2E2E2"/>
                </a:solidFill>
              </a:ln>
            </p:spPr>
          </p:sp>
          <p:sp>
            <p:nvSpPr>
              <p:cNvPr id="82" name="TextBox 82"/>
              <p:cNvSpPr txBox="1"/>
              <p:nvPr/>
            </p:nvSpPr>
            <p:spPr>
              <a:xfrm>
                <a:off x="5055870" y="6398895"/>
                <a:ext cx="91668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888888"/>
                    </a:solidFill>
                    <a:latin typeface="Segoe UI"/>
                    <a:ea typeface="Microsoft YaHei"/>
                    <a:cs typeface="Segoe UI"/>
                  </a:rPr>
                  <a:t>MODULE · G-01</a:t>
                </a:r>
              </a:p>
            </p:txBody>
          </p:sp>
          <p:sp>
            <p:nvSpPr>
              <p:cNvPr id="83" name="TextBox 83"/>
              <p:cNvSpPr txBox="1"/>
              <p:nvPr/>
            </p:nvSpPr>
            <p:spPr>
              <a:xfrm>
                <a:off x="5052060" y="6614160"/>
                <a:ext cx="153946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色彩 · 字体 token</a:t>
                </a:r>
              </a:p>
            </p:txBody>
          </p:sp>
          <p:sp>
            <p:nvSpPr>
              <p:cNvPr id="84" name="TextBox 84"/>
              <p:cNvSpPr txBox="1"/>
              <p:nvPr/>
            </p:nvSpPr>
            <p:spPr>
              <a:xfrm>
                <a:off x="5055870" y="6837045"/>
                <a:ext cx="133731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55555"/>
                    </a:solidFill>
                    <a:latin typeface="Segoe UI"/>
                    <a:ea typeface="Microsoft YaHei"/>
                    <a:cs typeface="Segoe UI"/>
                  </a:rPr>
                  <a:t>tokens.css · 61 vars</a:t>
                </a:r>
              </a:p>
            </p:txBody>
          </p:sp>
        </p:grpSp>
        <p:grpSp>
          <p:nvGrpSpPr>
            <p:cNvPr id="90" name="Group 90"/>
            <p:cNvGrpSpPr/>
            <p:nvPr/>
          </p:nvGrpSpPr>
          <p:grpSpPr>
            <a:xfrm>
              <a:off x="7391400" y="6267450"/>
              <a:ext cx="2286000" cy="762000"/>
              <a:chOff x="7391400" y="6267450"/>
              <a:chExt cx="2286000" cy="762000"/>
            </a:xfrm>
          </p:grpSpPr>
          <p:sp>
            <p:nvSpPr>
              <p:cNvPr id="86" name="Rectangle 86"/>
              <p:cNvSpPr/>
              <p:nvPr/>
            </p:nvSpPr>
            <p:spPr>
              <a:xfrm>
                <a:off x="7391400" y="6267450"/>
                <a:ext cx="2286000" cy="7620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E2E2E2"/>
                </a:solidFill>
              </a:ln>
            </p:spPr>
          </p:sp>
          <p:sp>
            <p:nvSpPr>
              <p:cNvPr id="87" name="TextBox 87"/>
              <p:cNvSpPr txBox="1"/>
              <p:nvPr/>
            </p:nvSpPr>
            <p:spPr>
              <a:xfrm>
                <a:off x="7532370" y="6398895"/>
                <a:ext cx="94954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888888"/>
                    </a:solidFill>
                    <a:latin typeface="Segoe UI"/>
                    <a:ea typeface="Microsoft YaHei"/>
                    <a:cs typeface="Segoe UI"/>
                  </a:rPr>
                  <a:t>MODULE · G-02</a:t>
                </a:r>
              </a:p>
            </p:txBody>
          </p:sp>
          <p:sp>
            <p:nvSpPr>
              <p:cNvPr id="88" name="TextBox 88"/>
              <p:cNvSpPr txBox="1"/>
              <p:nvPr/>
            </p:nvSpPr>
            <p:spPr>
              <a:xfrm>
                <a:off x="7528560" y="6614160"/>
                <a:ext cx="76657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禁用清单</a:t>
                </a:r>
              </a:p>
            </p:txBody>
          </p:sp>
          <p:sp>
            <p:nvSpPr>
              <p:cNvPr id="89" name="TextBox 89"/>
              <p:cNvSpPr txBox="1"/>
              <p:nvPr/>
            </p:nvSpPr>
            <p:spPr>
              <a:xfrm>
                <a:off x="7532370" y="6837045"/>
                <a:ext cx="129787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55555"/>
                    </a:solidFill>
                    <a:latin typeface="Segoe UI"/>
                    <a:ea typeface="Microsoft YaHei"/>
                    <a:cs typeface="Segoe UI"/>
                  </a:rPr>
                  <a:t>12 类禁用 · 27 禁用词</a:t>
                </a:r>
              </a:p>
            </p:txBody>
          </p:sp>
        </p:grpSp>
        <p:grpSp>
          <p:nvGrpSpPr>
            <p:cNvPr id="95" name="Group 95"/>
            <p:cNvGrpSpPr/>
            <p:nvPr/>
          </p:nvGrpSpPr>
          <p:grpSpPr>
            <a:xfrm>
              <a:off x="9867900" y="6267450"/>
              <a:ext cx="2286000" cy="762000"/>
              <a:chOff x="9867900" y="6267450"/>
              <a:chExt cx="2286000" cy="762000"/>
            </a:xfrm>
          </p:grpSpPr>
          <p:sp>
            <p:nvSpPr>
              <p:cNvPr id="91" name="Rectangle 91"/>
              <p:cNvSpPr/>
              <p:nvPr/>
            </p:nvSpPr>
            <p:spPr>
              <a:xfrm>
                <a:off x="9867900" y="6267450"/>
                <a:ext cx="2286000" cy="7620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E2E2E2"/>
                </a:solidFill>
              </a:ln>
            </p:spPr>
          </p:sp>
          <p:sp>
            <p:nvSpPr>
              <p:cNvPr id="92" name="TextBox 92"/>
              <p:cNvSpPr txBox="1"/>
              <p:nvPr/>
            </p:nvSpPr>
            <p:spPr>
              <a:xfrm>
                <a:off x="10008870" y="6398895"/>
                <a:ext cx="94954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888888"/>
                    </a:solidFill>
                    <a:latin typeface="Segoe UI"/>
                    <a:ea typeface="Microsoft YaHei"/>
                    <a:cs typeface="Segoe UI"/>
                  </a:rPr>
                  <a:t>MODULE · G-03</a:t>
                </a:r>
              </a:p>
            </p:txBody>
          </p:sp>
          <p:sp>
            <p:nvSpPr>
              <p:cNvPr id="93" name="TextBox 93"/>
              <p:cNvSpPr txBox="1"/>
              <p:nvPr/>
            </p:nvSpPr>
            <p:spPr>
              <a:xfrm>
                <a:off x="10005060" y="6614160"/>
                <a:ext cx="95059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四轨道分流</a:t>
                </a:r>
              </a:p>
            </p:txBody>
          </p:sp>
          <p:sp>
            <p:nvSpPr>
              <p:cNvPr id="94" name="TextBox 94"/>
              <p:cNvSpPr txBox="1"/>
              <p:nvPr/>
            </p:nvSpPr>
            <p:spPr>
              <a:xfrm>
                <a:off x="10008870" y="6837045"/>
                <a:ext cx="206683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55555"/>
                    </a:solidFill>
                    <a:latin typeface="Segoe UI"/>
                    <a:ea typeface="Microsoft YaHei"/>
                    <a:cs typeface="Segoe UI"/>
                  </a:rPr>
                  <a:t>Brand / Proto / Platform / Field</a:t>
                </a:r>
              </a:p>
            </p:txBody>
          </p:sp>
        </p:grpSp>
        <p:grpSp>
          <p:nvGrpSpPr>
            <p:cNvPr id="100" name="Group 100"/>
            <p:cNvGrpSpPr/>
            <p:nvPr/>
          </p:nvGrpSpPr>
          <p:grpSpPr>
            <a:xfrm>
              <a:off x="12344400" y="6267450"/>
              <a:ext cx="2286000" cy="762000"/>
              <a:chOff x="12344400" y="6267450"/>
              <a:chExt cx="2286000" cy="762000"/>
            </a:xfrm>
          </p:grpSpPr>
          <p:sp>
            <p:nvSpPr>
              <p:cNvPr id="96" name="Rectangle 96"/>
              <p:cNvSpPr/>
              <p:nvPr/>
            </p:nvSpPr>
            <p:spPr>
              <a:xfrm>
                <a:off x="12344400" y="6267450"/>
                <a:ext cx="2286000" cy="7620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E2E2E2"/>
                </a:solidFill>
              </a:ln>
            </p:spPr>
          </p:sp>
          <p:sp>
            <p:nvSpPr>
              <p:cNvPr id="97" name="TextBox 97"/>
              <p:cNvSpPr txBox="1"/>
              <p:nvPr/>
            </p:nvSpPr>
            <p:spPr>
              <a:xfrm>
                <a:off x="12485370" y="6398895"/>
                <a:ext cx="94954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888888"/>
                    </a:solidFill>
                    <a:latin typeface="Segoe UI"/>
                    <a:ea typeface="Microsoft YaHei"/>
                    <a:cs typeface="Segoe UI"/>
                  </a:rPr>
                  <a:t>MODULE · G-04</a:t>
                </a:r>
              </a:p>
            </p:txBody>
          </p:sp>
          <p:sp>
            <p:nvSpPr>
              <p:cNvPr id="98" name="TextBox 98"/>
              <p:cNvSpPr txBox="1"/>
              <p:nvPr/>
            </p:nvSpPr>
            <p:spPr>
              <a:xfrm>
                <a:off x="12481560" y="6614160"/>
                <a:ext cx="69296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QC 清单</a:t>
                </a:r>
              </a:p>
            </p:txBody>
          </p:sp>
          <p:sp>
            <p:nvSpPr>
              <p:cNvPr id="99" name="TextBox 99"/>
              <p:cNvSpPr txBox="1"/>
              <p:nvPr/>
            </p:nvSpPr>
            <p:spPr>
              <a:xfrm>
                <a:off x="12485370" y="6837045"/>
                <a:ext cx="112699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55555"/>
                    </a:solidFill>
                    <a:latin typeface="Segoe UI"/>
                    <a:ea typeface="Microsoft YaHei"/>
                    <a:cs typeface="Segoe UI"/>
                  </a:rPr>
                  <a:t>34 项自动扫描规则</a:t>
                </a:r>
              </a:p>
            </p:txBody>
          </p:sp>
        </p:grpSp>
        <p:grpSp>
          <p:nvGrpSpPr>
            <p:cNvPr id="105" name="Group 105"/>
            <p:cNvGrpSpPr/>
            <p:nvPr/>
          </p:nvGrpSpPr>
          <p:grpSpPr>
            <a:xfrm>
              <a:off x="14820900" y="6267450"/>
              <a:ext cx="2286000" cy="762000"/>
              <a:chOff x="14820900" y="6267450"/>
              <a:chExt cx="2286000" cy="762000"/>
            </a:xfrm>
          </p:grpSpPr>
          <p:sp>
            <p:nvSpPr>
              <p:cNvPr id="101" name="Rectangle 101"/>
              <p:cNvSpPr/>
              <p:nvPr/>
            </p:nvSpPr>
            <p:spPr>
              <a:xfrm>
                <a:off x="14820900" y="6267450"/>
                <a:ext cx="2286000" cy="7620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E2E2E2"/>
                </a:solidFill>
              </a:ln>
            </p:spPr>
          </p:sp>
          <p:sp>
            <p:nvSpPr>
              <p:cNvPr id="102" name="TextBox 102"/>
              <p:cNvSpPr txBox="1"/>
              <p:nvPr/>
            </p:nvSpPr>
            <p:spPr>
              <a:xfrm>
                <a:off x="14961870" y="6398895"/>
                <a:ext cx="94954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888888"/>
                    </a:solidFill>
                    <a:latin typeface="Segoe UI"/>
                    <a:ea typeface="Microsoft YaHei"/>
                    <a:cs typeface="Segoe UI"/>
                  </a:rPr>
                  <a:t>MODULE · G-05</a:t>
                </a:r>
              </a:p>
            </p:txBody>
          </p:sp>
          <p:sp>
            <p:nvSpPr>
              <p:cNvPr id="103" name="TextBox 103"/>
              <p:cNvSpPr txBox="1"/>
              <p:nvPr/>
            </p:nvSpPr>
            <p:spPr>
              <a:xfrm>
                <a:off x="14958060" y="6614160"/>
                <a:ext cx="58254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版式库</a:t>
                </a:r>
              </a:p>
            </p:txBody>
          </p:sp>
          <p:sp>
            <p:nvSpPr>
              <p:cNvPr id="104" name="TextBox 104"/>
              <p:cNvSpPr txBox="1"/>
              <p:nvPr/>
            </p:nvSpPr>
            <p:spPr>
              <a:xfrm>
                <a:off x="14961870" y="6837045"/>
                <a:ext cx="79181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55555"/>
                    </a:solidFill>
                    <a:latin typeface="Segoe UI"/>
                    <a:ea typeface="Microsoft YaHei"/>
                    <a:cs typeface="Segoe UI"/>
                  </a:rPr>
                  <a:t>7 类 × 3 变体</a:t>
                </a:r>
              </a:p>
            </p:txBody>
          </p:sp>
        </p:grpSp>
      </p:grpSp>
      <p:grpSp>
        <p:nvGrpSpPr>
          <p:cNvPr id="109" name="Group 109"/>
          <p:cNvGrpSpPr/>
          <p:nvPr/>
        </p:nvGrpSpPr>
        <p:grpSpPr>
          <a:xfrm>
            <a:off x="9096375" y="7239000"/>
            <a:ext cx="95250" cy="228600"/>
            <a:chOff x="9096375" y="7239000"/>
            <a:chExt cx="95250" cy="228600"/>
          </a:xfrm>
        </p:grpSpPr>
        <p:sp>
          <p:nvSpPr>
            <p:cNvPr id="107" name="Freeform 107"/>
            <p:cNvSpPr/>
            <p:nvPr/>
          </p:nvSpPr>
          <p:spPr>
            <a:xfrm>
              <a:off x="9144000" y="723900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14288">
              <a:solidFill>
                <a:srgbClr val="1677FF"/>
              </a:solidFill>
            </a:ln>
          </p:spPr>
        </p:sp>
        <p:sp>
          <p:nvSpPr>
            <p:cNvPr id="108" name="Freeform 108"/>
            <p:cNvSpPr/>
            <p:nvPr/>
          </p:nvSpPr>
          <p:spPr>
            <a:xfrm>
              <a:off x="9096375" y="7391400"/>
              <a:ext cx="95250" cy="76200"/>
            </a:xfrm>
            <a:custGeom>
              <a:avLst/>
              <a:gdLst/>
              <a:ahLst/>
              <a:cxnLst/>
              <a:rect l="l" t="t" r="r" b="b"/>
              <a:pathLst>
                <a:path w="95250" h="76200">
                  <a:moveTo>
                    <a:pt x="0" y="0"/>
                  </a:moveTo>
                  <a:lnTo>
                    <a:pt x="47625" y="76200"/>
                  </a:lnTo>
                  <a:lnTo>
                    <a:pt x="95250" y="0"/>
                  </a:lnTo>
                </a:path>
              </a:pathLst>
            </a:custGeom>
            <a:noFill/>
            <a:ln w="14288">
              <a:solidFill>
                <a:srgbClr val="1677FF"/>
              </a:solidFill>
            </a:ln>
          </p:spPr>
        </p:sp>
      </p:grpSp>
      <p:grpSp>
        <p:nvGrpSpPr>
          <p:cNvPr id="140" name="Group 140"/>
          <p:cNvGrpSpPr/>
          <p:nvPr/>
        </p:nvGrpSpPr>
        <p:grpSpPr>
          <a:xfrm>
            <a:off x="914400" y="7524750"/>
            <a:ext cx="16459200" cy="1238250"/>
            <a:chOff x="914400" y="7524750"/>
            <a:chExt cx="16459200" cy="1238250"/>
          </a:xfrm>
        </p:grpSpPr>
        <p:sp>
          <p:nvSpPr>
            <p:cNvPr id="110" name="Rectangle 110"/>
            <p:cNvSpPr/>
            <p:nvPr/>
          </p:nvSpPr>
          <p:spPr>
            <a:xfrm>
              <a:off x="914400" y="7524750"/>
              <a:ext cx="16459200" cy="1238250"/>
            </a:xfrm>
            <a:prstGeom prst="rect">
              <a:avLst/>
            </a:prstGeom>
            <a:solidFill>
              <a:srgbClr val="FAFAFA"/>
            </a:solidFill>
            <a:ln w="9525">
              <a:solidFill>
                <a:srgbClr val="E2E2E2"/>
              </a:solidFill>
            </a:ln>
          </p:spPr>
        </p:sp>
        <p:sp>
          <p:nvSpPr>
            <p:cNvPr id="111" name="Rectangle 111"/>
            <p:cNvSpPr/>
            <p:nvPr/>
          </p:nvSpPr>
          <p:spPr>
            <a:xfrm>
              <a:off x="914400" y="7524750"/>
              <a:ext cx="57150" cy="1238250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</p:sp>
        <p:sp>
          <p:nvSpPr>
            <p:cNvPr id="112" name="TextBox 112"/>
            <p:cNvSpPr txBox="1"/>
            <p:nvPr/>
          </p:nvSpPr>
          <p:spPr>
            <a:xfrm>
              <a:off x="1129665" y="7697152"/>
              <a:ext cx="147585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888888"/>
                  </a:solidFill>
                  <a:latin typeface="Segoe UI"/>
                  <a:ea typeface="Microsoft YaHei"/>
                  <a:cs typeface="Segoe UI"/>
                </a:rPr>
                <a:t>LAYER 04 · DELIVERY</a:t>
              </a:r>
            </a:p>
          </p:txBody>
        </p:sp>
        <p:sp>
          <p:nvSpPr>
            <p:cNvPr id="113" name="TextBox 113"/>
            <p:cNvSpPr txBox="1"/>
            <p:nvPr/>
          </p:nvSpPr>
          <p:spPr>
            <a:xfrm>
              <a:off x="1122045" y="7899082"/>
              <a:ext cx="37741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交付层 · SVG → 原生 PPTX 工具链</a:t>
              </a:r>
            </a:p>
          </p:txBody>
        </p:sp>
        <p:sp>
          <p:nvSpPr>
            <p:cNvPr id="114" name="TextBox 114"/>
            <p:cNvSpPr txBox="1"/>
            <p:nvPr/>
          </p:nvSpPr>
          <p:spPr>
            <a:xfrm>
              <a:off x="1129665" y="8192452"/>
              <a:ext cx="545534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55555"/>
                  </a:solidFill>
                  <a:latin typeface="Segoe UI"/>
                  <a:ea typeface="Microsoft YaHei"/>
                  <a:cs typeface="Segoe UI"/>
                </a:rPr>
                <a:t>基于 ppt-master 开源库 · 每个 SVG 元素 1:1 映射为 PPT 原生 DrawingML 对象</a:t>
              </a:r>
            </a:p>
          </p:txBody>
        </p:sp>
        <p:grpSp>
          <p:nvGrpSpPr>
            <p:cNvPr id="119" name="Group 119"/>
            <p:cNvGrpSpPr/>
            <p:nvPr/>
          </p:nvGrpSpPr>
          <p:grpSpPr>
            <a:xfrm>
              <a:off x="4914900" y="7791450"/>
              <a:ext cx="2286000" cy="762000"/>
              <a:chOff x="4914900" y="7791450"/>
              <a:chExt cx="2286000" cy="762000"/>
            </a:xfrm>
          </p:grpSpPr>
          <p:sp>
            <p:nvSpPr>
              <p:cNvPr id="115" name="Rectangle 115"/>
              <p:cNvSpPr/>
              <p:nvPr/>
            </p:nvSpPr>
            <p:spPr>
              <a:xfrm>
                <a:off x="4914900" y="7791450"/>
                <a:ext cx="2286000" cy="7620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E2E2E2"/>
                </a:solidFill>
              </a:ln>
            </p:spPr>
          </p:sp>
          <p:sp>
            <p:nvSpPr>
              <p:cNvPr id="116" name="TextBox 116"/>
              <p:cNvSpPr txBox="1"/>
              <p:nvPr/>
            </p:nvSpPr>
            <p:spPr>
              <a:xfrm>
                <a:off x="5055870" y="7922895"/>
                <a:ext cx="91668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888888"/>
                    </a:solidFill>
                    <a:latin typeface="Segoe UI"/>
                    <a:ea typeface="Microsoft YaHei"/>
                    <a:cs typeface="Segoe UI"/>
                  </a:rPr>
                  <a:t>MODULE · D-01</a:t>
                </a:r>
              </a:p>
            </p:txBody>
          </p:sp>
          <p:sp>
            <p:nvSpPr>
              <p:cNvPr id="117" name="TextBox 117"/>
              <p:cNvSpPr txBox="1"/>
              <p:nvPr/>
            </p:nvSpPr>
            <p:spPr>
              <a:xfrm>
                <a:off x="5052060" y="8138160"/>
                <a:ext cx="94139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SVG 生成器</a:t>
                </a:r>
              </a:p>
            </p:txBody>
          </p:sp>
          <p:sp>
            <p:nvSpPr>
              <p:cNvPr id="118" name="TextBox 118"/>
              <p:cNvSpPr txBox="1"/>
              <p:nvPr/>
            </p:nvSpPr>
            <p:spPr>
              <a:xfrm>
                <a:off x="5055870" y="8361045"/>
                <a:ext cx="96269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55555"/>
                    </a:solidFill>
                    <a:latin typeface="Segoe UI"/>
                    <a:ea typeface="Microsoft YaHei"/>
                    <a:cs typeface="Segoe UI"/>
                  </a:rPr>
                  <a:t>skeleton × 7 种</a:t>
                </a:r>
              </a:p>
            </p:txBody>
          </p:sp>
        </p:grpSp>
        <p:grpSp>
          <p:nvGrpSpPr>
            <p:cNvPr id="124" name="Group 124"/>
            <p:cNvGrpSpPr/>
            <p:nvPr/>
          </p:nvGrpSpPr>
          <p:grpSpPr>
            <a:xfrm>
              <a:off x="7391400" y="7791450"/>
              <a:ext cx="2286000" cy="762000"/>
              <a:chOff x="7391400" y="7791450"/>
              <a:chExt cx="2286000" cy="762000"/>
            </a:xfrm>
          </p:grpSpPr>
          <p:sp>
            <p:nvSpPr>
              <p:cNvPr id="120" name="Rectangle 120"/>
              <p:cNvSpPr/>
              <p:nvPr/>
            </p:nvSpPr>
            <p:spPr>
              <a:xfrm>
                <a:off x="7391400" y="7791450"/>
                <a:ext cx="2286000" cy="7620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E2E2E2"/>
                </a:solidFill>
              </a:ln>
            </p:spPr>
          </p:sp>
          <p:sp>
            <p:nvSpPr>
              <p:cNvPr id="121" name="TextBox 121"/>
              <p:cNvSpPr txBox="1"/>
              <p:nvPr/>
            </p:nvSpPr>
            <p:spPr>
              <a:xfrm>
                <a:off x="7532370" y="7922895"/>
                <a:ext cx="94954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888888"/>
                    </a:solidFill>
                    <a:latin typeface="Segoe UI"/>
                    <a:ea typeface="Microsoft YaHei"/>
                    <a:cs typeface="Segoe UI"/>
                  </a:rPr>
                  <a:t>MODULE · D-02</a:t>
                </a:r>
              </a:p>
            </p:txBody>
          </p:sp>
          <p:sp>
            <p:nvSpPr>
              <p:cNvPr id="122" name="TextBox 122"/>
              <p:cNvSpPr txBox="1"/>
              <p:nvPr/>
            </p:nvSpPr>
            <p:spPr>
              <a:xfrm>
                <a:off x="7528560" y="8138160"/>
                <a:ext cx="157627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DrawingML 转换器</a:t>
                </a:r>
              </a:p>
            </p:txBody>
          </p:sp>
          <p:sp>
            <p:nvSpPr>
              <p:cNvPr id="123" name="TextBox 123"/>
              <p:cNvSpPr txBox="1"/>
              <p:nvPr/>
            </p:nvSpPr>
            <p:spPr>
              <a:xfrm>
                <a:off x="7532370" y="8361045"/>
                <a:ext cx="89039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55555"/>
                    </a:solidFill>
                    <a:latin typeface="Segoe UI"/>
                    <a:ea typeface="Microsoft YaHei"/>
                    <a:cs typeface="Segoe UI"/>
                  </a:rPr>
                  <a:t>svg_to_pptx/</a:t>
                </a:r>
              </a:p>
            </p:txBody>
          </p:sp>
        </p:grpSp>
        <p:grpSp>
          <p:nvGrpSpPr>
            <p:cNvPr id="129" name="Group 129"/>
            <p:cNvGrpSpPr/>
            <p:nvPr/>
          </p:nvGrpSpPr>
          <p:grpSpPr>
            <a:xfrm>
              <a:off x="9867900" y="7791450"/>
              <a:ext cx="2286000" cy="762000"/>
              <a:chOff x="9867900" y="7791450"/>
              <a:chExt cx="2286000" cy="762000"/>
            </a:xfrm>
          </p:grpSpPr>
          <p:sp>
            <p:nvSpPr>
              <p:cNvPr id="125" name="Rectangle 125"/>
              <p:cNvSpPr/>
              <p:nvPr/>
            </p:nvSpPr>
            <p:spPr>
              <a:xfrm>
                <a:off x="9867900" y="7791450"/>
                <a:ext cx="2286000" cy="7620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E2E2E2"/>
                </a:solidFill>
              </a:ln>
            </p:spPr>
          </p:sp>
          <p:sp>
            <p:nvSpPr>
              <p:cNvPr id="126" name="TextBox 126"/>
              <p:cNvSpPr txBox="1"/>
              <p:nvPr/>
            </p:nvSpPr>
            <p:spPr>
              <a:xfrm>
                <a:off x="10008870" y="7922895"/>
                <a:ext cx="94954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888888"/>
                    </a:solidFill>
                    <a:latin typeface="Segoe UI"/>
                    <a:ea typeface="Microsoft YaHei"/>
                    <a:cs typeface="Segoe UI"/>
                  </a:rPr>
                  <a:t>MODULE · D-03</a:t>
                </a:r>
              </a:p>
            </p:txBody>
          </p:sp>
          <p:sp>
            <p:nvSpPr>
              <p:cNvPr id="127" name="TextBox 127"/>
              <p:cNvSpPr txBox="1"/>
              <p:nvPr/>
            </p:nvSpPr>
            <p:spPr>
              <a:xfrm>
                <a:off x="10005060" y="8138160"/>
                <a:ext cx="85858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PPTX 打包</a:t>
                </a:r>
              </a:p>
            </p:txBody>
          </p:sp>
          <p:sp>
            <p:nvSpPr>
              <p:cNvPr id="128" name="TextBox 128"/>
              <p:cNvSpPr txBox="1"/>
              <p:nvPr/>
            </p:nvSpPr>
            <p:spPr>
              <a:xfrm>
                <a:off x="10008870" y="8361045"/>
                <a:ext cx="81810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55555"/>
                    </a:solidFill>
                    <a:latin typeface="Segoe UI"/>
                    <a:ea typeface="Microsoft YaHei"/>
                    <a:cs typeface="Segoe UI"/>
                  </a:rPr>
                  <a:t>python-pptx</a:t>
                </a:r>
              </a:p>
            </p:txBody>
          </p:sp>
        </p:grpSp>
        <p:grpSp>
          <p:nvGrpSpPr>
            <p:cNvPr id="134" name="Group 134"/>
            <p:cNvGrpSpPr/>
            <p:nvPr/>
          </p:nvGrpSpPr>
          <p:grpSpPr>
            <a:xfrm>
              <a:off x="12344400" y="7791450"/>
              <a:ext cx="2286000" cy="762000"/>
              <a:chOff x="12344400" y="7791450"/>
              <a:chExt cx="2286000" cy="762000"/>
            </a:xfrm>
          </p:grpSpPr>
          <p:sp>
            <p:nvSpPr>
              <p:cNvPr id="130" name="Rectangle 130"/>
              <p:cNvSpPr/>
              <p:nvPr/>
            </p:nvSpPr>
            <p:spPr>
              <a:xfrm>
                <a:off x="12344400" y="7791450"/>
                <a:ext cx="2286000" cy="76200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E2E2E2"/>
                </a:solidFill>
              </a:ln>
            </p:spPr>
          </p:sp>
          <p:sp>
            <p:nvSpPr>
              <p:cNvPr id="131" name="TextBox 131"/>
              <p:cNvSpPr txBox="1"/>
              <p:nvPr/>
            </p:nvSpPr>
            <p:spPr>
              <a:xfrm>
                <a:off x="12485370" y="7922895"/>
                <a:ext cx="94954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888888"/>
                    </a:solidFill>
                    <a:latin typeface="Segoe UI"/>
                    <a:ea typeface="Microsoft YaHei"/>
                    <a:cs typeface="Segoe UI"/>
                  </a:rPr>
                  <a:t>MODULE · D-04</a:t>
                </a:r>
              </a:p>
            </p:txBody>
          </p:sp>
          <p:sp>
            <p:nvSpPr>
              <p:cNvPr id="132" name="TextBox 132"/>
              <p:cNvSpPr txBox="1"/>
              <p:nvPr/>
            </p:nvSpPr>
            <p:spPr>
              <a:xfrm>
                <a:off x="12481560" y="8138160"/>
                <a:ext cx="95059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多格式扩展</a:t>
                </a:r>
              </a:p>
            </p:txBody>
          </p:sp>
          <p:sp>
            <p:nvSpPr>
              <p:cNvPr id="133" name="TextBox 133"/>
              <p:cNvSpPr txBox="1"/>
              <p:nvPr/>
            </p:nvSpPr>
            <p:spPr>
              <a:xfrm>
                <a:off x="12485370" y="8361045"/>
                <a:ext cx="135045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55555"/>
                    </a:solidFill>
                    <a:latin typeface="Segoe UI"/>
                    <a:ea typeface="Microsoft YaHei"/>
                    <a:cs typeface="Segoe UI"/>
                  </a:rPr>
                  <a:t>Keynote / Slides 预留</a:t>
                </a:r>
              </a:p>
            </p:txBody>
          </p:sp>
        </p:grpSp>
        <p:grpSp>
          <p:nvGrpSpPr>
            <p:cNvPr id="139" name="Group 139"/>
            <p:cNvGrpSpPr/>
            <p:nvPr/>
          </p:nvGrpSpPr>
          <p:grpSpPr>
            <a:xfrm>
              <a:off x="14820900" y="7791450"/>
              <a:ext cx="2286000" cy="762000"/>
              <a:chOff x="14820900" y="7791450"/>
              <a:chExt cx="2286000" cy="762000"/>
            </a:xfrm>
          </p:grpSpPr>
          <p:sp>
            <p:nvSpPr>
              <p:cNvPr id="135" name="Rectangle 135"/>
              <p:cNvSpPr/>
              <p:nvPr/>
            </p:nvSpPr>
            <p:spPr>
              <a:xfrm>
                <a:off x="14820900" y="7791450"/>
                <a:ext cx="2286000" cy="762000"/>
              </a:xfrm>
              <a:prstGeom prst="rect">
                <a:avLst/>
              </a:prstGeom>
              <a:solidFill>
                <a:srgbClr val="1677FF"/>
              </a:solidFill>
              <a:ln>
                <a:noFill/>
              </a:ln>
            </p:spPr>
          </p:sp>
          <p:sp>
            <p:nvSpPr>
              <p:cNvPr id="136" name="TextBox 136"/>
              <p:cNvSpPr txBox="1"/>
              <p:nvPr/>
            </p:nvSpPr>
            <p:spPr>
              <a:xfrm>
                <a:off x="14961870" y="7922895"/>
                <a:ext cx="48291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OUTPUT</a:t>
                </a:r>
              </a:p>
            </p:txBody>
          </p:sp>
          <p:sp>
            <p:nvSpPr>
              <p:cNvPr id="137" name="TextBox 137"/>
              <p:cNvSpPr txBox="1"/>
              <p:nvPr/>
            </p:nvSpPr>
            <p:spPr>
              <a:xfrm>
                <a:off x="14958060" y="8138160"/>
                <a:ext cx="95059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最终交付物</a:t>
                </a:r>
              </a:p>
            </p:txBody>
          </p:sp>
          <p:sp>
            <p:nvSpPr>
              <p:cNvPr id="138" name="TextBox 138"/>
              <p:cNvSpPr txBox="1"/>
              <p:nvPr/>
            </p:nvSpPr>
            <p:spPr>
              <a:xfrm>
                <a:off x="14961870" y="8361045"/>
                <a:ext cx="92983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.pptx · 可编辑</a:t>
                </a:r>
              </a:p>
            </p:txBody>
          </p:sp>
        </p:grpSp>
      </p:grpSp>
      <p:sp>
        <p:nvSpPr>
          <p:cNvPr id="141" name="Line 141"/>
          <p:cNvSpPr/>
          <p:nvPr/>
        </p:nvSpPr>
        <p:spPr>
          <a:xfrm>
            <a:off x="914400" y="9239250"/>
            <a:ext cx="16459200" cy="9525"/>
          </a:xfrm>
          <a:custGeom>
            <a:avLst/>
            <a:gdLst/>
            <a:ahLst/>
            <a:cxnLst/>
            <a:rect l="l" t="t" r="r" b="b"/>
            <a:pathLst>
              <a:path w="16459200" h="9525">
                <a:moveTo>
                  <a:pt x="0" y="0"/>
                </a:moveTo>
                <a:lnTo>
                  <a:pt x="16459200" y="0"/>
                </a:lnTo>
              </a:path>
            </a:pathLst>
          </a:custGeom>
          <a:noFill/>
          <a:ln w="9525">
            <a:solidFill>
              <a:srgbClr val="E2E2E2"/>
            </a:solidFill>
          </a:ln>
        </p:spPr>
      </p:sp>
      <p:sp>
        <p:nvSpPr>
          <p:cNvPr id="142" name="TextBox 142"/>
          <p:cNvSpPr txBox="1"/>
          <p:nvPr/>
        </p:nvSpPr>
        <p:spPr>
          <a:xfrm>
            <a:off x="901065" y="9316402"/>
            <a:ext cx="31243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AHAM · Internal Evaluation · CONFIDENTIAL</a:t>
            </a:r>
          </a:p>
        </p:txBody>
      </p:sp>
      <p:sp>
        <p:nvSpPr>
          <p:cNvPr id="143" name="TextBox 143"/>
          <p:cNvSpPr txBox="1"/>
          <p:nvPr/>
        </p:nvSpPr>
        <p:spPr>
          <a:xfrm>
            <a:off x="16884872" y="9316402"/>
            <a:ext cx="5020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901065" y="458152"/>
            <a:ext cx="1445181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09 · 端到端交付流程</a:t>
            </a:r>
          </a:p>
        </p:txBody>
      </p:sp>
      <p:sp>
        <p:nvSpPr>
          <p:cNvPr id="4" name="Line 4"/>
          <p:cNvSpPr/>
          <p:nvPr/>
        </p:nvSpPr>
        <p:spPr>
          <a:xfrm>
            <a:off x="914400" y="723900"/>
            <a:ext cx="16459200" cy="9525"/>
          </a:xfrm>
          <a:custGeom>
            <a:avLst/>
            <a:gdLst/>
            <a:ahLst/>
            <a:cxnLst/>
            <a:rect l="l" t="t" r="r" b="b"/>
            <a:pathLst>
              <a:path w="16459200" h="9525">
                <a:moveTo>
                  <a:pt x="0" y="0"/>
                </a:moveTo>
                <a:lnTo>
                  <a:pt x="16459200" y="0"/>
                </a:lnTo>
              </a:path>
            </a:pathLst>
          </a:custGeom>
          <a:noFill/>
          <a:ln w="9525">
            <a:solidFill>
              <a:srgbClr val="E2E2E2"/>
            </a:solidFill>
          </a:ln>
        </p:spPr>
      </p:sp>
      <p:sp>
        <p:nvSpPr>
          <p:cNvPr id="5" name="Line 5"/>
          <p:cNvSpPr/>
          <p:nvPr/>
        </p:nvSpPr>
        <p:spPr>
          <a:xfrm>
            <a:off x="914400" y="1238250"/>
            <a:ext cx="9525" cy="666750"/>
          </a:xfrm>
          <a:custGeom>
            <a:avLst/>
            <a:gdLst/>
            <a:ahLst/>
            <a:cxnLst/>
            <a:rect l="l" t="t" r="r" b="b"/>
            <a:pathLst>
              <a:path w="9525" h="666750">
                <a:moveTo>
                  <a:pt x="0" y="0"/>
                </a:moveTo>
                <a:lnTo>
                  <a:pt x="0" y="666750"/>
                </a:lnTo>
              </a:path>
            </a:pathLst>
          </a:custGeom>
          <a:noFill/>
          <a:ln w="57150">
            <a:solidFill>
              <a:srgbClr val="1677FF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1223010" y="1346835"/>
            <a:ext cx="1574043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从客户提出需求到最终交付,Aham 将 12 个环节压缩为顾问可专注内容的 3 次关键决策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40155" y="1854518"/>
            <a:ext cx="6550676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——泳道划分:客户 · 咨询顾问 · Aham 系统;◆ 表示顾问需做关键决策的节点</a:t>
            </a:r>
          </a:p>
        </p:txBody>
      </p:sp>
      <p:grpSp>
        <p:nvGrpSpPr>
          <p:cNvPr id="112" name="Group 112"/>
          <p:cNvGrpSpPr/>
          <p:nvPr/>
        </p:nvGrpSpPr>
        <p:grpSpPr>
          <a:xfrm>
            <a:off x="914400" y="2762250"/>
            <a:ext cx="16459200" cy="5429250"/>
            <a:chOff x="914400" y="2762250"/>
            <a:chExt cx="16459200" cy="5429250"/>
          </a:xfrm>
        </p:grpSpPr>
        <p:sp>
          <p:nvSpPr>
            <p:cNvPr id="8" name="Rectangle 8"/>
            <p:cNvSpPr/>
            <p:nvPr/>
          </p:nvSpPr>
          <p:spPr>
            <a:xfrm>
              <a:off x="914400" y="2762250"/>
              <a:ext cx="1333500" cy="5429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914400" y="2762250"/>
              <a:ext cx="1333500" cy="114300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10950" y="3172778"/>
              <a:ext cx="54040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LANE 01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253466" y="3378518"/>
              <a:ext cx="65536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客户方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914400" y="3905250"/>
              <a:ext cx="1333500" cy="2667000"/>
            </a:xfrm>
            <a:prstGeom prst="rect">
              <a:avLst/>
            </a:prstGeom>
            <a:solidFill>
              <a:srgbClr val="1677FF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1291780" y="4315778"/>
              <a:ext cx="57873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LANE 02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49953" y="4521518"/>
              <a:ext cx="86239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咨询顾问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95102" y="4874895"/>
              <a:ext cx="772096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Aham 使用者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914400" y="6572250"/>
              <a:ext cx="1333500" cy="1619250"/>
            </a:xfrm>
            <a:prstGeom prst="rect">
              <a:avLst/>
            </a:prstGeom>
            <a:solidFill>
              <a:srgbClr val="555555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291780" y="6982778"/>
              <a:ext cx="57873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LANE 03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77494" y="7188518"/>
              <a:ext cx="100731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Aham 系统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2247900" y="2762250"/>
              <a:ext cx="15125700" cy="11430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2E2E2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2247900" y="3905250"/>
              <a:ext cx="15125700" cy="2667000"/>
            </a:xfrm>
            <a:prstGeom prst="rect">
              <a:avLst/>
            </a:prstGeom>
            <a:solidFill>
              <a:srgbClr val="FAFAFA"/>
            </a:solidFill>
            <a:ln w="9525">
              <a:solidFill>
                <a:srgbClr val="E2E2E2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2247900" y="6572250"/>
              <a:ext cx="15125700" cy="16192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E2E2E2"/>
              </a:solidFill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2617470" y="3105150"/>
              <a:ext cx="594360" cy="797719"/>
              <a:chOff x="2617470" y="3105150"/>
              <a:chExt cx="594360" cy="797719"/>
            </a:xfrm>
          </p:grpSpPr>
          <p:sp>
            <p:nvSpPr>
              <p:cNvPr id="22" name="Ellipse 22"/>
              <p:cNvSpPr/>
              <p:nvPr/>
            </p:nvSpPr>
            <p:spPr>
              <a:xfrm>
                <a:off x="2686050" y="3105150"/>
                <a:ext cx="457200" cy="457200"/>
              </a:xfrm>
              <a:prstGeom prst="ellipse">
                <a:avLst/>
              </a:prstGeom>
              <a:solidFill>
                <a:srgbClr val="1A1A1A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2696679" y="3276124"/>
                <a:ext cx="43594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START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2617470" y="3704749"/>
                <a:ext cx="59436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客户提需</a:t>
                </a:r>
              </a:p>
            </p:txBody>
          </p:sp>
        </p:grpSp>
        <p:sp>
          <p:nvSpPr>
            <p:cNvPr id="26" name="Line 26"/>
            <p:cNvSpPr/>
            <p:nvPr/>
          </p:nvSpPr>
          <p:spPr>
            <a:xfrm>
              <a:off x="2914650" y="3562350"/>
              <a:ext cx="9525" cy="723900"/>
            </a:xfrm>
            <a:custGeom>
              <a:avLst/>
              <a:gdLst/>
              <a:ahLst/>
              <a:cxnLst/>
              <a:rect l="l" t="t" r="r" b="b"/>
              <a:pathLst>
                <a:path w="9525" h="723900">
                  <a:moveTo>
                    <a:pt x="0" y="0"/>
                  </a:moveTo>
                  <a:lnTo>
                    <a:pt x="0" y="723900"/>
                  </a:lnTo>
                </a:path>
              </a:pathLst>
            </a:custGeom>
            <a:noFill/>
            <a:ln w="14288">
              <a:solidFill>
                <a:srgbClr val="1A1A1A"/>
              </a:solidFill>
            </a:ln>
          </p:spPr>
        </p:sp>
        <p:sp>
          <p:nvSpPr>
            <p:cNvPr id="27" name="Freeform 27"/>
            <p:cNvSpPr/>
            <p:nvPr/>
          </p:nvSpPr>
          <p:spPr>
            <a:xfrm>
              <a:off x="2857500" y="4229100"/>
              <a:ext cx="114300" cy="76200"/>
            </a:xfrm>
            <a:custGeom>
              <a:avLst/>
              <a:gdLst/>
              <a:ahLst/>
              <a:cxnLst/>
              <a:rect l="l" t="t" r="r" b="b"/>
              <a:pathLst>
                <a:path w="114300" h="76200">
                  <a:moveTo>
                    <a:pt x="0" y="0"/>
                  </a:moveTo>
                  <a:lnTo>
                    <a:pt x="57150" y="76200"/>
                  </a:lnTo>
                  <a:lnTo>
                    <a:pt x="114300" y="0"/>
                  </a:lnTo>
                </a:path>
              </a:pathLst>
            </a:custGeom>
            <a:noFill/>
            <a:ln w="14288">
              <a:solidFill>
                <a:srgbClr val="1A1A1A"/>
              </a:solidFill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2533650" y="4429125"/>
              <a:ext cx="1524000" cy="676275"/>
              <a:chOff x="2533650" y="4429125"/>
              <a:chExt cx="1524000" cy="676275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2533650" y="4429125"/>
                <a:ext cx="1524000" cy="666750"/>
              </a:xfrm>
              <a:prstGeom prst="rect">
                <a:avLst/>
              </a:prstGeom>
              <a:solidFill>
                <a:srgbClr val="FFFFFF"/>
              </a:solidFill>
              <a:ln w="14288">
                <a:solidFill>
                  <a:srgbClr val="1677FF"/>
                </a:solidFill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3083350" y="4578191"/>
                <a:ext cx="424601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888888"/>
                    </a:solidFill>
                    <a:latin typeface="Segoe UI"/>
                    <a:ea typeface="Microsoft YaHei"/>
                    <a:cs typeface="Segoe UI"/>
                  </a:rPr>
                  <a:t>STEP 01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2960275" y="4744402"/>
                <a:ext cx="67075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澄清受众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2673001" y="4922520"/>
                <a:ext cx="124529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55555"/>
                    </a:solidFill>
                    <a:latin typeface="Segoe UI"/>
                    <a:ea typeface="Microsoft YaHei"/>
                    <a:cs typeface="Segoe UI"/>
                  </a:rPr>
                  <a:t>高管 / 团队 / 投资人</a:t>
                </a:r>
              </a:p>
            </p:txBody>
          </p:sp>
        </p:grpSp>
        <p:sp>
          <p:nvSpPr>
            <p:cNvPr id="33" name="Line 33"/>
            <p:cNvSpPr/>
            <p:nvPr/>
          </p:nvSpPr>
          <p:spPr>
            <a:xfrm>
              <a:off x="4057650" y="4762500"/>
              <a:ext cx="285750" cy="9525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4288">
              <a:solidFill>
                <a:srgbClr val="1677FF"/>
              </a:solidFill>
            </a:ln>
          </p:spPr>
        </p:sp>
        <p:sp>
          <p:nvSpPr>
            <p:cNvPr id="34" name="Freeform 34"/>
            <p:cNvSpPr/>
            <p:nvPr/>
          </p:nvSpPr>
          <p:spPr>
            <a:xfrm>
              <a:off x="4286250" y="4705350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0" y="0"/>
                  </a:moveTo>
                  <a:lnTo>
                    <a:pt x="76200" y="57150"/>
                  </a:lnTo>
                  <a:lnTo>
                    <a:pt x="0" y="114300"/>
                  </a:lnTo>
                </a:path>
              </a:pathLst>
            </a:custGeom>
            <a:noFill/>
            <a:ln w="14288">
              <a:solidFill>
                <a:srgbClr val="1677FF"/>
              </a:solidFill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4343400" y="4429125"/>
              <a:ext cx="1524000" cy="676275"/>
              <a:chOff x="4343400" y="4429125"/>
              <a:chExt cx="1524000" cy="676275"/>
            </a:xfrm>
          </p:grpSpPr>
          <p:sp>
            <p:nvSpPr>
              <p:cNvPr id="35" name="Rectangle 35"/>
              <p:cNvSpPr/>
              <p:nvPr/>
            </p:nvSpPr>
            <p:spPr>
              <a:xfrm>
                <a:off x="4343400" y="4429125"/>
                <a:ext cx="1524000" cy="666750"/>
              </a:xfrm>
              <a:prstGeom prst="rect">
                <a:avLst/>
              </a:prstGeom>
              <a:solidFill>
                <a:srgbClr val="FFFFFF"/>
              </a:solidFill>
              <a:ln w="14288">
                <a:solidFill>
                  <a:srgbClr val="1677FF"/>
                </a:solidFill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4878038" y="4578191"/>
                <a:ext cx="454724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888888"/>
                    </a:solidFill>
                    <a:latin typeface="Segoe UI"/>
                    <a:ea typeface="Microsoft YaHei"/>
                    <a:cs typeface="Segoe UI"/>
                  </a:rPr>
                  <a:t>STEP 02</a:t>
                </a: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4770025" y="4744402"/>
                <a:ext cx="67075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整理素材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4548473" y="4922520"/>
                <a:ext cx="111385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55555"/>
                    </a:solidFill>
                    <a:latin typeface="Segoe UI"/>
                    <a:ea typeface="Microsoft YaHei"/>
                    <a:cs typeface="Segoe UI"/>
                  </a:rPr>
                  <a:t>调研 / 纪要 / 数据</a:t>
                </a:r>
              </a:p>
            </p:txBody>
          </p:sp>
        </p:grpSp>
        <p:sp>
          <p:nvSpPr>
            <p:cNvPr id="40" name="Line 40"/>
            <p:cNvSpPr/>
            <p:nvPr/>
          </p:nvSpPr>
          <p:spPr>
            <a:xfrm>
              <a:off x="5105400" y="5095875"/>
              <a:ext cx="9525" cy="1666875"/>
            </a:xfrm>
            <a:custGeom>
              <a:avLst/>
              <a:gdLst/>
              <a:ahLst/>
              <a:cxnLst/>
              <a:rect l="l" t="t" r="r" b="b"/>
              <a:pathLst>
                <a:path w="9525" h="1666875">
                  <a:moveTo>
                    <a:pt x="0" y="0"/>
                  </a:moveTo>
                  <a:lnTo>
                    <a:pt x="0" y="1666875"/>
                  </a:lnTo>
                </a:path>
              </a:pathLst>
            </a:custGeom>
            <a:noFill/>
            <a:ln w="14288">
              <a:solidFill>
                <a:srgbClr val="555555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5048250" y="6705600"/>
              <a:ext cx="114300" cy="76200"/>
            </a:xfrm>
            <a:custGeom>
              <a:avLst/>
              <a:gdLst/>
              <a:ahLst/>
              <a:cxnLst/>
              <a:rect l="l" t="t" r="r" b="b"/>
              <a:pathLst>
                <a:path w="114300" h="76200">
                  <a:moveTo>
                    <a:pt x="0" y="0"/>
                  </a:moveTo>
                  <a:lnTo>
                    <a:pt x="57150" y="76200"/>
                  </a:lnTo>
                  <a:lnTo>
                    <a:pt x="114300" y="0"/>
                  </a:lnTo>
                </a:path>
              </a:pathLst>
            </a:custGeom>
            <a:noFill/>
            <a:ln w="14288">
              <a:solidFill>
                <a:srgbClr val="555555"/>
              </a:solidFill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4343400" y="6858000"/>
              <a:ext cx="2667000" cy="1143000"/>
              <a:chOff x="4343400" y="6858000"/>
              <a:chExt cx="2667000" cy="1143000"/>
            </a:xfrm>
          </p:grpSpPr>
          <p:sp>
            <p:nvSpPr>
              <p:cNvPr id="42" name="Rectangle 42"/>
              <p:cNvSpPr/>
              <p:nvPr/>
            </p:nvSpPr>
            <p:spPr>
              <a:xfrm>
                <a:off x="4343400" y="6858000"/>
                <a:ext cx="2667000" cy="1143000"/>
              </a:xfrm>
              <a:prstGeom prst="rect">
                <a:avLst/>
              </a:prstGeom>
              <a:solidFill>
                <a:srgbClr val="E6F4FF"/>
              </a:solidFill>
              <a:ln w="9525">
                <a:solidFill>
                  <a:srgbClr val="1677FF"/>
                </a:solidFill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5241691" y="7007066"/>
                <a:ext cx="87041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1677FF"/>
                    </a:solidFill>
                    <a:latin typeface="Segoe UI"/>
                    <a:ea typeface="Microsoft YaHei"/>
                    <a:cs typeface="Segoe UI"/>
                  </a:rPr>
                  <a:t>SYSTEM · AUTO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4898719" y="7201852"/>
                <a:ext cx="155636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八阶段自动推进(1→5)</a:t>
                </a:r>
              </a:p>
            </p:txBody>
          </p:sp>
          <p:sp>
            <p:nvSpPr>
              <p:cNvPr id="45" name="Line 45"/>
              <p:cNvSpPr/>
              <p:nvPr/>
            </p:nvSpPr>
            <p:spPr>
              <a:xfrm>
                <a:off x="4495800" y="7429500"/>
                <a:ext cx="2362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362200" h="9525">
                    <a:moveTo>
                      <a:pt x="0" y="0"/>
                    </a:moveTo>
                    <a:lnTo>
                      <a:pt x="2362200" y="0"/>
                    </a:lnTo>
                  </a:path>
                </a:pathLst>
              </a:custGeom>
              <a:noFill/>
              <a:ln w="9525">
                <a:solidFill>
                  <a:srgbClr val="1677FF"/>
                </a:solidFill>
                <a:custDash>
                  <a:ds d="300000" sp="300000"/>
                </a:custDash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4666345" y="7530941"/>
                <a:ext cx="2021110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555555"/>
                    </a:solidFill>
                    <a:latin typeface="Segoe UI"/>
                    <a:ea typeface="Microsoft YaHei"/>
                    <a:cs typeface="Segoe UI"/>
                  </a:rPr>
                  <a:t>规范加载 → 解析 → 论点 → 骨架 → 版式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5264563" y="7732395"/>
                <a:ext cx="82467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1677FF"/>
                    </a:solidFill>
                    <a:latin typeface="Segoe UI"/>
                    <a:ea typeface="Microsoft YaHei"/>
                    <a:cs typeface="Segoe UI"/>
                  </a:rPr>
                  <a:t>~ 8 min · CPU</a:t>
                </a:r>
              </a:p>
            </p:txBody>
          </p:sp>
        </p:grpSp>
        <p:sp>
          <p:nvSpPr>
            <p:cNvPr id="49" name="Line 49"/>
            <p:cNvSpPr/>
            <p:nvPr/>
          </p:nvSpPr>
          <p:spPr>
            <a:xfrm>
              <a:off x="7581900" y="7429500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4288">
              <a:solidFill>
                <a:srgbClr val="1677FF"/>
              </a:solidFill>
            </a:ln>
          </p:spPr>
        </p:sp>
        <p:sp>
          <p:nvSpPr>
            <p:cNvPr id="50" name="Line 50"/>
            <p:cNvSpPr/>
            <p:nvPr/>
          </p:nvSpPr>
          <p:spPr>
            <a:xfrm>
              <a:off x="7962900" y="6000750"/>
              <a:ext cx="9525" cy="1428750"/>
            </a:xfrm>
            <a:custGeom>
              <a:avLst/>
              <a:gdLst/>
              <a:ahLst/>
              <a:cxnLst/>
              <a:rect l="l" t="t" r="r" b="b"/>
              <a:pathLst>
                <a:path w="9525" h="1428750">
                  <a:moveTo>
                    <a:pt x="0" y="142875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rgbClr val="1677FF"/>
              </a:solidFill>
            </a:ln>
          </p:spPr>
        </p:sp>
        <p:sp>
          <p:nvSpPr>
            <p:cNvPr id="51" name="Freeform 51"/>
            <p:cNvSpPr/>
            <p:nvPr/>
          </p:nvSpPr>
          <p:spPr>
            <a:xfrm>
              <a:off x="7905750" y="5981700"/>
              <a:ext cx="114300" cy="76200"/>
            </a:xfrm>
            <a:custGeom>
              <a:avLst/>
              <a:gdLst/>
              <a:ahLst/>
              <a:cxnLst/>
              <a:rect l="l" t="t" r="r" b="b"/>
              <a:pathLst>
                <a:path w="114300" h="76200">
                  <a:moveTo>
                    <a:pt x="0" y="76200"/>
                  </a:moveTo>
                  <a:lnTo>
                    <a:pt x="57150" y="0"/>
                  </a:lnTo>
                  <a:lnTo>
                    <a:pt x="114300" y="76200"/>
                  </a:lnTo>
                </a:path>
              </a:pathLst>
            </a:custGeom>
            <a:noFill/>
            <a:ln w="14288">
              <a:solidFill>
                <a:srgbClr val="1677FF"/>
              </a:solidFill>
            </a:ln>
          </p:spPr>
        </p:sp>
        <p:grpSp>
          <p:nvGrpSpPr>
            <p:cNvPr id="56" name="Group 56"/>
            <p:cNvGrpSpPr/>
            <p:nvPr/>
          </p:nvGrpSpPr>
          <p:grpSpPr>
            <a:xfrm>
              <a:off x="7200900" y="5429250"/>
              <a:ext cx="1524000" cy="857250"/>
              <a:chOff x="7200900" y="5429250"/>
              <a:chExt cx="1524000" cy="857250"/>
            </a:xfrm>
          </p:grpSpPr>
          <p:sp>
            <p:nvSpPr>
              <p:cNvPr id="52" name="Polygon 52"/>
              <p:cNvSpPr/>
              <p:nvPr/>
            </p:nvSpPr>
            <p:spPr>
              <a:xfrm>
                <a:off x="7200900" y="5429250"/>
                <a:ext cx="1524000" cy="857250"/>
              </a:xfrm>
              <a:custGeom>
                <a:avLst/>
                <a:gdLst/>
                <a:ahLst/>
                <a:cxnLst/>
                <a:rect l="l" t="t" r="r" b="b"/>
                <a:pathLst>
                  <a:path w="1524000" h="857250">
                    <a:moveTo>
                      <a:pt x="762000" y="0"/>
                    </a:moveTo>
                    <a:lnTo>
                      <a:pt x="1524000" y="428625"/>
                    </a:lnTo>
                    <a:lnTo>
                      <a:pt x="762000" y="857250"/>
                    </a:lnTo>
                    <a:lnTo>
                      <a:pt x="0" y="428625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1A1A1A"/>
                </a:solidFill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7713390" y="5665470"/>
                <a:ext cx="49902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◆ 决策 1</a:t>
                </a: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7665720" y="5847874"/>
                <a:ext cx="59436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样稿方向</a:t>
                </a: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7697760" y="6000274"/>
                <a:ext cx="53028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可接受?</a:t>
                </a:r>
              </a:p>
            </p:txBody>
          </p:sp>
        </p:grpSp>
        <p:sp>
          <p:nvSpPr>
            <p:cNvPr id="57" name="Line 57"/>
            <p:cNvSpPr/>
            <p:nvPr/>
          </p:nvSpPr>
          <p:spPr>
            <a:xfrm>
              <a:off x="8724900" y="585787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4288">
              <a:solidFill>
                <a:srgbClr val="2E6B3E"/>
              </a:solidFill>
            </a:ln>
          </p:spPr>
        </p:sp>
        <p:sp>
          <p:nvSpPr>
            <p:cNvPr id="58" name="Freeform 58"/>
            <p:cNvSpPr/>
            <p:nvPr/>
          </p:nvSpPr>
          <p:spPr>
            <a:xfrm>
              <a:off x="9048750" y="5800725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0" y="0"/>
                  </a:moveTo>
                  <a:lnTo>
                    <a:pt x="76200" y="57150"/>
                  </a:lnTo>
                  <a:lnTo>
                    <a:pt x="0" y="114300"/>
                  </a:lnTo>
                </a:path>
              </a:pathLst>
            </a:custGeom>
            <a:noFill/>
            <a:ln w="14288">
              <a:solidFill>
                <a:srgbClr val="2E6B3E"/>
              </a:solidFill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844677" y="5673566"/>
              <a:ext cx="14144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2E6B3E"/>
                  </a:solidFill>
                  <a:latin typeface="Segoe UI"/>
                  <a:ea typeface="Microsoft YaHei"/>
                  <a:cs typeface="Segoe UI"/>
                </a:rPr>
                <a:t>是</a:t>
              </a:r>
            </a:p>
          </p:txBody>
        </p:sp>
        <p:sp>
          <p:nvSpPr>
            <p:cNvPr id="60" name="Line 60"/>
            <p:cNvSpPr/>
            <p:nvPr/>
          </p:nvSpPr>
          <p:spPr>
            <a:xfrm>
              <a:off x="7962900" y="5238750"/>
              <a:ext cx="9525" cy="190500"/>
            </a:xfrm>
            <a:custGeom>
              <a:avLst/>
              <a:gdLst/>
              <a:ahLst/>
              <a:cxnLst/>
              <a:rect l="l" t="t" r="r" b="b"/>
              <a:pathLst>
                <a:path w="9525" h="190500">
                  <a:moveTo>
                    <a:pt x="0" y="19050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rgbClr val="9C2B2B"/>
              </a:solidFill>
              <a:prstDash val="dash"/>
            </a:ln>
          </p:spPr>
        </p:sp>
        <p:sp>
          <p:nvSpPr>
            <p:cNvPr id="61" name="Line 61"/>
            <p:cNvSpPr/>
            <p:nvPr/>
          </p:nvSpPr>
          <p:spPr>
            <a:xfrm>
              <a:off x="5105400" y="5238750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2857500" y="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rgbClr val="9C2B2B"/>
              </a:solidFill>
              <a:prstDash val="dash"/>
            </a:ln>
          </p:spPr>
        </p:sp>
        <p:sp>
          <p:nvSpPr>
            <p:cNvPr id="62" name="Line 62"/>
            <p:cNvSpPr/>
            <p:nvPr/>
          </p:nvSpPr>
          <p:spPr>
            <a:xfrm>
              <a:off x="5105400" y="5143500"/>
              <a:ext cx="9525" cy="95250"/>
            </a:xfrm>
            <a:custGeom>
              <a:avLst/>
              <a:gdLst/>
              <a:ahLst/>
              <a:cxnLst/>
              <a:rect l="l" t="t" r="r" b="b"/>
              <a:pathLst>
                <a:path w="9525" h="95250">
                  <a:moveTo>
                    <a:pt x="0" y="9525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rgbClr val="9C2B2B"/>
              </a:solidFill>
              <a:prstDash val="dash"/>
            </a:ln>
          </p:spPr>
        </p:sp>
        <p:sp>
          <p:nvSpPr>
            <p:cNvPr id="63" name="Freeform 63"/>
            <p:cNvSpPr/>
            <p:nvPr/>
          </p:nvSpPr>
          <p:spPr>
            <a:xfrm>
              <a:off x="5048250" y="5124450"/>
              <a:ext cx="114300" cy="76200"/>
            </a:xfrm>
            <a:custGeom>
              <a:avLst/>
              <a:gdLst/>
              <a:ahLst/>
              <a:cxnLst/>
              <a:rect l="l" t="t" r="r" b="b"/>
              <a:pathLst>
                <a:path w="114300" h="76200">
                  <a:moveTo>
                    <a:pt x="0" y="76200"/>
                  </a:moveTo>
                  <a:lnTo>
                    <a:pt x="57150" y="0"/>
                  </a:lnTo>
                  <a:lnTo>
                    <a:pt x="114300" y="76200"/>
                  </a:lnTo>
                </a:path>
              </a:pathLst>
            </a:custGeom>
            <a:noFill/>
            <a:ln w="14288">
              <a:solidFill>
                <a:srgbClr val="9C2B2B"/>
              </a:solidFill>
            </a:ln>
          </p:spPr>
        </p:sp>
        <p:sp>
          <p:nvSpPr>
            <p:cNvPr id="64" name="TextBox 64"/>
            <p:cNvSpPr txBox="1"/>
            <p:nvPr/>
          </p:nvSpPr>
          <p:spPr>
            <a:xfrm>
              <a:off x="5791688" y="5083016"/>
              <a:ext cx="1484924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9C2B2B"/>
                  </a:solidFill>
                  <a:latin typeface="Segoe UI"/>
                  <a:ea typeface="Microsoft YaHei"/>
                  <a:cs typeface="Segoe UI"/>
                </a:rPr>
                <a:t>否 · 调整素材或要求后重跑</a:t>
              </a:r>
            </a:p>
          </p:txBody>
        </p:sp>
        <p:grpSp>
          <p:nvGrpSpPr>
            <p:cNvPr id="71" name="Group 71"/>
            <p:cNvGrpSpPr/>
            <p:nvPr/>
          </p:nvGrpSpPr>
          <p:grpSpPr>
            <a:xfrm>
              <a:off x="9201150" y="6858000"/>
              <a:ext cx="2286000" cy="1143000"/>
              <a:chOff x="9201150" y="6858000"/>
              <a:chExt cx="2286000" cy="1143000"/>
            </a:xfrm>
          </p:grpSpPr>
          <p:sp>
            <p:nvSpPr>
              <p:cNvPr id="65" name="Rectangle 65"/>
              <p:cNvSpPr/>
              <p:nvPr/>
            </p:nvSpPr>
            <p:spPr>
              <a:xfrm>
                <a:off x="9201150" y="6858000"/>
                <a:ext cx="2286000" cy="1143000"/>
              </a:xfrm>
              <a:prstGeom prst="rect">
                <a:avLst/>
              </a:prstGeom>
              <a:solidFill>
                <a:srgbClr val="E6F4FF"/>
              </a:solidFill>
              <a:ln w="9525">
                <a:solidFill>
                  <a:srgbClr val="1677FF"/>
                </a:solidFill>
              </a:ln>
            </p:spPr>
          </p:sp>
          <p:sp>
            <p:nvSpPr>
              <p:cNvPr id="66" name="TextBox 66"/>
              <p:cNvSpPr txBox="1"/>
              <p:nvPr/>
            </p:nvSpPr>
            <p:spPr>
              <a:xfrm>
                <a:off x="9908941" y="7007066"/>
                <a:ext cx="87041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1677FF"/>
                    </a:solidFill>
                    <a:latin typeface="Segoe UI"/>
                    <a:ea typeface="Microsoft YaHei"/>
                    <a:cs typeface="Segoe UI"/>
                  </a:rPr>
                  <a:t>SYSTEM · AUTO</a:t>
                </a: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9787372" y="7201852"/>
                <a:ext cx="111355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逐页设计(6→7)</a:t>
                </a:r>
              </a:p>
            </p:txBody>
          </p:sp>
          <p:sp>
            <p:nvSpPr>
              <p:cNvPr id="68" name="Line 68"/>
              <p:cNvSpPr/>
              <p:nvPr/>
            </p:nvSpPr>
            <p:spPr>
              <a:xfrm>
                <a:off x="9353550" y="7429500"/>
                <a:ext cx="19812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981200" h="9525">
                    <a:moveTo>
                      <a:pt x="0" y="0"/>
                    </a:moveTo>
                    <a:lnTo>
                      <a:pt x="1981200" y="0"/>
                    </a:lnTo>
                  </a:path>
                </a:pathLst>
              </a:custGeom>
              <a:noFill/>
              <a:ln w="9525">
                <a:solidFill>
                  <a:srgbClr val="1677FF"/>
                </a:solidFill>
                <a:custDash>
                  <a:ds d="300000" sp="300000"/>
                </a:custDash>
              </a:ln>
            </p:spPr>
          </p:sp>
          <p:sp>
            <p:nvSpPr>
              <p:cNvPr id="69" name="TextBox 69"/>
              <p:cNvSpPr txBox="1"/>
              <p:nvPr/>
            </p:nvSpPr>
            <p:spPr>
              <a:xfrm>
                <a:off x="9580602" y="7530941"/>
                <a:ext cx="1527096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555555"/>
                    </a:solidFill>
                    <a:latin typeface="Segoe UI"/>
                    <a:ea typeface="Microsoft YaHei"/>
                    <a:cs typeface="Segoe UI"/>
                  </a:rPr>
                  <a:t>SVG 生成 · DrawingML 转换</a:t>
                </a:r>
              </a:p>
            </p:txBody>
          </p:sp>
          <p:sp>
            <p:nvSpPr>
              <p:cNvPr id="70" name="TextBox 70"/>
              <p:cNvSpPr txBox="1"/>
              <p:nvPr/>
            </p:nvSpPr>
            <p:spPr>
              <a:xfrm>
                <a:off x="9862804" y="7732395"/>
                <a:ext cx="96269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1677FF"/>
                    </a:solidFill>
                    <a:latin typeface="Segoe UI"/>
                    <a:ea typeface="Microsoft YaHei"/>
                    <a:cs typeface="Segoe UI"/>
                  </a:rPr>
                  <a:t>~ 15 min · 30 页</a:t>
                </a:r>
              </a:p>
            </p:txBody>
          </p:sp>
        </p:grpSp>
        <p:sp>
          <p:nvSpPr>
            <p:cNvPr id="72" name="Line 72"/>
            <p:cNvSpPr/>
            <p:nvPr/>
          </p:nvSpPr>
          <p:spPr>
            <a:xfrm>
              <a:off x="9105900" y="5857875"/>
              <a:ext cx="1238250" cy="9525"/>
            </a:xfrm>
            <a:custGeom>
              <a:avLst/>
              <a:gdLst/>
              <a:ahLst/>
              <a:cxnLst/>
              <a:rect l="l" t="t" r="r" b="b"/>
              <a:pathLst>
                <a:path w="1238250" h="9525">
                  <a:moveTo>
                    <a:pt x="0" y="0"/>
                  </a:moveTo>
                  <a:lnTo>
                    <a:pt x="1238250" y="0"/>
                  </a:lnTo>
                </a:path>
              </a:pathLst>
            </a:custGeom>
            <a:noFill/>
            <a:ln w="14288">
              <a:solidFill>
                <a:srgbClr val="1677FF"/>
              </a:solidFill>
            </a:ln>
          </p:spPr>
        </p:sp>
        <p:sp>
          <p:nvSpPr>
            <p:cNvPr id="73" name="Line 73"/>
            <p:cNvSpPr/>
            <p:nvPr/>
          </p:nvSpPr>
          <p:spPr>
            <a:xfrm>
              <a:off x="10344150" y="5857875"/>
              <a:ext cx="9525" cy="904875"/>
            </a:xfrm>
            <a:custGeom>
              <a:avLst/>
              <a:gdLst/>
              <a:ahLst/>
              <a:cxnLst/>
              <a:rect l="l" t="t" r="r" b="b"/>
              <a:pathLst>
                <a:path w="9525" h="904875">
                  <a:moveTo>
                    <a:pt x="0" y="0"/>
                  </a:moveTo>
                  <a:lnTo>
                    <a:pt x="0" y="904875"/>
                  </a:lnTo>
                </a:path>
              </a:pathLst>
            </a:custGeom>
            <a:noFill/>
            <a:ln w="14288">
              <a:solidFill>
                <a:srgbClr val="1677FF"/>
              </a:solidFill>
            </a:ln>
          </p:spPr>
        </p:sp>
        <p:sp>
          <p:nvSpPr>
            <p:cNvPr id="74" name="Freeform 74"/>
            <p:cNvSpPr/>
            <p:nvPr/>
          </p:nvSpPr>
          <p:spPr>
            <a:xfrm>
              <a:off x="10287000" y="6705600"/>
              <a:ext cx="114300" cy="76200"/>
            </a:xfrm>
            <a:custGeom>
              <a:avLst/>
              <a:gdLst/>
              <a:ahLst/>
              <a:cxnLst/>
              <a:rect l="l" t="t" r="r" b="b"/>
              <a:pathLst>
                <a:path w="114300" h="76200">
                  <a:moveTo>
                    <a:pt x="0" y="0"/>
                  </a:moveTo>
                  <a:lnTo>
                    <a:pt x="57150" y="76200"/>
                  </a:lnTo>
                  <a:lnTo>
                    <a:pt x="114300" y="0"/>
                  </a:lnTo>
                </a:path>
              </a:pathLst>
            </a:custGeom>
            <a:noFill/>
            <a:ln w="14288">
              <a:solidFill>
                <a:srgbClr val="1677FF"/>
              </a:solidFill>
            </a:ln>
          </p:spPr>
        </p:sp>
        <p:grpSp>
          <p:nvGrpSpPr>
            <p:cNvPr id="81" name="Group 81"/>
            <p:cNvGrpSpPr/>
            <p:nvPr/>
          </p:nvGrpSpPr>
          <p:grpSpPr>
            <a:xfrm>
              <a:off x="11868150" y="6858000"/>
              <a:ext cx="2095500" cy="1143000"/>
              <a:chOff x="11868150" y="6858000"/>
              <a:chExt cx="2095500" cy="1143000"/>
            </a:xfrm>
          </p:grpSpPr>
          <p:sp>
            <p:nvSpPr>
              <p:cNvPr id="75" name="Rectangle 75"/>
              <p:cNvSpPr/>
              <p:nvPr/>
            </p:nvSpPr>
            <p:spPr>
              <a:xfrm>
                <a:off x="11868150" y="6858000"/>
                <a:ext cx="2095500" cy="1143000"/>
              </a:xfrm>
              <a:prstGeom prst="rect">
                <a:avLst/>
              </a:prstGeom>
              <a:solidFill>
                <a:srgbClr val="E6F4FF"/>
              </a:solidFill>
              <a:ln w="9525">
                <a:solidFill>
                  <a:srgbClr val="1677FF"/>
                </a:solidFill>
              </a:ln>
            </p:spPr>
          </p:sp>
          <p:sp>
            <p:nvSpPr>
              <p:cNvPr id="76" name="TextBox 76"/>
              <p:cNvSpPr txBox="1"/>
              <p:nvPr/>
            </p:nvSpPr>
            <p:spPr>
              <a:xfrm>
                <a:off x="12480691" y="7007066"/>
                <a:ext cx="870418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1677FF"/>
                    </a:solidFill>
                    <a:latin typeface="Segoe UI"/>
                    <a:ea typeface="Microsoft YaHei"/>
                    <a:cs typeface="Segoe UI"/>
                  </a:rPr>
                  <a:t>SYSTEM · AUTO</a:t>
                </a:r>
              </a:p>
            </p:txBody>
          </p:sp>
          <p:sp>
            <p:nvSpPr>
              <p:cNvPr id="77" name="TextBox 77"/>
              <p:cNvSpPr txBox="1"/>
              <p:nvPr/>
            </p:nvSpPr>
            <p:spPr>
              <a:xfrm>
                <a:off x="12479887" y="7201852"/>
                <a:ext cx="87202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QC 质检(8)</a:t>
                </a:r>
              </a:p>
            </p:txBody>
          </p:sp>
          <p:sp>
            <p:nvSpPr>
              <p:cNvPr id="78" name="Line 78"/>
              <p:cNvSpPr/>
              <p:nvPr/>
            </p:nvSpPr>
            <p:spPr>
              <a:xfrm>
                <a:off x="12020550" y="7429500"/>
                <a:ext cx="17907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90700" h="9525">
                    <a:moveTo>
                      <a:pt x="0" y="0"/>
                    </a:moveTo>
                    <a:lnTo>
                      <a:pt x="1790700" y="0"/>
                    </a:lnTo>
                  </a:path>
                </a:pathLst>
              </a:custGeom>
              <a:noFill/>
              <a:ln w="9525">
                <a:solidFill>
                  <a:srgbClr val="1677FF"/>
                </a:solidFill>
                <a:custDash>
                  <a:ds d="300000" sp="300000"/>
                </a:custDash>
              </a:ln>
            </p:spPr>
          </p:sp>
          <p:sp>
            <p:nvSpPr>
              <p:cNvPr id="79" name="TextBox 79"/>
              <p:cNvSpPr txBox="1"/>
              <p:nvPr/>
            </p:nvSpPr>
            <p:spPr>
              <a:xfrm>
                <a:off x="12399359" y="7530941"/>
                <a:ext cx="1033082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555555"/>
                    </a:solidFill>
                    <a:latin typeface="Segoe UI"/>
                    <a:ea typeface="Microsoft YaHei"/>
                    <a:cs typeface="Segoe UI"/>
                  </a:rPr>
                  <a:t>34 项规则自动扫描</a:t>
                </a:r>
              </a:p>
            </p:txBody>
          </p:sp>
          <p:sp>
            <p:nvSpPr>
              <p:cNvPr id="80" name="TextBox 80"/>
              <p:cNvSpPr txBox="1"/>
              <p:nvPr/>
            </p:nvSpPr>
            <p:spPr>
              <a:xfrm>
                <a:off x="12687586" y="7732395"/>
                <a:ext cx="456628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1677FF"/>
                    </a:solidFill>
                    <a:latin typeface="Segoe UI"/>
                    <a:ea typeface="Microsoft YaHei"/>
                    <a:cs typeface="Segoe UI"/>
                  </a:rPr>
                  <a:t>~ 2 min</a:t>
                </a:r>
              </a:p>
            </p:txBody>
          </p:sp>
        </p:grpSp>
        <p:sp>
          <p:nvSpPr>
            <p:cNvPr id="82" name="Line 82"/>
            <p:cNvSpPr/>
            <p:nvPr/>
          </p:nvSpPr>
          <p:spPr>
            <a:xfrm>
              <a:off x="11487150" y="7429500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14288">
              <a:solidFill>
                <a:srgbClr val="1677FF"/>
              </a:solidFill>
            </a:ln>
          </p:spPr>
        </p:sp>
        <p:sp>
          <p:nvSpPr>
            <p:cNvPr id="83" name="Freeform 83"/>
            <p:cNvSpPr/>
            <p:nvPr/>
          </p:nvSpPr>
          <p:spPr>
            <a:xfrm>
              <a:off x="11791950" y="7372350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0" y="0"/>
                  </a:moveTo>
                  <a:lnTo>
                    <a:pt x="76200" y="57150"/>
                  </a:lnTo>
                  <a:lnTo>
                    <a:pt x="0" y="114300"/>
                  </a:lnTo>
                </a:path>
              </a:pathLst>
            </a:custGeom>
            <a:noFill/>
            <a:ln w="14288">
              <a:solidFill>
                <a:srgbClr val="1677FF"/>
              </a:solidFill>
            </a:ln>
          </p:spPr>
        </p:sp>
        <p:sp>
          <p:nvSpPr>
            <p:cNvPr id="84" name="Line 84"/>
            <p:cNvSpPr/>
            <p:nvPr/>
          </p:nvSpPr>
          <p:spPr>
            <a:xfrm>
              <a:off x="12915900" y="6000750"/>
              <a:ext cx="9525" cy="857250"/>
            </a:xfrm>
            <a:custGeom>
              <a:avLst/>
              <a:gdLst/>
              <a:ahLst/>
              <a:cxnLst/>
              <a:rect l="l" t="t" r="r" b="b"/>
              <a:pathLst>
                <a:path w="9525" h="857250">
                  <a:moveTo>
                    <a:pt x="0" y="85725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rgbClr val="1677FF"/>
              </a:solidFill>
            </a:ln>
          </p:spPr>
        </p:sp>
        <p:sp>
          <p:nvSpPr>
            <p:cNvPr id="85" name="Freeform 85"/>
            <p:cNvSpPr/>
            <p:nvPr/>
          </p:nvSpPr>
          <p:spPr>
            <a:xfrm>
              <a:off x="12858750" y="5981700"/>
              <a:ext cx="114300" cy="76200"/>
            </a:xfrm>
            <a:custGeom>
              <a:avLst/>
              <a:gdLst/>
              <a:ahLst/>
              <a:cxnLst/>
              <a:rect l="l" t="t" r="r" b="b"/>
              <a:pathLst>
                <a:path w="114300" h="76200">
                  <a:moveTo>
                    <a:pt x="0" y="76200"/>
                  </a:moveTo>
                  <a:lnTo>
                    <a:pt x="57150" y="0"/>
                  </a:lnTo>
                  <a:lnTo>
                    <a:pt x="114300" y="76200"/>
                  </a:lnTo>
                </a:path>
              </a:pathLst>
            </a:custGeom>
            <a:noFill/>
            <a:ln w="14288">
              <a:solidFill>
                <a:srgbClr val="1677FF"/>
              </a:solidFill>
            </a:ln>
          </p:spPr>
        </p:sp>
        <p:grpSp>
          <p:nvGrpSpPr>
            <p:cNvPr id="90" name="Group 90"/>
            <p:cNvGrpSpPr/>
            <p:nvPr/>
          </p:nvGrpSpPr>
          <p:grpSpPr>
            <a:xfrm>
              <a:off x="12153900" y="5429250"/>
              <a:ext cx="1524000" cy="857250"/>
              <a:chOff x="12153900" y="5429250"/>
              <a:chExt cx="1524000" cy="857250"/>
            </a:xfrm>
          </p:grpSpPr>
          <p:sp>
            <p:nvSpPr>
              <p:cNvPr id="86" name="Polygon 86"/>
              <p:cNvSpPr/>
              <p:nvPr/>
            </p:nvSpPr>
            <p:spPr>
              <a:xfrm>
                <a:off x="12153900" y="5429250"/>
                <a:ext cx="1524000" cy="857250"/>
              </a:xfrm>
              <a:custGeom>
                <a:avLst/>
                <a:gdLst/>
                <a:ahLst/>
                <a:cxnLst/>
                <a:rect l="l" t="t" r="r" b="b"/>
                <a:pathLst>
                  <a:path w="1524000" h="857250">
                    <a:moveTo>
                      <a:pt x="762000" y="0"/>
                    </a:moveTo>
                    <a:lnTo>
                      <a:pt x="1524000" y="428625"/>
                    </a:lnTo>
                    <a:lnTo>
                      <a:pt x="762000" y="857250"/>
                    </a:lnTo>
                    <a:lnTo>
                      <a:pt x="0" y="428625"/>
                    </a:lnTo>
                    <a:close/>
                  </a:path>
                </a:pathLst>
              </a:custGeom>
              <a:solidFill>
                <a:srgbClr val="FFFFFF"/>
              </a:solidFill>
              <a:ln w="19050">
                <a:solidFill>
                  <a:srgbClr val="1A1A1A"/>
                </a:solidFill>
              </a:ln>
            </p:spPr>
          </p:sp>
          <p:sp>
            <p:nvSpPr>
              <p:cNvPr id="87" name="TextBox 87"/>
              <p:cNvSpPr txBox="1"/>
              <p:nvPr/>
            </p:nvSpPr>
            <p:spPr>
              <a:xfrm>
                <a:off x="12649138" y="5665470"/>
                <a:ext cx="53352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b="1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◆ 决策 2</a:t>
                </a:r>
              </a:p>
            </p:txBody>
          </p:sp>
          <p:sp>
            <p:nvSpPr>
              <p:cNvPr id="88" name="TextBox 88"/>
              <p:cNvSpPr txBox="1"/>
              <p:nvPr/>
            </p:nvSpPr>
            <p:spPr>
              <a:xfrm>
                <a:off x="12608040" y="5847874"/>
                <a:ext cx="61572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QC 通过?</a:t>
                </a:r>
              </a:p>
            </p:txBody>
          </p:sp>
          <p:sp>
            <p:nvSpPr>
              <p:cNvPr id="89" name="TextBox 89"/>
              <p:cNvSpPr txBox="1"/>
              <p:nvPr/>
            </p:nvSpPr>
            <p:spPr>
              <a:xfrm>
                <a:off x="12622268" y="6016466"/>
                <a:ext cx="587264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555555"/>
                    </a:solidFill>
                    <a:latin typeface="Segoe UI"/>
                    <a:ea typeface="Microsoft YaHei"/>
                    <a:cs typeface="Segoe UI"/>
                  </a:rPr>
                  <a:t>(≥ 32/34)</a:t>
                </a:r>
              </a:p>
            </p:txBody>
          </p:sp>
        </p:grpSp>
        <p:sp>
          <p:nvSpPr>
            <p:cNvPr id="91" name="Line 91"/>
            <p:cNvSpPr/>
            <p:nvPr/>
          </p:nvSpPr>
          <p:spPr>
            <a:xfrm>
              <a:off x="11772900" y="585787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381000" y="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rgbClr val="9C2B2B"/>
              </a:solidFill>
              <a:prstDash val="dash"/>
            </a:ln>
          </p:spPr>
        </p:sp>
        <p:sp>
          <p:nvSpPr>
            <p:cNvPr id="92" name="Line 92"/>
            <p:cNvSpPr/>
            <p:nvPr/>
          </p:nvSpPr>
          <p:spPr>
            <a:xfrm>
              <a:off x="11772900" y="5857875"/>
              <a:ext cx="9525" cy="714375"/>
            </a:xfrm>
            <a:custGeom>
              <a:avLst/>
              <a:gdLst/>
              <a:ahLst/>
              <a:cxnLst/>
              <a:rect l="l" t="t" r="r" b="b"/>
              <a:pathLst>
                <a:path w="9525" h="714375">
                  <a:moveTo>
                    <a:pt x="0" y="0"/>
                  </a:moveTo>
                  <a:lnTo>
                    <a:pt x="0" y="714375"/>
                  </a:lnTo>
                </a:path>
              </a:pathLst>
            </a:custGeom>
            <a:noFill/>
            <a:ln w="14288">
              <a:solidFill>
                <a:srgbClr val="9C2B2B"/>
              </a:solidFill>
              <a:prstDash val="dash"/>
            </a:ln>
          </p:spPr>
        </p:sp>
        <p:sp>
          <p:nvSpPr>
            <p:cNvPr id="93" name="Freeform 93"/>
            <p:cNvSpPr/>
            <p:nvPr/>
          </p:nvSpPr>
          <p:spPr>
            <a:xfrm>
              <a:off x="11715750" y="6515100"/>
              <a:ext cx="114300" cy="76200"/>
            </a:xfrm>
            <a:custGeom>
              <a:avLst/>
              <a:gdLst/>
              <a:ahLst/>
              <a:cxnLst/>
              <a:rect l="l" t="t" r="r" b="b"/>
              <a:pathLst>
                <a:path w="114300" h="76200">
                  <a:moveTo>
                    <a:pt x="0" y="0"/>
                  </a:moveTo>
                  <a:lnTo>
                    <a:pt x="57150" y="76200"/>
                  </a:lnTo>
                  <a:lnTo>
                    <a:pt x="114300" y="0"/>
                  </a:lnTo>
                </a:path>
              </a:pathLst>
            </a:custGeom>
            <a:noFill/>
            <a:ln w="14288">
              <a:solidFill>
                <a:srgbClr val="9C2B2B"/>
              </a:solidFill>
            </a:ln>
          </p:spPr>
        </p:sp>
        <p:sp>
          <p:nvSpPr>
            <p:cNvPr id="94" name="TextBox 94"/>
            <p:cNvSpPr txBox="1"/>
            <p:nvPr/>
          </p:nvSpPr>
          <p:spPr>
            <a:xfrm>
              <a:off x="11511677" y="6197441"/>
              <a:ext cx="14144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9C2B2B"/>
                  </a:solidFill>
                  <a:latin typeface="Segoe UI"/>
                  <a:ea typeface="Microsoft YaHei"/>
                  <a:cs typeface="Segoe UI"/>
                </a:rPr>
                <a:t>否</a:t>
              </a:r>
            </a:p>
          </p:txBody>
        </p:sp>
        <p:sp>
          <p:nvSpPr>
            <p:cNvPr id="95" name="Line 95"/>
            <p:cNvSpPr/>
            <p:nvPr/>
          </p:nvSpPr>
          <p:spPr>
            <a:xfrm>
              <a:off x="13677900" y="585787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4288">
              <a:solidFill>
                <a:srgbClr val="2E6B3E"/>
              </a:solidFill>
            </a:ln>
          </p:spPr>
        </p:sp>
        <p:sp>
          <p:nvSpPr>
            <p:cNvPr id="96" name="Freeform 96"/>
            <p:cNvSpPr/>
            <p:nvPr/>
          </p:nvSpPr>
          <p:spPr>
            <a:xfrm>
              <a:off x="14001750" y="5800725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0" y="0"/>
                  </a:moveTo>
                  <a:lnTo>
                    <a:pt x="76200" y="57150"/>
                  </a:lnTo>
                  <a:lnTo>
                    <a:pt x="0" y="114300"/>
                  </a:lnTo>
                </a:path>
              </a:pathLst>
            </a:custGeom>
            <a:noFill/>
            <a:ln w="14288">
              <a:solidFill>
                <a:srgbClr val="2E6B3E"/>
              </a:solidFill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13797677" y="5673566"/>
              <a:ext cx="141446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dirty="0">
                  <a:solidFill>
                    <a:srgbClr val="2E6B3E"/>
                  </a:solidFill>
                  <a:latin typeface="Segoe UI"/>
                  <a:ea typeface="Microsoft YaHei"/>
                  <a:cs typeface="Segoe UI"/>
                </a:rPr>
                <a:t>是</a:t>
              </a:r>
            </a:p>
          </p:txBody>
        </p:sp>
        <p:grpSp>
          <p:nvGrpSpPr>
            <p:cNvPr id="102" name="Group 102"/>
            <p:cNvGrpSpPr/>
            <p:nvPr/>
          </p:nvGrpSpPr>
          <p:grpSpPr>
            <a:xfrm>
              <a:off x="14058900" y="5524500"/>
              <a:ext cx="1524000" cy="676275"/>
              <a:chOff x="14058900" y="5524500"/>
              <a:chExt cx="1524000" cy="676275"/>
            </a:xfrm>
          </p:grpSpPr>
          <p:sp>
            <p:nvSpPr>
              <p:cNvPr id="98" name="Rectangle 98"/>
              <p:cNvSpPr/>
              <p:nvPr/>
            </p:nvSpPr>
            <p:spPr>
              <a:xfrm>
                <a:off x="14058900" y="5524500"/>
                <a:ext cx="1524000" cy="666750"/>
              </a:xfrm>
              <a:prstGeom prst="rect">
                <a:avLst/>
              </a:prstGeom>
              <a:solidFill>
                <a:srgbClr val="FFFFFF"/>
              </a:solidFill>
              <a:ln w="14288">
                <a:solidFill>
                  <a:srgbClr val="1677FF"/>
                </a:solidFill>
              </a:ln>
            </p:spPr>
          </p:sp>
          <p:sp>
            <p:nvSpPr>
              <p:cNvPr id="99" name="TextBox 99"/>
              <p:cNvSpPr txBox="1"/>
              <p:nvPr/>
            </p:nvSpPr>
            <p:spPr>
              <a:xfrm>
                <a:off x="14491121" y="5673566"/>
                <a:ext cx="659559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888888"/>
                    </a:solidFill>
                    <a:latin typeface="Segoe UI"/>
                    <a:ea typeface="Microsoft YaHei"/>
                    <a:cs typeface="Segoe UI"/>
                  </a:rPr>
                  <a:t>STEP 03 · ◆</a:t>
                </a:r>
              </a:p>
            </p:txBody>
          </p:sp>
          <p:sp>
            <p:nvSpPr>
              <p:cNvPr id="100" name="TextBox 100"/>
              <p:cNvSpPr txBox="1"/>
              <p:nvPr/>
            </p:nvSpPr>
            <p:spPr>
              <a:xfrm>
                <a:off x="14485525" y="5839778"/>
                <a:ext cx="67075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人工把关</a:t>
                </a:r>
              </a:p>
            </p:txBody>
          </p:sp>
          <p:sp>
            <p:nvSpPr>
              <p:cNvPr id="101" name="TextBox 101"/>
              <p:cNvSpPr txBox="1"/>
              <p:nvPr/>
            </p:nvSpPr>
            <p:spPr>
              <a:xfrm>
                <a:off x="14415135" y="6017895"/>
                <a:ext cx="81153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555555"/>
                    </a:solidFill>
                    <a:latin typeface="Segoe UI"/>
                    <a:ea typeface="Microsoft YaHei"/>
                    <a:cs typeface="Segoe UI"/>
                  </a:rPr>
                  <a:t>最终内容审核</a:t>
                </a:r>
              </a:p>
            </p:txBody>
          </p:sp>
        </p:grpSp>
        <p:sp>
          <p:nvSpPr>
            <p:cNvPr id="103" name="Line 103"/>
            <p:cNvSpPr/>
            <p:nvPr/>
          </p:nvSpPr>
          <p:spPr>
            <a:xfrm>
              <a:off x="15582900" y="585787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0" y="0"/>
                  </a:moveTo>
                  <a:lnTo>
                    <a:pt x="381000" y="0"/>
                  </a:lnTo>
                </a:path>
              </a:pathLst>
            </a:custGeom>
            <a:noFill/>
            <a:ln w="14288">
              <a:solidFill>
                <a:srgbClr val="1677FF"/>
              </a:solidFill>
            </a:ln>
          </p:spPr>
        </p:sp>
        <p:sp>
          <p:nvSpPr>
            <p:cNvPr id="104" name="Freeform 104"/>
            <p:cNvSpPr/>
            <p:nvPr/>
          </p:nvSpPr>
          <p:spPr>
            <a:xfrm>
              <a:off x="15906750" y="5800725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0" y="0"/>
                  </a:moveTo>
                  <a:lnTo>
                    <a:pt x="76200" y="57150"/>
                  </a:lnTo>
                  <a:lnTo>
                    <a:pt x="0" y="114300"/>
                  </a:lnTo>
                </a:path>
              </a:pathLst>
            </a:custGeom>
            <a:noFill/>
            <a:ln w="14288">
              <a:solidFill>
                <a:srgbClr val="1677FF"/>
              </a:solidFill>
            </a:ln>
          </p:spPr>
        </p:sp>
        <p:grpSp>
          <p:nvGrpSpPr>
            <p:cNvPr id="108" name="Group 108"/>
            <p:cNvGrpSpPr/>
            <p:nvPr/>
          </p:nvGrpSpPr>
          <p:grpSpPr>
            <a:xfrm>
              <a:off x="16047720" y="3105150"/>
              <a:ext cx="594360" cy="797719"/>
              <a:chOff x="16047720" y="3105150"/>
              <a:chExt cx="594360" cy="797719"/>
            </a:xfrm>
          </p:grpSpPr>
          <p:sp>
            <p:nvSpPr>
              <p:cNvPr id="105" name="Ellipse 105"/>
              <p:cNvSpPr/>
              <p:nvPr/>
            </p:nvSpPr>
            <p:spPr>
              <a:xfrm>
                <a:off x="16116300" y="3105150"/>
                <a:ext cx="457200" cy="457200"/>
              </a:xfrm>
              <a:prstGeom prst="ellipse">
                <a:avLst/>
              </a:prstGeom>
              <a:solidFill>
                <a:srgbClr val="1677FF"/>
              </a:solidFill>
              <a:ln>
                <a:noFill/>
              </a:ln>
            </p:spPr>
          </p:sp>
          <p:sp>
            <p:nvSpPr>
              <p:cNvPr id="106" name="TextBox 106"/>
              <p:cNvSpPr txBox="1"/>
              <p:nvPr/>
            </p:nvSpPr>
            <p:spPr>
              <a:xfrm>
                <a:off x="16209165" y="3276124"/>
                <a:ext cx="27147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END</a:t>
                </a:r>
              </a:p>
            </p:txBody>
          </p:sp>
          <p:sp>
            <p:nvSpPr>
              <p:cNvPr id="107" name="TextBox 107"/>
              <p:cNvSpPr txBox="1"/>
              <p:nvPr/>
            </p:nvSpPr>
            <p:spPr>
              <a:xfrm>
                <a:off x="16047720" y="3704749"/>
                <a:ext cx="59436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客户收稿</a:t>
                </a:r>
              </a:p>
            </p:txBody>
          </p:sp>
        </p:grpSp>
        <p:sp>
          <p:nvSpPr>
            <p:cNvPr id="109" name="Line 109"/>
            <p:cNvSpPr/>
            <p:nvPr/>
          </p:nvSpPr>
          <p:spPr>
            <a:xfrm>
              <a:off x="16344900" y="3562350"/>
              <a:ext cx="9525" cy="2295525"/>
            </a:xfrm>
            <a:custGeom>
              <a:avLst/>
              <a:gdLst/>
              <a:ahLst/>
              <a:cxnLst/>
              <a:rect l="l" t="t" r="r" b="b"/>
              <a:pathLst>
                <a:path w="9525" h="2295525">
                  <a:moveTo>
                    <a:pt x="0" y="0"/>
                  </a:moveTo>
                  <a:lnTo>
                    <a:pt x="0" y="2295525"/>
                  </a:lnTo>
                </a:path>
              </a:pathLst>
            </a:custGeom>
            <a:noFill/>
            <a:ln w="14288">
              <a:solidFill>
                <a:srgbClr val="1A1A1A"/>
              </a:solidFill>
            </a:ln>
          </p:spPr>
        </p:sp>
        <p:sp>
          <p:nvSpPr>
            <p:cNvPr id="110" name="Line 110"/>
            <p:cNvSpPr/>
            <p:nvPr/>
          </p:nvSpPr>
          <p:spPr>
            <a:xfrm>
              <a:off x="15963900" y="5857875"/>
              <a:ext cx="381000" cy="9525"/>
            </a:xfrm>
            <a:custGeom>
              <a:avLst/>
              <a:gdLst/>
              <a:ahLst/>
              <a:cxnLst/>
              <a:rect l="l" t="t" r="r" b="b"/>
              <a:pathLst>
                <a:path w="381000" h="9525">
                  <a:moveTo>
                    <a:pt x="381000" y="0"/>
                  </a:moveTo>
                  <a:lnTo>
                    <a:pt x="0" y="0"/>
                  </a:lnTo>
                </a:path>
              </a:pathLst>
            </a:custGeom>
            <a:noFill/>
            <a:ln w="14288">
              <a:solidFill>
                <a:srgbClr val="1A1A1A"/>
              </a:solidFill>
            </a:ln>
          </p:spPr>
        </p:sp>
        <p:sp>
          <p:nvSpPr>
            <p:cNvPr id="111" name="Freeform 111"/>
            <p:cNvSpPr/>
            <p:nvPr/>
          </p:nvSpPr>
          <p:spPr>
            <a:xfrm>
              <a:off x="15944850" y="5800725"/>
              <a:ext cx="76200" cy="114300"/>
            </a:xfrm>
            <a:custGeom>
              <a:avLst/>
              <a:gdLst/>
              <a:ahLst/>
              <a:cxnLst/>
              <a:rect l="l" t="t" r="r" b="b"/>
              <a:pathLst>
                <a:path w="76200" h="114300">
                  <a:moveTo>
                    <a:pt x="76200" y="0"/>
                  </a:moveTo>
                  <a:lnTo>
                    <a:pt x="0" y="57150"/>
                  </a:lnTo>
                  <a:lnTo>
                    <a:pt x="76200" y="114300"/>
                  </a:lnTo>
                </a:path>
              </a:pathLst>
            </a:custGeom>
            <a:noFill/>
            <a:ln w="14288">
              <a:solidFill>
                <a:srgbClr val="1A1A1A"/>
              </a:solidFill>
            </a:ln>
          </p:spPr>
        </p:sp>
      </p:grpSp>
      <p:grpSp>
        <p:nvGrpSpPr>
          <p:cNvPr id="128" name="Group 128"/>
          <p:cNvGrpSpPr/>
          <p:nvPr/>
        </p:nvGrpSpPr>
        <p:grpSpPr>
          <a:xfrm>
            <a:off x="914400" y="8572500"/>
            <a:ext cx="16383000" cy="719138"/>
            <a:chOff x="914400" y="8572500"/>
            <a:chExt cx="16383000" cy="719138"/>
          </a:xfrm>
        </p:grpSpPr>
        <p:sp>
          <p:nvSpPr>
            <p:cNvPr id="113" name="Rectangle 113"/>
            <p:cNvSpPr/>
            <p:nvPr/>
          </p:nvSpPr>
          <p:spPr>
            <a:xfrm>
              <a:off x="914400" y="8572500"/>
              <a:ext cx="3619500" cy="666750"/>
            </a:xfrm>
            <a:prstGeom prst="rect">
              <a:avLst/>
            </a:prstGeom>
            <a:solidFill>
              <a:srgbClr val="FAFAFA"/>
            </a:solidFill>
            <a:ln w="9525">
              <a:solidFill>
                <a:srgbClr val="E2E2E2"/>
              </a:solidFill>
            </a:ln>
          </p:spPr>
        </p:sp>
        <p:sp>
          <p:nvSpPr>
            <p:cNvPr id="114" name="TextBox 114"/>
            <p:cNvSpPr txBox="1"/>
            <p:nvPr/>
          </p:nvSpPr>
          <p:spPr>
            <a:xfrm>
              <a:off x="1093470" y="8722995"/>
              <a:ext cx="1087564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88888"/>
                  </a:solidFill>
                  <a:latin typeface="Segoe UI"/>
                  <a:ea typeface="Microsoft YaHei"/>
                  <a:cs typeface="Segoe UI"/>
                </a:rPr>
                <a:t>TOTAL WALL TIME</a:t>
              </a:r>
            </a:p>
          </p:txBody>
        </p:sp>
        <p:sp>
          <p:nvSpPr>
            <p:cNvPr id="115" name="TextBox 115"/>
            <p:cNvSpPr txBox="1"/>
            <p:nvPr/>
          </p:nvSpPr>
          <p:spPr>
            <a:xfrm>
              <a:off x="1080135" y="8895398"/>
              <a:ext cx="1200824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~ 25 min</a:t>
              </a: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2616518" y="9000649"/>
              <a:ext cx="8933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55555"/>
                  </a:solidFill>
                  <a:latin typeface="Segoe UI"/>
                  <a:ea typeface="Microsoft YaHei"/>
                  <a:cs typeface="Segoe UI"/>
                </a:rPr>
                <a:t>(含顾问审阅)</a:t>
              </a:r>
            </a:p>
          </p:txBody>
        </p:sp>
        <p:sp>
          <p:nvSpPr>
            <p:cNvPr id="117" name="Rectangle 117"/>
            <p:cNvSpPr/>
            <p:nvPr/>
          </p:nvSpPr>
          <p:spPr>
            <a:xfrm>
              <a:off x="4724400" y="8572500"/>
              <a:ext cx="3619500" cy="666750"/>
            </a:xfrm>
            <a:prstGeom prst="rect">
              <a:avLst/>
            </a:prstGeom>
            <a:solidFill>
              <a:srgbClr val="FAFAFA"/>
            </a:solidFill>
            <a:ln w="9525">
              <a:solidFill>
                <a:srgbClr val="E2E2E2"/>
              </a:solidFill>
            </a:ln>
          </p:spPr>
        </p:sp>
        <p:sp>
          <p:nvSpPr>
            <p:cNvPr id="118" name="TextBox 118"/>
            <p:cNvSpPr txBox="1"/>
            <p:nvPr/>
          </p:nvSpPr>
          <p:spPr>
            <a:xfrm>
              <a:off x="4903470" y="8722995"/>
              <a:ext cx="10612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88888"/>
                  </a:solidFill>
                  <a:latin typeface="Segoe UI"/>
                  <a:ea typeface="Microsoft YaHei"/>
                  <a:cs typeface="Segoe UI"/>
                </a:rPr>
                <a:t>HUMAN DECISIONS</a:t>
              </a:r>
            </a:p>
          </p:txBody>
        </p:sp>
        <p:sp>
          <p:nvSpPr>
            <p:cNvPr id="119" name="TextBox 119"/>
            <p:cNvSpPr txBox="1"/>
            <p:nvPr/>
          </p:nvSpPr>
          <p:spPr>
            <a:xfrm>
              <a:off x="4890135" y="8895398"/>
              <a:ext cx="602749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3 次</a:t>
              </a:r>
            </a:p>
          </p:txBody>
        </p:sp>
        <p:sp>
          <p:nvSpPr>
            <p:cNvPr id="120" name="TextBox 120"/>
            <p:cNvSpPr txBox="1"/>
            <p:nvPr/>
          </p:nvSpPr>
          <p:spPr>
            <a:xfrm>
              <a:off x="5664518" y="9000649"/>
              <a:ext cx="136331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55555"/>
                  </a:solidFill>
                  <a:latin typeface="Segoe UI"/>
                  <a:ea typeface="Microsoft YaHei"/>
                  <a:cs typeface="Segoe UI"/>
                </a:rPr>
                <a:t>(澄清 · 样稿 · 定稿)</a:t>
              </a:r>
            </a:p>
          </p:txBody>
        </p:sp>
        <p:sp>
          <p:nvSpPr>
            <p:cNvPr id="121" name="Rectangle 121"/>
            <p:cNvSpPr/>
            <p:nvPr/>
          </p:nvSpPr>
          <p:spPr>
            <a:xfrm>
              <a:off x="8534400" y="8572500"/>
              <a:ext cx="3619500" cy="666750"/>
            </a:xfrm>
            <a:prstGeom prst="rect">
              <a:avLst/>
            </a:prstGeom>
            <a:solidFill>
              <a:srgbClr val="FAFAFA"/>
            </a:solidFill>
            <a:ln w="9525">
              <a:solidFill>
                <a:srgbClr val="E2E2E2"/>
              </a:solidFill>
            </a:ln>
          </p:spPr>
        </p:sp>
        <p:sp>
          <p:nvSpPr>
            <p:cNvPr id="122" name="TextBox 122"/>
            <p:cNvSpPr txBox="1"/>
            <p:nvPr/>
          </p:nvSpPr>
          <p:spPr>
            <a:xfrm>
              <a:off x="8713470" y="8722995"/>
              <a:ext cx="73923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88888"/>
                  </a:solidFill>
                  <a:latin typeface="Segoe UI"/>
                  <a:ea typeface="Microsoft YaHei"/>
                  <a:cs typeface="Segoe UI"/>
                </a:rPr>
                <a:t>AUTO STEPS</a:t>
              </a:r>
            </a:p>
          </p:txBody>
        </p:sp>
        <p:sp>
          <p:nvSpPr>
            <p:cNvPr id="123" name="TextBox 123"/>
            <p:cNvSpPr txBox="1"/>
            <p:nvPr/>
          </p:nvSpPr>
          <p:spPr>
            <a:xfrm>
              <a:off x="8700135" y="8895398"/>
              <a:ext cx="737316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8 / 11</a:t>
              </a:r>
            </a:p>
          </p:txBody>
        </p:sp>
        <p:sp>
          <p:nvSpPr>
            <p:cNvPr id="124" name="TextBox 124"/>
            <p:cNvSpPr txBox="1"/>
            <p:nvPr/>
          </p:nvSpPr>
          <p:spPr>
            <a:xfrm>
              <a:off x="9665018" y="9000649"/>
              <a:ext cx="13134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555555"/>
                  </a:solidFill>
                  <a:latin typeface="Segoe UI"/>
                  <a:ea typeface="Microsoft YaHei"/>
                  <a:cs typeface="Segoe UI"/>
                </a:rPr>
                <a:t>(系统自动化占 73%)</a:t>
              </a:r>
            </a:p>
          </p:txBody>
        </p:sp>
        <p:sp>
          <p:nvSpPr>
            <p:cNvPr id="125" name="Rectangle 125"/>
            <p:cNvSpPr/>
            <p:nvPr/>
          </p:nvSpPr>
          <p:spPr>
            <a:xfrm>
              <a:off x="12344400" y="8572500"/>
              <a:ext cx="4953000" cy="666750"/>
            </a:xfrm>
            <a:prstGeom prst="rect">
              <a:avLst/>
            </a:prstGeom>
            <a:solidFill>
              <a:srgbClr val="E6F4FF"/>
            </a:solidFill>
            <a:ln w="9525">
              <a:solidFill>
                <a:srgbClr val="1677FF"/>
              </a:solidFill>
            </a:ln>
          </p:spPr>
        </p:sp>
        <p:sp>
          <p:nvSpPr>
            <p:cNvPr id="126" name="TextBox 126"/>
            <p:cNvSpPr txBox="1"/>
            <p:nvPr/>
          </p:nvSpPr>
          <p:spPr>
            <a:xfrm>
              <a:off x="12523470" y="8722995"/>
              <a:ext cx="71951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1677FF"/>
                  </a:solidFill>
                  <a:latin typeface="Segoe UI"/>
                  <a:ea typeface="Microsoft YaHei"/>
                  <a:cs typeface="Segoe UI"/>
                </a:rPr>
                <a:t>KEY INSIGHT</a:t>
              </a:r>
            </a:p>
          </p:txBody>
        </p:sp>
        <p:sp>
          <p:nvSpPr>
            <p:cNvPr id="127" name="TextBox 127"/>
            <p:cNvSpPr txBox="1"/>
            <p:nvPr/>
          </p:nvSpPr>
          <p:spPr>
            <a:xfrm>
              <a:off x="12520612" y="8984456"/>
              <a:ext cx="38758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顾问心智资源 100% 用在"判断方向",不在"调对齐"</a:t>
              </a:r>
            </a:p>
          </p:txBody>
        </p:sp>
      </p:grpSp>
      <p:sp>
        <p:nvSpPr>
          <p:cNvPr id="129" name="Line 129"/>
          <p:cNvSpPr/>
          <p:nvPr/>
        </p:nvSpPr>
        <p:spPr>
          <a:xfrm>
            <a:off x="914400" y="9525000"/>
            <a:ext cx="16459200" cy="9525"/>
          </a:xfrm>
          <a:custGeom>
            <a:avLst/>
            <a:gdLst/>
            <a:ahLst/>
            <a:cxnLst/>
            <a:rect l="l" t="t" r="r" b="b"/>
            <a:pathLst>
              <a:path w="16459200" h="9525">
                <a:moveTo>
                  <a:pt x="0" y="0"/>
                </a:moveTo>
                <a:lnTo>
                  <a:pt x="16459200" y="0"/>
                </a:lnTo>
              </a:path>
            </a:pathLst>
          </a:custGeom>
          <a:noFill/>
          <a:ln w="9525">
            <a:solidFill>
              <a:srgbClr val="E2E2E2"/>
            </a:solidFill>
          </a:ln>
        </p:spPr>
      </p:sp>
      <p:sp>
        <p:nvSpPr>
          <p:cNvPr id="130" name="TextBox 130"/>
          <p:cNvSpPr txBox="1"/>
          <p:nvPr/>
        </p:nvSpPr>
        <p:spPr>
          <a:xfrm>
            <a:off x="901065" y="9602152"/>
            <a:ext cx="31243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AHAM · Internal Evaluation · CONFIDENTIAL</a:t>
            </a:r>
          </a:p>
        </p:txBody>
      </p:sp>
      <p:sp>
        <p:nvSpPr>
          <p:cNvPr id="131" name="TextBox 131"/>
          <p:cNvSpPr txBox="1"/>
          <p:nvPr/>
        </p:nvSpPr>
        <p:spPr>
          <a:xfrm>
            <a:off x="16884872" y="9602152"/>
            <a:ext cx="502063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901065" y="458152"/>
            <a:ext cx="1483519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10 · 2026 产品路线图</a:t>
            </a:r>
          </a:p>
        </p:txBody>
      </p:sp>
      <p:sp>
        <p:nvSpPr>
          <p:cNvPr id="4" name="Line 4"/>
          <p:cNvSpPr/>
          <p:nvPr/>
        </p:nvSpPr>
        <p:spPr>
          <a:xfrm>
            <a:off x="914400" y="723900"/>
            <a:ext cx="16459200" cy="9525"/>
          </a:xfrm>
          <a:custGeom>
            <a:avLst/>
            <a:gdLst/>
            <a:ahLst/>
            <a:cxnLst/>
            <a:rect l="l" t="t" r="r" b="b"/>
            <a:pathLst>
              <a:path w="16459200" h="9525">
                <a:moveTo>
                  <a:pt x="0" y="0"/>
                </a:moveTo>
                <a:lnTo>
                  <a:pt x="16459200" y="0"/>
                </a:lnTo>
              </a:path>
            </a:pathLst>
          </a:custGeom>
          <a:noFill/>
          <a:ln w="9525">
            <a:solidFill>
              <a:srgbClr val="E2E2E2"/>
            </a:solidFill>
          </a:ln>
        </p:spPr>
      </p:sp>
      <p:sp>
        <p:nvSpPr>
          <p:cNvPr id="5" name="Line 5"/>
          <p:cNvSpPr/>
          <p:nvPr/>
        </p:nvSpPr>
        <p:spPr>
          <a:xfrm>
            <a:off x="914400" y="1238250"/>
            <a:ext cx="9525" cy="666750"/>
          </a:xfrm>
          <a:custGeom>
            <a:avLst/>
            <a:gdLst/>
            <a:ahLst/>
            <a:cxnLst/>
            <a:rect l="l" t="t" r="r" b="b"/>
            <a:pathLst>
              <a:path w="9525" h="666750">
                <a:moveTo>
                  <a:pt x="0" y="0"/>
                </a:moveTo>
                <a:lnTo>
                  <a:pt x="0" y="666750"/>
                </a:lnTo>
              </a:path>
            </a:pathLst>
          </a:custGeom>
          <a:noFill/>
          <a:ln w="57150">
            <a:solidFill>
              <a:srgbClr val="1677FF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1223010" y="1346835"/>
            <a:ext cx="11537813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A1A1A"/>
                </a:solidFill>
                <a:latin typeface="Segoe UI"/>
                <a:ea typeface="Microsoft YaHei"/>
                <a:cs typeface="Segoe UI"/>
              </a:rPr>
              <a:t>6 条工作流并行推进 · 13 个里程碑锁定 · Q4 末完成 v2.0 发布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40155" y="1854518"/>
            <a:ext cx="872937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555555"/>
                </a:solidFill>
                <a:latin typeface="Segoe UI"/>
                <a:ea typeface="Microsoft YaHei"/>
                <a:cs typeface="Segoe UI"/>
              </a:rPr>
              <a:t>——关键依赖用 ◆ 标注;P0 里程碑不可延期,P1 可视资源情况调整;实线=核心工作流,虚线=支撑工作流</a:t>
            </a:r>
          </a:p>
        </p:txBody>
      </p:sp>
      <p:grpSp>
        <p:nvGrpSpPr>
          <p:cNvPr id="130" name="Group 130"/>
          <p:cNvGrpSpPr/>
          <p:nvPr/>
        </p:nvGrpSpPr>
        <p:grpSpPr>
          <a:xfrm>
            <a:off x="914400" y="2292191"/>
            <a:ext cx="16459200" cy="5899309"/>
            <a:chOff x="914400" y="2292191"/>
            <a:chExt cx="16459200" cy="5899309"/>
          </a:xfrm>
        </p:grpSpPr>
        <p:sp>
          <p:nvSpPr>
            <p:cNvPr id="8" name="Rectangle 8"/>
            <p:cNvSpPr/>
            <p:nvPr/>
          </p:nvSpPr>
          <p:spPr>
            <a:xfrm>
              <a:off x="914400" y="2476500"/>
              <a:ext cx="16459200" cy="476250"/>
            </a:xfrm>
            <a:prstGeom prst="rect">
              <a:avLst/>
            </a:prstGeom>
            <a:solidFill>
              <a:srgbClr val="1A1A1A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53465" y="2648902"/>
              <a:ext cx="1437513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Segoe UI"/>
                  <a:ea typeface="Microsoft YaHei"/>
                  <a:cs typeface="Segoe UI"/>
                </a:rPr>
                <a:t>工作流 Workstream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760470" y="2665095"/>
              <a:ext cx="436912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888888"/>
                  </a:solidFill>
                  <a:latin typeface="Segoe UI"/>
                  <a:ea typeface="Microsoft YaHei"/>
                  <a:cs typeface="Segoe UI"/>
                </a:rPr>
                <a:t>OWNER</a:t>
              </a:r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5514832" y="2577941"/>
              <a:ext cx="11258836" cy="334328"/>
              <a:chOff x="5514832" y="2577941"/>
              <a:chExt cx="11258836" cy="334328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5514832" y="2577941"/>
                <a:ext cx="286036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2026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5527989" y="2714149"/>
                <a:ext cx="25972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Jan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6442389" y="2714149"/>
                <a:ext cx="25972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Feb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342549" y="2714149"/>
                <a:ext cx="28820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Mar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8271189" y="2714149"/>
                <a:ext cx="25972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Apr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9171349" y="2714149"/>
                <a:ext cx="28820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May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0099989" y="2714149"/>
                <a:ext cx="25972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Jun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1032188" y="2714149"/>
                <a:ext cx="22412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Jul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1928789" y="2714149"/>
                <a:ext cx="25972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Aug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2843189" y="2714149"/>
                <a:ext cx="25972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Sep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3743349" y="2714149"/>
                <a:ext cx="28820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Oct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4671989" y="2714149"/>
                <a:ext cx="25972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Nov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5586389" y="2714149"/>
                <a:ext cx="25972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Dec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6487632" y="2577941"/>
                <a:ext cx="286036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2027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6500789" y="2714149"/>
                <a:ext cx="25972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Jan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7943850" y="2476500"/>
              <a:ext cx="8239125" cy="5715000"/>
              <a:chOff x="7943850" y="2476500"/>
              <a:chExt cx="8239125" cy="5715000"/>
            </a:xfrm>
          </p:grpSpPr>
          <p:sp>
            <p:nvSpPr>
              <p:cNvPr id="27" name="Line 27"/>
              <p:cNvSpPr/>
              <p:nvPr/>
            </p:nvSpPr>
            <p:spPr>
              <a:xfrm>
                <a:off x="7943850" y="2476500"/>
                <a:ext cx="9525" cy="5715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00">
                    <a:moveTo>
                      <a:pt x="0" y="0"/>
                    </a:moveTo>
                    <a:lnTo>
                      <a:pt x="0" y="5715000"/>
                    </a:lnTo>
                  </a:path>
                </a:pathLst>
              </a:custGeom>
              <a:noFill/>
              <a:ln w="9525">
                <a:solidFill>
                  <a:srgbClr val="555555">
                    <a:alpha val="50000"/>
                  </a:srgbClr>
                </a:solidFill>
                <a:prstDash val="sysDot"/>
              </a:ln>
            </p:spPr>
          </p:sp>
          <p:sp>
            <p:nvSpPr>
              <p:cNvPr id="28" name="Line 28"/>
              <p:cNvSpPr/>
              <p:nvPr/>
            </p:nvSpPr>
            <p:spPr>
              <a:xfrm>
                <a:off x="10687050" y="2476500"/>
                <a:ext cx="9525" cy="5715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00">
                    <a:moveTo>
                      <a:pt x="0" y="0"/>
                    </a:moveTo>
                    <a:lnTo>
                      <a:pt x="0" y="5715000"/>
                    </a:lnTo>
                  </a:path>
                </a:pathLst>
              </a:custGeom>
              <a:noFill/>
              <a:ln w="9525">
                <a:solidFill>
                  <a:srgbClr val="555555">
                    <a:alpha val="50000"/>
                  </a:srgbClr>
                </a:solidFill>
                <a:prstDash val="sysDot"/>
              </a:ln>
            </p:spPr>
          </p:sp>
          <p:sp>
            <p:nvSpPr>
              <p:cNvPr id="29" name="Line 29"/>
              <p:cNvSpPr/>
              <p:nvPr/>
            </p:nvSpPr>
            <p:spPr>
              <a:xfrm>
                <a:off x="13430250" y="2476500"/>
                <a:ext cx="9525" cy="5715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00">
                    <a:moveTo>
                      <a:pt x="0" y="0"/>
                    </a:moveTo>
                    <a:lnTo>
                      <a:pt x="0" y="5715000"/>
                    </a:lnTo>
                  </a:path>
                </a:pathLst>
              </a:custGeom>
              <a:noFill/>
              <a:ln w="9525">
                <a:solidFill>
                  <a:srgbClr val="555555">
                    <a:alpha val="50000"/>
                  </a:srgbClr>
                </a:solidFill>
                <a:prstDash val="sysDot"/>
              </a:ln>
            </p:spPr>
          </p:sp>
          <p:sp>
            <p:nvSpPr>
              <p:cNvPr id="30" name="Line 30"/>
              <p:cNvSpPr/>
              <p:nvPr/>
            </p:nvSpPr>
            <p:spPr>
              <a:xfrm>
                <a:off x="16173450" y="2476500"/>
                <a:ext cx="9525" cy="57150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5715000">
                    <a:moveTo>
                      <a:pt x="0" y="0"/>
                    </a:moveTo>
                    <a:lnTo>
                      <a:pt x="0" y="5715000"/>
                    </a:lnTo>
                  </a:path>
                </a:pathLst>
              </a:custGeom>
              <a:noFill/>
              <a:ln w="9525">
                <a:solidFill>
                  <a:srgbClr val="555555">
                    <a:alpha val="50000"/>
                  </a:srgbClr>
                </a:solidFill>
                <a:prstDash val="sysDot"/>
              </a:ln>
            </p:spPr>
          </p:sp>
        </p:grpSp>
        <p:grpSp>
          <p:nvGrpSpPr>
            <p:cNvPr id="36" name="Group 36"/>
            <p:cNvGrpSpPr/>
            <p:nvPr/>
          </p:nvGrpSpPr>
          <p:grpSpPr>
            <a:xfrm>
              <a:off x="6498515" y="2292191"/>
              <a:ext cx="8392132" cy="167640"/>
              <a:chOff x="6498515" y="2292191"/>
              <a:chExt cx="8392132" cy="167640"/>
            </a:xfrm>
          </p:grpSpPr>
          <p:sp>
            <p:nvSpPr>
              <p:cNvPr id="32" name="TextBox 32"/>
              <p:cNvSpPr txBox="1"/>
              <p:nvPr/>
            </p:nvSpPr>
            <p:spPr>
              <a:xfrm>
                <a:off x="6498515" y="2292191"/>
                <a:ext cx="147471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888888"/>
                    </a:solidFill>
                    <a:latin typeface="Segoe UI"/>
                    <a:ea typeface="Microsoft YaHei"/>
                    <a:cs typeface="Segoe UI"/>
                  </a:rPr>
                  <a:t>Q1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9226653" y="2292191"/>
                <a:ext cx="177594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888888"/>
                    </a:solidFill>
                    <a:latin typeface="Segoe UI"/>
                    <a:ea typeface="Microsoft YaHei"/>
                    <a:cs typeface="Segoe UI"/>
                  </a:rPr>
                  <a:t>Q2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11969853" y="2292191"/>
                <a:ext cx="177594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888888"/>
                    </a:solidFill>
                    <a:latin typeface="Segoe UI"/>
                    <a:ea typeface="Microsoft YaHei"/>
                    <a:cs typeface="Segoe UI"/>
                  </a:rPr>
                  <a:t>Q3</a:t>
                </a:r>
              </a:p>
            </p:txBody>
          </p:sp>
          <p:sp>
            <p:nvSpPr>
              <p:cNvPr id="35" name="TextBox 35"/>
              <p:cNvSpPr txBox="1"/>
              <p:nvPr/>
            </p:nvSpPr>
            <p:spPr>
              <a:xfrm>
                <a:off x="14713053" y="2292191"/>
                <a:ext cx="177594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888888"/>
                    </a:solidFill>
                    <a:latin typeface="Segoe UI"/>
                    <a:ea typeface="Microsoft YaHei"/>
                    <a:cs typeface="Segoe UI"/>
                  </a:rPr>
                  <a:t>Q4</a:t>
                </a:r>
              </a:p>
            </p:txBody>
          </p:sp>
        </p:grpSp>
        <p:grpSp>
          <p:nvGrpSpPr>
            <p:cNvPr id="53" name="Group 53"/>
            <p:cNvGrpSpPr/>
            <p:nvPr/>
          </p:nvGrpSpPr>
          <p:grpSpPr>
            <a:xfrm>
              <a:off x="914400" y="2952750"/>
              <a:ext cx="16459200" cy="762000"/>
              <a:chOff x="914400" y="2952750"/>
              <a:chExt cx="16459200" cy="762000"/>
            </a:xfrm>
          </p:grpSpPr>
          <p:sp>
            <p:nvSpPr>
              <p:cNvPr id="37" name="Rectangle 37"/>
              <p:cNvSpPr/>
              <p:nvPr/>
            </p:nvSpPr>
            <p:spPr>
              <a:xfrm>
                <a:off x="914400" y="2952750"/>
                <a:ext cx="16459200" cy="762000"/>
              </a:xfrm>
              <a:prstGeom prst="rect">
                <a:avLst/>
              </a:prstGeom>
              <a:solidFill>
                <a:srgbClr val="FAFAFA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1053465" y="3172778"/>
                <a:ext cx="145169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WS-01 · 方法论内核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1055370" y="3398520"/>
                <a:ext cx="135702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55555"/>
                    </a:solidFill>
                    <a:latin typeface="Segoe UI"/>
                    <a:ea typeface="Microsoft YaHei"/>
                    <a:cs typeface="Segoe UI"/>
                  </a:rPr>
                  <a:t>八阶段引擎 · 探测场景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3760470" y="3284220"/>
                <a:ext cx="43691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55555"/>
                    </a:solidFill>
                    <a:latin typeface="Segoe UI"/>
                    <a:ea typeface="Microsoft YaHei"/>
                    <a:cs typeface="Segoe UI"/>
                  </a:rPr>
                  <a:t>李 · 刘</a:t>
                </a:r>
              </a:p>
            </p:txBody>
          </p:sp>
          <p:sp>
            <p:nvSpPr>
              <p:cNvPr id="41" name="Rectangle 41"/>
              <p:cNvSpPr/>
              <p:nvPr/>
            </p:nvSpPr>
            <p:spPr>
              <a:xfrm>
                <a:off x="5200650" y="3162300"/>
                <a:ext cx="2743200" cy="133350"/>
              </a:xfrm>
              <a:prstGeom prst="rect">
                <a:avLst/>
              </a:prstGeom>
              <a:solidFill>
                <a:srgbClr val="1A1A1A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6275189" y="3186112"/>
                <a:ext cx="594122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v1.0 已锁定</a:t>
                </a:r>
              </a:p>
            </p:txBody>
          </p:sp>
          <p:sp>
            <p:nvSpPr>
              <p:cNvPr id="43" name="Rectangle 43"/>
              <p:cNvSpPr/>
              <p:nvPr/>
            </p:nvSpPr>
            <p:spPr>
              <a:xfrm>
                <a:off x="8401050" y="3162300"/>
                <a:ext cx="3200400" cy="133350"/>
              </a:xfrm>
              <a:prstGeom prst="rect">
                <a:avLst/>
              </a:prstGeom>
              <a:solidFill>
                <a:srgbClr val="1677FF"/>
              </a:solidFill>
              <a:ln>
                <a:noFill/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9602867" y="3186112"/>
                <a:ext cx="796766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v1.5 · 场景扩充</a:t>
                </a:r>
              </a:p>
            </p:txBody>
          </p:sp>
          <p:sp>
            <p:nvSpPr>
              <p:cNvPr id="45" name="Rectangle 45"/>
              <p:cNvSpPr/>
              <p:nvPr/>
            </p:nvSpPr>
            <p:spPr>
              <a:xfrm>
                <a:off x="13430250" y="3162300"/>
                <a:ext cx="2743200" cy="133350"/>
              </a:xfrm>
              <a:prstGeom prst="rect">
                <a:avLst/>
              </a:prstGeom>
              <a:solidFill>
                <a:srgbClr val="555555"/>
              </a:solidFill>
              <a:ln>
                <a:noFill/>
              </a:ln>
            </p:spPr>
          </p:sp>
          <p:sp>
            <p:nvSpPr>
              <p:cNvPr id="46" name="TextBox 46"/>
              <p:cNvSpPr txBox="1"/>
              <p:nvPr/>
            </p:nvSpPr>
            <p:spPr>
              <a:xfrm>
                <a:off x="14389775" y="3186112"/>
                <a:ext cx="824151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v2.0 · 架构升级</a:t>
                </a:r>
              </a:p>
            </p:txBody>
          </p:sp>
          <p:sp>
            <p:nvSpPr>
              <p:cNvPr id="47" name="Polygon 47"/>
              <p:cNvSpPr/>
              <p:nvPr/>
            </p:nvSpPr>
            <p:spPr>
              <a:xfrm>
                <a:off x="7848600" y="3076575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95250" y="0"/>
                    </a:moveTo>
                    <a:lnTo>
                      <a:pt x="190500" y="95250"/>
                    </a:lnTo>
                    <a:lnTo>
                      <a:pt x="95250" y="19050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1A1A1A"/>
              </a:solidFill>
              <a:ln>
                <a:noFill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7883521" y="3527584"/>
                <a:ext cx="120658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675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M1</a:t>
                </a:r>
              </a:p>
            </p:txBody>
          </p:sp>
          <p:sp>
            <p:nvSpPr>
              <p:cNvPr id="49" name="Polygon 49"/>
              <p:cNvSpPr/>
              <p:nvPr/>
            </p:nvSpPr>
            <p:spPr>
              <a:xfrm>
                <a:off x="11506200" y="3076575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95250" y="0"/>
                    </a:moveTo>
                    <a:lnTo>
                      <a:pt x="190500" y="95250"/>
                    </a:lnTo>
                    <a:lnTo>
                      <a:pt x="95250" y="19050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1677FF"/>
              </a:solidFill>
              <a:ln>
                <a:noFill/>
              </a:ln>
            </p:spPr>
          </p:sp>
          <p:sp>
            <p:nvSpPr>
              <p:cNvPr id="50" name="TextBox 50"/>
              <p:cNvSpPr txBox="1"/>
              <p:nvPr/>
            </p:nvSpPr>
            <p:spPr>
              <a:xfrm>
                <a:off x="11432679" y="3527584"/>
                <a:ext cx="337542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675" dirty="0">
                    <a:solidFill>
                      <a:srgbClr val="1677FF"/>
                    </a:solidFill>
                    <a:latin typeface="Segoe UI"/>
                    <a:ea typeface="Microsoft YaHei"/>
                    <a:cs typeface="Segoe UI"/>
                  </a:rPr>
                  <a:t>M2 ·P0</a:t>
                </a:r>
              </a:p>
            </p:txBody>
          </p:sp>
          <p:sp>
            <p:nvSpPr>
              <p:cNvPr id="51" name="Polygon 51"/>
              <p:cNvSpPr/>
              <p:nvPr/>
            </p:nvSpPr>
            <p:spPr>
              <a:xfrm>
                <a:off x="16078200" y="3076575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95250" y="0"/>
                    </a:moveTo>
                    <a:lnTo>
                      <a:pt x="190500" y="95250"/>
                    </a:lnTo>
                    <a:lnTo>
                      <a:pt x="95250" y="19050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9C2B2B"/>
              </a:solidFill>
              <a:ln>
                <a:noFill/>
              </a:ln>
            </p:spPr>
          </p:sp>
          <p:sp>
            <p:nvSpPr>
              <p:cNvPr id="52" name="TextBox 52"/>
              <p:cNvSpPr txBox="1"/>
              <p:nvPr/>
            </p:nvSpPr>
            <p:spPr>
              <a:xfrm>
                <a:off x="16014537" y="3527584"/>
                <a:ext cx="317825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675" dirty="0">
                    <a:solidFill>
                      <a:srgbClr val="9C2B2B"/>
                    </a:solidFill>
                    <a:latin typeface="Segoe UI"/>
                    <a:ea typeface="Microsoft YaHei"/>
                    <a:cs typeface="Segoe UI"/>
                  </a:rPr>
                  <a:t>v2 ·P0</a:t>
                </a:r>
              </a:p>
            </p:txBody>
          </p:sp>
        </p:grpSp>
        <p:grpSp>
          <p:nvGrpSpPr>
            <p:cNvPr id="68" name="Group 68"/>
            <p:cNvGrpSpPr/>
            <p:nvPr/>
          </p:nvGrpSpPr>
          <p:grpSpPr>
            <a:xfrm>
              <a:off x="914400" y="3714750"/>
              <a:ext cx="16459200" cy="762000"/>
              <a:chOff x="914400" y="3714750"/>
              <a:chExt cx="16459200" cy="762000"/>
            </a:xfrm>
          </p:grpSpPr>
          <p:sp>
            <p:nvSpPr>
              <p:cNvPr id="54" name="Rectangle 54"/>
              <p:cNvSpPr/>
              <p:nvPr/>
            </p:nvSpPr>
            <p:spPr>
              <a:xfrm>
                <a:off x="914400" y="3714750"/>
                <a:ext cx="16459200" cy="7620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55" name="TextBox 55"/>
              <p:cNvSpPr txBox="1"/>
              <p:nvPr/>
            </p:nvSpPr>
            <p:spPr>
              <a:xfrm>
                <a:off x="1053465" y="3934778"/>
                <a:ext cx="2023320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WS-02 · SVG → PPTX 工具链</a:t>
                </a: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1055370" y="4160520"/>
                <a:ext cx="167249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55555"/>
                    </a:solidFill>
                    <a:latin typeface="Segoe UI"/>
                    <a:ea typeface="Microsoft YaHei"/>
                    <a:cs typeface="Segoe UI"/>
                  </a:rPr>
                  <a:t>DrawingML 转换 · 画布适配</a:t>
                </a:r>
              </a:p>
            </p:txBody>
          </p:sp>
          <p:sp>
            <p:nvSpPr>
              <p:cNvPr id="57" name="TextBox 57"/>
              <p:cNvSpPr txBox="1"/>
              <p:nvPr/>
            </p:nvSpPr>
            <p:spPr>
              <a:xfrm>
                <a:off x="3760470" y="4046220"/>
                <a:ext cx="15430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55555"/>
                    </a:solidFill>
                    <a:latin typeface="Segoe UI"/>
                    <a:ea typeface="Microsoft YaHei"/>
                    <a:cs typeface="Segoe UI"/>
                  </a:rPr>
                  <a:t>王</a:t>
                </a:r>
              </a:p>
            </p:txBody>
          </p:sp>
          <p:sp>
            <p:nvSpPr>
              <p:cNvPr id="58" name="Rectangle 58"/>
              <p:cNvSpPr/>
              <p:nvPr/>
            </p:nvSpPr>
            <p:spPr>
              <a:xfrm>
                <a:off x="5200650" y="3924300"/>
                <a:ext cx="2743200" cy="133350"/>
              </a:xfrm>
              <a:prstGeom prst="rect">
                <a:avLst/>
              </a:prstGeom>
              <a:solidFill>
                <a:srgbClr val="1A1A1A"/>
              </a:solidFill>
              <a:ln>
                <a:noFill/>
              </a:ln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6261497" y="3948112"/>
                <a:ext cx="621506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v4.0 稳定版</a:t>
                </a:r>
              </a:p>
            </p:txBody>
          </p:sp>
          <p:sp>
            <p:nvSpPr>
              <p:cNvPr id="60" name="Rectangle 60"/>
              <p:cNvSpPr/>
              <p:nvPr/>
            </p:nvSpPr>
            <p:spPr>
              <a:xfrm>
                <a:off x="8401050" y="3924300"/>
                <a:ext cx="1371600" cy="133350"/>
              </a:xfrm>
              <a:prstGeom prst="rect">
                <a:avLst/>
              </a:prstGeom>
              <a:solidFill>
                <a:srgbClr val="9C2B2B"/>
              </a:solidFill>
              <a:ln>
                <a:noFill/>
              </a:ln>
            </p:spPr>
          </p:sp>
          <p:sp>
            <p:nvSpPr>
              <p:cNvPr id="61" name="TextBox 61"/>
              <p:cNvSpPr txBox="1"/>
              <p:nvPr/>
            </p:nvSpPr>
            <p:spPr>
              <a:xfrm>
                <a:off x="8789789" y="3948112"/>
                <a:ext cx="594122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v4.1 热修复</a:t>
                </a:r>
              </a:p>
            </p:txBody>
          </p:sp>
          <p:sp>
            <p:nvSpPr>
              <p:cNvPr id="62" name="Rectangle 62"/>
              <p:cNvSpPr/>
              <p:nvPr/>
            </p:nvSpPr>
            <p:spPr>
              <a:xfrm>
                <a:off x="9772650" y="3924300"/>
                <a:ext cx="3657600" cy="133350"/>
              </a:xfrm>
              <a:prstGeom prst="rect">
                <a:avLst/>
              </a:prstGeom>
              <a:solidFill>
                <a:srgbClr val="1677FF"/>
              </a:solidFill>
              <a:ln>
                <a:noFill/>
              </a:ln>
            </p:spPr>
          </p:sp>
          <p:sp>
            <p:nvSpPr>
              <p:cNvPr id="63" name="TextBox 63"/>
              <p:cNvSpPr txBox="1"/>
              <p:nvPr/>
            </p:nvSpPr>
            <p:spPr>
              <a:xfrm>
                <a:off x="11016853" y="3948112"/>
                <a:ext cx="1169194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v4.2 · 动画 / 切换支持</a:t>
                </a:r>
              </a:p>
            </p:txBody>
          </p:sp>
          <p:sp>
            <p:nvSpPr>
              <p:cNvPr id="64" name="Rectangle 64"/>
              <p:cNvSpPr/>
              <p:nvPr/>
            </p:nvSpPr>
            <p:spPr>
              <a:xfrm>
                <a:off x="13430250" y="3924300"/>
                <a:ext cx="2743200" cy="133350"/>
              </a:xfrm>
              <a:prstGeom prst="rect">
                <a:avLst/>
              </a:prstGeom>
              <a:solidFill>
                <a:srgbClr val="555555"/>
              </a:solidFill>
              <a:ln>
                <a:noFill/>
              </a:ln>
            </p:spPr>
          </p:sp>
          <p:sp>
            <p:nvSpPr>
              <p:cNvPr id="65" name="TextBox 65"/>
              <p:cNvSpPr txBox="1"/>
              <p:nvPr/>
            </p:nvSpPr>
            <p:spPr>
              <a:xfrm>
                <a:off x="14272022" y="3948112"/>
                <a:ext cx="1059656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v5.0 · Keynote 导出</a:t>
                </a:r>
              </a:p>
            </p:txBody>
          </p:sp>
          <p:sp>
            <p:nvSpPr>
              <p:cNvPr id="66" name="Polygon 66"/>
              <p:cNvSpPr/>
              <p:nvPr/>
            </p:nvSpPr>
            <p:spPr>
              <a:xfrm>
                <a:off x="8305800" y="3838575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95250" y="0"/>
                    </a:moveTo>
                    <a:lnTo>
                      <a:pt x="190500" y="95250"/>
                    </a:lnTo>
                    <a:lnTo>
                      <a:pt x="95250" y="19050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9C2B2B"/>
              </a:solidFill>
              <a:ln>
                <a:noFill/>
              </a:ln>
            </p:spPr>
          </p:sp>
          <p:sp>
            <p:nvSpPr>
              <p:cNvPr id="67" name="TextBox 67"/>
              <p:cNvSpPr txBox="1"/>
              <p:nvPr/>
            </p:nvSpPr>
            <p:spPr>
              <a:xfrm>
                <a:off x="8012930" y="4289584"/>
                <a:ext cx="776240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675" dirty="0">
                    <a:solidFill>
                      <a:srgbClr val="9C2B2B"/>
                    </a:solidFill>
                    <a:latin typeface="Segoe UI"/>
                    <a:ea typeface="Microsoft YaHei"/>
                    <a:cs typeface="Segoe UI"/>
                  </a:rPr>
                  <a:t>viewBox bug ·P0</a:t>
                </a:r>
              </a:p>
            </p:txBody>
          </p:sp>
        </p:grpSp>
        <p:grpSp>
          <p:nvGrpSpPr>
            <p:cNvPr id="80" name="Group 80"/>
            <p:cNvGrpSpPr/>
            <p:nvPr/>
          </p:nvGrpSpPr>
          <p:grpSpPr>
            <a:xfrm>
              <a:off x="914400" y="4476750"/>
              <a:ext cx="16459200" cy="762000"/>
              <a:chOff x="914400" y="4476750"/>
              <a:chExt cx="16459200" cy="762000"/>
            </a:xfrm>
          </p:grpSpPr>
          <p:sp>
            <p:nvSpPr>
              <p:cNvPr id="69" name="Rectangle 69"/>
              <p:cNvSpPr/>
              <p:nvPr/>
            </p:nvSpPr>
            <p:spPr>
              <a:xfrm>
                <a:off x="914400" y="4476750"/>
                <a:ext cx="16459200" cy="762000"/>
              </a:xfrm>
              <a:prstGeom prst="rect">
                <a:avLst/>
              </a:prstGeom>
              <a:solidFill>
                <a:srgbClr val="FAFAFA"/>
              </a:solidFill>
              <a:ln>
                <a:noFill/>
              </a:ln>
            </p:spPr>
          </p:sp>
          <p:sp>
            <p:nvSpPr>
              <p:cNvPr id="70" name="TextBox 70"/>
              <p:cNvSpPr txBox="1"/>
              <p:nvPr/>
            </p:nvSpPr>
            <p:spPr>
              <a:xfrm>
                <a:off x="1053465" y="4696778"/>
                <a:ext cx="165297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WS-03 · 品牌规范治理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1055370" y="4922520"/>
                <a:ext cx="1909096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55555"/>
                    </a:solidFill>
                    <a:latin typeface="Segoe UI"/>
                    <a:ea typeface="Microsoft YaHei"/>
                    <a:cs typeface="Segoe UI"/>
                  </a:rPr>
                  <a:t>四轨道 · token 体系 · 禁用清单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3760470" y="4808220"/>
                <a:ext cx="15430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55555"/>
                    </a:solidFill>
                    <a:latin typeface="Segoe UI"/>
                    <a:ea typeface="Microsoft YaHei"/>
                    <a:cs typeface="Segoe UI"/>
                  </a:rPr>
                  <a:t>周</a:t>
                </a:r>
              </a:p>
            </p:txBody>
          </p:sp>
          <p:sp>
            <p:nvSpPr>
              <p:cNvPr id="73" name="Rectangle 73"/>
              <p:cNvSpPr/>
              <p:nvPr/>
            </p:nvSpPr>
            <p:spPr>
              <a:xfrm>
                <a:off x="5200650" y="4686300"/>
                <a:ext cx="5486400" cy="133350"/>
              </a:xfrm>
              <a:prstGeom prst="rect">
                <a:avLst/>
              </a:prstGeom>
              <a:solidFill>
                <a:srgbClr val="1A1A1A"/>
              </a:solidFill>
              <a:ln>
                <a:noFill/>
              </a:ln>
            </p:spPr>
          </p:sp>
          <p:sp>
            <p:nvSpPr>
              <p:cNvPr id="74" name="TextBox 74"/>
              <p:cNvSpPr txBox="1"/>
              <p:nvPr/>
            </p:nvSpPr>
            <p:spPr>
              <a:xfrm>
                <a:off x="7353776" y="4710112"/>
                <a:ext cx="1180148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V2.0 规范锁定(已完成)</a:t>
                </a:r>
              </a:p>
            </p:txBody>
          </p:sp>
          <p:sp>
            <p:nvSpPr>
              <p:cNvPr id="75" name="Rectangle 75"/>
              <p:cNvSpPr/>
              <p:nvPr/>
            </p:nvSpPr>
            <p:spPr>
              <a:xfrm>
                <a:off x="10687050" y="4686300"/>
                <a:ext cx="5486400" cy="133350"/>
              </a:xfrm>
              <a:prstGeom prst="rect">
                <a:avLst/>
              </a:prstGeom>
              <a:solidFill>
                <a:srgbClr val="1677FF">
                  <a:alpha val="30000"/>
                </a:srgbClr>
              </a:solidFill>
              <a:ln>
                <a:noFill/>
              </a:ln>
            </p:spPr>
          </p:sp>
          <p:sp>
            <p:nvSpPr>
              <p:cNvPr id="76" name="Rectangle 76"/>
              <p:cNvSpPr/>
              <p:nvPr/>
            </p:nvSpPr>
            <p:spPr>
              <a:xfrm>
                <a:off x="10687050" y="4686300"/>
                <a:ext cx="5486400" cy="133350"/>
              </a:xfrm>
              <a:prstGeom prst="rect">
                <a:avLst/>
              </a:prstGeom>
              <a:noFill/>
              <a:ln w="9525">
                <a:solidFill>
                  <a:srgbClr val="1677FF"/>
                </a:solidFill>
                <a:custDash>
                  <a:ds d="300000" sp="200000"/>
                </a:custDash>
              </a:ln>
            </p:spPr>
          </p:sp>
          <p:sp>
            <p:nvSpPr>
              <p:cNvPr id="77" name="TextBox 77"/>
              <p:cNvSpPr txBox="1"/>
              <p:nvPr/>
            </p:nvSpPr>
            <p:spPr>
              <a:xfrm>
                <a:off x="12752546" y="4710112"/>
                <a:ext cx="1355407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dirty="0">
                    <a:solidFill>
                      <a:srgbClr val="1677FF"/>
                    </a:solidFill>
                    <a:latin typeface="Segoe UI"/>
                    <a:ea typeface="Microsoft YaHei"/>
                    <a:cs typeface="Segoe UI"/>
                  </a:rPr>
                  <a:t>V2.1 · 国际化扩展(英日韩)</a:t>
                </a:r>
              </a:p>
            </p:txBody>
          </p:sp>
          <p:sp>
            <p:nvSpPr>
              <p:cNvPr id="78" name="Polygon 78"/>
              <p:cNvSpPr/>
              <p:nvPr/>
            </p:nvSpPr>
            <p:spPr>
              <a:xfrm>
                <a:off x="10591800" y="4600575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95250" y="0"/>
                    </a:moveTo>
                    <a:lnTo>
                      <a:pt x="190500" y="95250"/>
                    </a:lnTo>
                    <a:lnTo>
                      <a:pt x="95250" y="19050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1677FF"/>
              </a:solidFill>
              <a:ln>
                <a:noFill/>
              </a:ln>
            </p:spPr>
          </p:sp>
          <p:sp>
            <p:nvSpPr>
              <p:cNvPr id="79" name="TextBox 79"/>
              <p:cNvSpPr txBox="1"/>
              <p:nvPr/>
            </p:nvSpPr>
            <p:spPr>
              <a:xfrm>
                <a:off x="10385191" y="5051584"/>
                <a:ext cx="603718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675" dirty="0">
                    <a:solidFill>
                      <a:srgbClr val="1677FF"/>
                    </a:solidFill>
                    <a:latin typeface="Segoe UI"/>
                    <a:ea typeface="Microsoft YaHei"/>
                    <a:cs typeface="Segoe UI"/>
                  </a:rPr>
                  <a:t>V2.1 启动 ·P1</a:t>
                </a:r>
              </a:p>
            </p:txBody>
          </p:sp>
        </p:grpSp>
        <p:grpSp>
          <p:nvGrpSpPr>
            <p:cNvPr id="97" name="Group 97"/>
            <p:cNvGrpSpPr/>
            <p:nvPr/>
          </p:nvGrpSpPr>
          <p:grpSpPr>
            <a:xfrm>
              <a:off x="914400" y="5238750"/>
              <a:ext cx="16459200" cy="762000"/>
              <a:chOff x="914400" y="5238750"/>
              <a:chExt cx="16459200" cy="762000"/>
            </a:xfrm>
          </p:grpSpPr>
          <p:sp>
            <p:nvSpPr>
              <p:cNvPr id="81" name="Rectangle 81"/>
              <p:cNvSpPr/>
              <p:nvPr/>
            </p:nvSpPr>
            <p:spPr>
              <a:xfrm>
                <a:off x="914400" y="5238750"/>
                <a:ext cx="16459200" cy="7620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82" name="TextBox 82"/>
              <p:cNvSpPr txBox="1"/>
              <p:nvPr/>
            </p:nvSpPr>
            <p:spPr>
              <a:xfrm>
                <a:off x="1053465" y="5458778"/>
                <a:ext cx="149195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WS-04 · 试点与推广</a:t>
                </a:r>
              </a:p>
            </p:txBody>
          </p:sp>
          <p:sp>
            <p:nvSpPr>
              <p:cNvPr id="83" name="TextBox 83"/>
              <p:cNvSpPr txBox="1"/>
              <p:nvPr/>
            </p:nvSpPr>
            <p:spPr>
              <a:xfrm>
                <a:off x="1055370" y="5684520"/>
                <a:ext cx="1113853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55555"/>
                    </a:solidFill>
                    <a:latin typeface="Segoe UI"/>
                    <a:ea typeface="Microsoft YaHei"/>
                    <a:cs typeface="Segoe UI"/>
                  </a:rPr>
                  <a:t>华东 → 华北 → 全员</a:t>
                </a:r>
              </a:p>
            </p:txBody>
          </p:sp>
          <p:sp>
            <p:nvSpPr>
              <p:cNvPr id="84" name="TextBox 84"/>
              <p:cNvSpPr txBox="1"/>
              <p:nvPr/>
            </p:nvSpPr>
            <p:spPr>
              <a:xfrm>
                <a:off x="3760470" y="5570220"/>
                <a:ext cx="15430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55555"/>
                    </a:solidFill>
                    <a:latin typeface="Segoe UI"/>
                    <a:ea typeface="Microsoft YaHei"/>
                    <a:cs typeface="Segoe UI"/>
                  </a:rPr>
                  <a:t>陈</a:t>
                </a:r>
              </a:p>
            </p:txBody>
          </p:sp>
          <p:sp>
            <p:nvSpPr>
              <p:cNvPr id="85" name="Rectangle 85"/>
              <p:cNvSpPr/>
              <p:nvPr/>
            </p:nvSpPr>
            <p:spPr>
              <a:xfrm>
                <a:off x="8401050" y="5448300"/>
                <a:ext cx="2286000" cy="133350"/>
              </a:xfrm>
              <a:prstGeom prst="rect">
                <a:avLst/>
              </a:prstGeom>
              <a:solidFill>
                <a:srgbClr val="1677FF"/>
              </a:solidFill>
              <a:ln>
                <a:noFill/>
              </a:ln>
            </p:spPr>
          </p:sp>
          <p:sp>
            <p:nvSpPr>
              <p:cNvPr id="86" name="TextBox 86"/>
              <p:cNvSpPr txBox="1"/>
              <p:nvPr/>
            </p:nvSpPr>
            <p:spPr>
              <a:xfrm>
                <a:off x="9110067" y="5472112"/>
                <a:ext cx="867966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阶段 1 · 华东试点</a:t>
                </a:r>
              </a:p>
            </p:txBody>
          </p:sp>
          <p:sp>
            <p:nvSpPr>
              <p:cNvPr id="87" name="Rectangle 87"/>
              <p:cNvSpPr/>
              <p:nvPr/>
            </p:nvSpPr>
            <p:spPr>
              <a:xfrm>
                <a:off x="10687050" y="5448300"/>
                <a:ext cx="2743200" cy="133350"/>
              </a:xfrm>
              <a:prstGeom prst="rect">
                <a:avLst/>
              </a:prstGeom>
              <a:solidFill>
                <a:srgbClr val="1677FF"/>
              </a:solidFill>
              <a:ln>
                <a:noFill/>
              </a:ln>
            </p:spPr>
          </p:sp>
          <p:sp>
            <p:nvSpPr>
              <p:cNvPr id="88" name="TextBox 88"/>
              <p:cNvSpPr txBox="1"/>
              <p:nvPr/>
            </p:nvSpPr>
            <p:spPr>
              <a:xfrm>
                <a:off x="11547991" y="5472112"/>
                <a:ext cx="1021318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阶段 2 · 华东 + 华北</a:t>
                </a:r>
              </a:p>
            </p:txBody>
          </p:sp>
          <p:sp>
            <p:nvSpPr>
              <p:cNvPr id="89" name="Rectangle 89"/>
              <p:cNvSpPr/>
              <p:nvPr/>
            </p:nvSpPr>
            <p:spPr>
              <a:xfrm>
                <a:off x="13430250" y="5448300"/>
                <a:ext cx="2743200" cy="133350"/>
              </a:xfrm>
              <a:prstGeom prst="rect">
                <a:avLst/>
              </a:prstGeom>
              <a:solidFill>
                <a:srgbClr val="555555"/>
              </a:solidFill>
              <a:ln>
                <a:noFill/>
              </a:ln>
            </p:spPr>
          </p:sp>
          <p:sp>
            <p:nvSpPr>
              <p:cNvPr id="90" name="TextBox 90"/>
              <p:cNvSpPr txBox="1"/>
              <p:nvPr/>
            </p:nvSpPr>
            <p:spPr>
              <a:xfrm>
                <a:off x="14354175" y="5472112"/>
                <a:ext cx="89535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dirty="0">
                    <a:solidFill>
                      <a:srgbClr val="FFFFFF"/>
                    </a:solidFill>
                    <a:latin typeface="Segoe UI"/>
                    <a:ea typeface="Microsoft YaHei"/>
                    <a:cs typeface="Segoe UI"/>
                  </a:rPr>
                  <a:t>阶段 3 · 全员切换</a:t>
                </a:r>
              </a:p>
            </p:txBody>
          </p:sp>
          <p:sp>
            <p:nvSpPr>
              <p:cNvPr id="91" name="Polygon 91"/>
              <p:cNvSpPr/>
              <p:nvPr/>
            </p:nvSpPr>
            <p:spPr>
              <a:xfrm>
                <a:off x="8305800" y="5362575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95250" y="0"/>
                    </a:moveTo>
                    <a:lnTo>
                      <a:pt x="190500" y="95250"/>
                    </a:lnTo>
                    <a:lnTo>
                      <a:pt x="95250" y="19050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1677FF"/>
              </a:solidFill>
              <a:ln>
                <a:noFill/>
              </a:ln>
            </p:spPr>
          </p:sp>
          <p:sp>
            <p:nvSpPr>
              <p:cNvPr id="92" name="TextBox 92"/>
              <p:cNvSpPr txBox="1"/>
              <p:nvPr/>
            </p:nvSpPr>
            <p:spPr>
              <a:xfrm>
                <a:off x="8197775" y="5813584"/>
                <a:ext cx="406551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675" dirty="0">
                    <a:solidFill>
                      <a:srgbClr val="1677FF"/>
                    </a:solidFill>
                    <a:latin typeface="Segoe UI"/>
                    <a:ea typeface="Microsoft YaHei"/>
                    <a:cs typeface="Segoe UI"/>
                  </a:rPr>
                  <a:t>启动 ·P0</a:t>
                </a:r>
              </a:p>
            </p:txBody>
          </p:sp>
          <p:sp>
            <p:nvSpPr>
              <p:cNvPr id="93" name="Polygon 93"/>
              <p:cNvSpPr/>
              <p:nvPr/>
            </p:nvSpPr>
            <p:spPr>
              <a:xfrm>
                <a:off x="10591800" y="5362575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95250" y="0"/>
                    </a:moveTo>
                    <a:lnTo>
                      <a:pt x="190500" y="95250"/>
                    </a:lnTo>
                    <a:lnTo>
                      <a:pt x="95250" y="19050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1A1A1A"/>
              </a:solidFill>
              <a:ln>
                <a:noFill/>
              </a:ln>
            </p:spPr>
          </p:sp>
          <p:sp>
            <p:nvSpPr>
              <p:cNvPr id="94" name="TextBox 94"/>
              <p:cNvSpPr txBox="1"/>
              <p:nvPr/>
            </p:nvSpPr>
            <p:spPr>
              <a:xfrm>
                <a:off x="10496098" y="5813584"/>
                <a:ext cx="381905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675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KPI 评审</a:t>
                </a:r>
              </a:p>
            </p:txBody>
          </p:sp>
          <p:sp>
            <p:nvSpPr>
              <p:cNvPr id="95" name="Polygon 95"/>
              <p:cNvSpPr/>
              <p:nvPr/>
            </p:nvSpPr>
            <p:spPr>
              <a:xfrm>
                <a:off x="16078200" y="5362575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95250" y="0"/>
                    </a:moveTo>
                    <a:lnTo>
                      <a:pt x="190500" y="95250"/>
                    </a:lnTo>
                    <a:lnTo>
                      <a:pt x="95250" y="19050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9C2B2B"/>
              </a:solidFill>
              <a:ln>
                <a:noFill/>
              </a:ln>
            </p:spPr>
          </p:sp>
          <p:sp>
            <p:nvSpPr>
              <p:cNvPr id="96" name="TextBox 96"/>
              <p:cNvSpPr txBox="1"/>
              <p:nvPr/>
            </p:nvSpPr>
            <p:spPr>
              <a:xfrm>
                <a:off x="15871591" y="5813584"/>
                <a:ext cx="603718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675" dirty="0">
                    <a:solidFill>
                      <a:srgbClr val="9C2B2B"/>
                    </a:solidFill>
                    <a:latin typeface="Segoe UI"/>
                    <a:ea typeface="Microsoft YaHei"/>
                    <a:cs typeface="Segoe UI"/>
                  </a:rPr>
                  <a:t>全员上线 ·P0</a:t>
                </a:r>
              </a:p>
            </p:txBody>
          </p:sp>
        </p:grpSp>
        <p:grpSp>
          <p:nvGrpSpPr>
            <p:cNvPr id="110" name="Group 110"/>
            <p:cNvGrpSpPr/>
            <p:nvPr/>
          </p:nvGrpSpPr>
          <p:grpSpPr>
            <a:xfrm>
              <a:off x="914400" y="6000750"/>
              <a:ext cx="16459200" cy="762000"/>
              <a:chOff x="914400" y="6000750"/>
              <a:chExt cx="16459200" cy="762000"/>
            </a:xfrm>
          </p:grpSpPr>
          <p:sp>
            <p:nvSpPr>
              <p:cNvPr id="98" name="Rectangle 98"/>
              <p:cNvSpPr/>
              <p:nvPr/>
            </p:nvSpPr>
            <p:spPr>
              <a:xfrm>
                <a:off x="914400" y="6000750"/>
                <a:ext cx="16459200" cy="762000"/>
              </a:xfrm>
              <a:prstGeom prst="rect">
                <a:avLst/>
              </a:prstGeom>
              <a:solidFill>
                <a:srgbClr val="FAFAFA"/>
              </a:solidFill>
              <a:ln>
                <a:noFill/>
              </a:ln>
            </p:spPr>
          </p:sp>
          <p:sp>
            <p:nvSpPr>
              <p:cNvPr id="99" name="TextBox 99"/>
              <p:cNvSpPr txBox="1"/>
              <p:nvPr/>
            </p:nvSpPr>
            <p:spPr>
              <a:xfrm>
                <a:off x="1053465" y="6220778"/>
                <a:ext cx="149195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WS-05 · 生态与社区</a:t>
                </a:r>
              </a:p>
            </p:txBody>
          </p:sp>
          <p:sp>
            <p:nvSpPr>
              <p:cNvPr id="100" name="TextBox 100"/>
              <p:cNvSpPr txBox="1"/>
              <p:nvPr/>
            </p:nvSpPr>
            <p:spPr>
              <a:xfrm>
                <a:off x="1055370" y="6446520"/>
                <a:ext cx="137674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55555"/>
                    </a:solidFill>
                    <a:latin typeface="Segoe UI"/>
                    <a:ea typeface="Microsoft YaHei"/>
                    <a:cs typeface="Segoe UI"/>
                  </a:rPr>
                  <a:t>开源 · 文档 · 外部案例</a:t>
                </a:r>
              </a:p>
            </p:txBody>
          </p:sp>
          <p:sp>
            <p:nvSpPr>
              <p:cNvPr id="101" name="TextBox 101"/>
              <p:cNvSpPr txBox="1"/>
              <p:nvPr/>
            </p:nvSpPr>
            <p:spPr>
              <a:xfrm>
                <a:off x="3760470" y="6332220"/>
                <a:ext cx="15430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55555"/>
                    </a:solidFill>
                    <a:latin typeface="Segoe UI"/>
                    <a:ea typeface="Microsoft YaHei"/>
                    <a:cs typeface="Segoe UI"/>
                  </a:rPr>
                  <a:t>李</a:t>
                </a:r>
              </a:p>
            </p:txBody>
          </p:sp>
          <p:sp>
            <p:nvSpPr>
              <p:cNvPr id="102" name="Rectangle 102"/>
              <p:cNvSpPr/>
              <p:nvPr/>
            </p:nvSpPr>
            <p:spPr>
              <a:xfrm>
                <a:off x="8401050" y="6210300"/>
                <a:ext cx="2743200" cy="13335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555555"/>
                </a:solidFill>
                <a:custDash>
                  <a:ds d="300000" sp="200000"/>
                </a:custDash>
              </a:ln>
            </p:spPr>
          </p:sp>
          <p:sp>
            <p:nvSpPr>
              <p:cNvPr id="103" name="TextBox 103"/>
              <p:cNvSpPr txBox="1"/>
              <p:nvPr/>
            </p:nvSpPr>
            <p:spPr>
              <a:xfrm>
                <a:off x="9188053" y="6234112"/>
                <a:ext cx="1169194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dirty="0">
                    <a:solidFill>
                      <a:srgbClr val="555555"/>
                    </a:solidFill>
                    <a:latin typeface="Segoe UI"/>
                    <a:ea typeface="Microsoft YaHei"/>
                    <a:cs typeface="Segoe UI"/>
                  </a:rPr>
                  <a:t>GitHub 开源 · 文档完善</a:t>
                </a:r>
              </a:p>
            </p:txBody>
          </p:sp>
          <p:sp>
            <p:nvSpPr>
              <p:cNvPr id="104" name="Rectangle 104"/>
              <p:cNvSpPr/>
              <p:nvPr/>
            </p:nvSpPr>
            <p:spPr>
              <a:xfrm>
                <a:off x="11144250" y="6210300"/>
                <a:ext cx="2286000" cy="13335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555555"/>
                </a:solidFill>
                <a:custDash>
                  <a:ds d="300000" sp="200000"/>
                </a:custDash>
              </a:ln>
            </p:spPr>
          </p:sp>
          <p:sp>
            <p:nvSpPr>
              <p:cNvPr id="105" name="TextBox 105"/>
              <p:cNvSpPr txBox="1"/>
              <p:nvPr/>
            </p:nvSpPr>
            <p:spPr>
              <a:xfrm>
                <a:off x="11771114" y="6234112"/>
                <a:ext cx="1032272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dirty="0">
                    <a:solidFill>
                      <a:srgbClr val="555555"/>
                    </a:solidFill>
                    <a:latin typeface="Segoe UI"/>
                    <a:ea typeface="Microsoft YaHei"/>
                    <a:cs typeface="Segoe UI"/>
                  </a:rPr>
                  <a:t>外部案例征集(10 家)</a:t>
                </a:r>
              </a:p>
            </p:txBody>
          </p:sp>
          <p:sp>
            <p:nvSpPr>
              <p:cNvPr id="106" name="Rectangle 106"/>
              <p:cNvSpPr/>
              <p:nvPr/>
            </p:nvSpPr>
            <p:spPr>
              <a:xfrm>
                <a:off x="13430250" y="6210300"/>
                <a:ext cx="2743200" cy="13335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555555"/>
                </a:solidFill>
                <a:custDash>
                  <a:ds d="300000" sp="200000"/>
                </a:custDash>
              </a:ln>
            </p:spPr>
          </p:sp>
          <p:sp>
            <p:nvSpPr>
              <p:cNvPr id="107" name="TextBox 107"/>
              <p:cNvSpPr txBox="1"/>
              <p:nvPr/>
            </p:nvSpPr>
            <p:spPr>
              <a:xfrm>
                <a:off x="14354175" y="6234112"/>
                <a:ext cx="895350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dirty="0">
                    <a:solidFill>
                      <a:srgbClr val="555555"/>
                    </a:solidFill>
                    <a:latin typeface="Segoe UI"/>
                    <a:ea typeface="Microsoft YaHei"/>
                    <a:cs typeface="Segoe UI"/>
                  </a:rPr>
                  <a:t>生态合作伙伴计划</a:t>
                </a:r>
              </a:p>
            </p:txBody>
          </p:sp>
          <p:sp>
            <p:nvSpPr>
              <p:cNvPr id="108" name="Polygon 108"/>
              <p:cNvSpPr/>
              <p:nvPr/>
            </p:nvSpPr>
            <p:spPr>
              <a:xfrm>
                <a:off x="8305800" y="6124575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95250" y="0"/>
                    </a:moveTo>
                    <a:lnTo>
                      <a:pt x="190500" y="95250"/>
                    </a:lnTo>
                    <a:lnTo>
                      <a:pt x="95250" y="19050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1A1A1A"/>
              </a:solidFill>
              <a:ln>
                <a:noFill/>
              </a:ln>
            </p:spPr>
          </p:sp>
          <p:sp>
            <p:nvSpPr>
              <p:cNvPr id="109" name="TextBox 109"/>
              <p:cNvSpPr txBox="1"/>
              <p:nvPr/>
            </p:nvSpPr>
            <p:spPr>
              <a:xfrm>
                <a:off x="8158341" y="6575584"/>
                <a:ext cx="485418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675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Release v1</a:t>
                </a:r>
              </a:p>
            </p:txBody>
          </p:sp>
        </p:grpSp>
        <p:grpSp>
          <p:nvGrpSpPr>
            <p:cNvPr id="125" name="Group 125"/>
            <p:cNvGrpSpPr/>
            <p:nvPr/>
          </p:nvGrpSpPr>
          <p:grpSpPr>
            <a:xfrm>
              <a:off x="914400" y="6762750"/>
              <a:ext cx="16459200" cy="762000"/>
              <a:chOff x="914400" y="6762750"/>
              <a:chExt cx="16459200" cy="762000"/>
            </a:xfrm>
          </p:grpSpPr>
          <p:sp>
            <p:nvSpPr>
              <p:cNvPr id="111" name="Rectangle 111"/>
              <p:cNvSpPr/>
              <p:nvPr/>
            </p:nvSpPr>
            <p:spPr>
              <a:xfrm>
                <a:off x="914400" y="6762750"/>
                <a:ext cx="16459200" cy="76200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</p:sp>
          <p:sp>
            <p:nvSpPr>
              <p:cNvPr id="112" name="TextBox 112"/>
              <p:cNvSpPr txBox="1"/>
              <p:nvPr/>
            </p:nvSpPr>
            <p:spPr>
              <a:xfrm>
                <a:off x="1053465" y="6982778"/>
                <a:ext cx="1491953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WS-06 · 质量与合规</a:t>
                </a:r>
              </a:p>
            </p:txBody>
          </p:sp>
          <p:sp>
            <p:nvSpPr>
              <p:cNvPr id="113" name="TextBox 113"/>
              <p:cNvSpPr txBox="1"/>
              <p:nvPr/>
            </p:nvSpPr>
            <p:spPr>
              <a:xfrm>
                <a:off x="1055370" y="7208520"/>
                <a:ext cx="184994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55555"/>
                    </a:solidFill>
                    <a:latin typeface="Segoe UI"/>
                    <a:ea typeface="Microsoft YaHei"/>
                    <a:cs typeface="Segoe UI"/>
                  </a:rPr>
                  <a:t>QC 体系 · 安全审计 · 合规评审</a:t>
                </a:r>
              </a:p>
            </p:txBody>
          </p:sp>
          <p:sp>
            <p:nvSpPr>
              <p:cNvPr id="114" name="TextBox 114"/>
              <p:cNvSpPr txBox="1"/>
              <p:nvPr/>
            </p:nvSpPr>
            <p:spPr>
              <a:xfrm>
                <a:off x="3760470" y="7094220"/>
                <a:ext cx="15430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555555"/>
                    </a:solidFill>
                    <a:latin typeface="Segoe UI"/>
                    <a:ea typeface="Microsoft YaHei"/>
                    <a:cs typeface="Segoe UI"/>
                  </a:rPr>
                  <a:t>赵</a:t>
                </a:r>
              </a:p>
            </p:txBody>
          </p:sp>
          <p:sp>
            <p:nvSpPr>
              <p:cNvPr id="115" name="Rectangle 115"/>
              <p:cNvSpPr/>
              <p:nvPr/>
            </p:nvSpPr>
            <p:spPr>
              <a:xfrm>
                <a:off x="5200650" y="6972300"/>
                <a:ext cx="10972800" cy="13335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555555"/>
                </a:solidFill>
                <a:custDash>
                  <a:ds d="300000" sp="200000"/>
                </a:custDash>
              </a:ln>
            </p:spPr>
          </p:sp>
          <p:sp>
            <p:nvSpPr>
              <p:cNvPr id="116" name="TextBox 116"/>
              <p:cNvSpPr txBox="1"/>
              <p:nvPr/>
            </p:nvSpPr>
            <p:spPr>
              <a:xfrm>
                <a:off x="9957316" y="6996112"/>
                <a:ext cx="1459468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dirty="0">
                    <a:solidFill>
                      <a:srgbClr val="555555"/>
                    </a:solidFill>
                    <a:latin typeface="Segoe UI"/>
                    <a:ea typeface="Microsoft YaHei"/>
                    <a:cs typeface="Segoe UI"/>
                  </a:rPr>
                  <a:t>持续进行 · 每月一次合规评审</a:t>
                </a:r>
              </a:p>
            </p:txBody>
          </p:sp>
          <p:sp>
            <p:nvSpPr>
              <p:cNvPr id="117" name="Polygon 117"/>
              <p:cNvSpPr/>
              <p:nvPr/>
            </p:nvSpPr>
            <p:spPr>
              <a:xfrm>
                <a:off x="7848600" y="6886575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95250" y="0"/>
                    </a:moveTo>
                    <a:lnTo>
                      <a:pt x="190500" y="95250"/>
                    </a:lnTo>
                    <a:lnTo>
                      <a:pt x="95250" y="19050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1A1A1A"/>
              </a:solidFill>
              <a:ln>
                <a:noFill/>
              </a:ln>
            </p:spPr>
          </p:sp>
          <p:sp>
            <p:nvSpPr>
              <p:cNvPr id="118" name="TextBox 118"/>
              <p:cNvSpPr txBox="1"/>
              <p:nvPr/>
            </p:nvSpPr>
            <p:spPr>
              <a:xfrm>
                <a:off x="7770150" y="7337584"/>
                <a:ext cx="347401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675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Q1 评审</a:t>
                </a:r>
              </a:p>
            </p:txBody>
          </p:sp>
          <p:sp>
            <p:nvSpPr>
              <p:cNvPr id="119" name="Polygon 119"/>
              <p:cNvSpPr/>
              <p:nvPr/>
            </p:nvSpPr>
            <p:spPr>
              <a:xfrm>
                <a:off x="10591800" y="6886575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95250" y="0"/>
                    </a:moveTo>
                    <a:lnTo>
                      <a:pt x="190500" y="95250"/>
                    </a:lnTo>
                    <a:lnTo>
                      <a:pt x="95250" y="19050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1A1A1A"/>
              </a:solidFill>
              <a:ln>
                <a:noFill/>
              </a:ln>
            </p:spPr>
          </p:sp>
          <p:sp>
            <p:nvSpPr>
              <p:cNvPr id="120" name="TextBox 120"/>
              <p:cNvSpPr txBox="1"/>
              <p:nvPr/>
            </p:nvSpPr>
            <p:spPr>
              <a:xfrm>
                <a:off x="10501027" y="7337584"/>
                <a:ext cx="372046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675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Q2 评审</a:t>
                </a:r>
              </a:p>
            </p:txBody>
          </p:sp>
          <p:sp>
            <p:nvSpPr>
              <p:cNvPr id="121" name="Polygon 121"/>
              <p:cNvSpPr/>
              <p:nvPr/>
            </p:nvSpPr>
            <p:spPr>
              <a:xfrm>
                <a:off x="13335000" y="6886575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95250" y="0"/>
                    </a:moveTo>
                    <a:lnTo>
                      <a:pt x="190500" y="95250"/>
                    </a:lnTo>
                    <a:lnTo>
                      <a:pt x="95250" y="19050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1A1A1A"/>
              </a:solidFill>
              <a:ln>
                <a:noFill/>
              </a:ln>
            </p:spPr>
          </p:sp>
          <p:sp>
            <p:nvSpPr>
              <p:cNvPr id="122" name="TextBox 122"/>
              <p:cNvSpPr txBox="1"/>
              <p:nvPr/>
            </p:nvSpPr>
            <p:spPr>
              <a:xfrm>
                <a:off x="13244227" y="7337584"/>
                <a:ext cx="372046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675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Q3 评审</a:t>
                </a:r>
              </a:p>
            </p:txBody>
          </p:sp>
          <p:sp>
            <p:nvSpPr>
              <p:cNvPr id="123" name="Polygon 123"/>
              <p:cNvSpPr/>
              <p:nvPr/>
            </p:nvSpPr>
            <p:spPr>
              <a:xfrm>
                <a:off x="16078200" y="6886575"/>
                <a:ext cx="190500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90500">
                    <a:moveTo>
                      <a:pt x="95250" y="0"/>
                    </a:moveTo>
                    <a:lnTo>
                      <a:pt x="190500" y="95250"/>
                    </a:lnTo>
                    <a:lnTo>
                      <a:pt x="95250" y="190500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rgbClr val="1A1A1A"/>
              </a:solidFill>
              <a:ln>
                <a:noFill/>
              </a:ln>
            </p:spPr>
          </p:sp>
          <p:sp>
            <p:nvSpPr>
              <p:cNvPr id="124" name="TextBox 124"/>
              <p:cNvSpPr txBox="1"/>
              <p:nvPr/>
            </p:nvSpPr>
            <p:spPr>
              <a:xfrm>
                <a:off x="15987427" y="7337584"/>
                <a:ext cx="372046" cy="1371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675" dirty="0">
                    <a:solidFill>
                      <a:srgbClr val="1A1A1A"/>
                    </a:solidFill>
                    <a:latin typeface="Segoe UI"/>
                    <a:ea typeface="Microsoft YaHei"/>
                    <a:cs typeface="Segoe UI"/>
                  </a:rPr>
                  <a:t>Q4 评审</a:t>
                </a:r>
              </a:p>
            </p:txBody>
          </p:sp>
        </p:grpSp>
        <p:grpSp>
          <p:nvGrpSpPr>
            <p:cNvPr id="129" name="Group 129"/>
            <p:cNvGrpSpPr/>
            <p:nvPr/>
          </p:nvGrpSpPr>
          <p:grpSpPr>
            <a:xfrm>
              <a:off x="7783297" y="2952750"/>
              <a:ext cx="1235507" cy="4936331"/>
              <a:chOff x="7783297" y="2952750"/>
              <a:chExt cx="1235507" cy="4936331"/>
            </a:xfrm>
          </p:grpSpPr>
          <p:sp>
            <p:nvSpPr>
              <p:cNvPr id="126" name="Line 126"/>
              <p:cNvSpPr/>
              <p:nvPr/>
            </p:nvSpPr>
            <p:spPr>
              <a:xfrm>
                <a:off x="8401050" y="2952750"/>
                <a:ext cx="9525" cy="4667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667250">
                    <a:moveTo>
                      <a:pt x="0" y="0"/>
                    </a:moveTo>
                    <a:lnTo>
                      <a:pt x="0" y="4667250"/>
                    </a:lnTo>
                  </a:path>
                </a:pathLst>
              </a:custGeom>
              <a:noFill/>
              <a:ln w="19050">
                <a:solidFill>
                  <a:srgbClr val="9C2B2B"/>
                </a:solidFill>
              </a:ln>
            </p:spPr>
          </p:sp>
          <p:sp>
            <p:nvSpPr>
              <p:cNvPr id="127" name="Ellipse 127"/>
              <p:cNvSpPr/>
              <p:nvPr/>
            </p:nvSpPr>
            <p:spPr>
              <a:xfrm>
                <a:off x="8362950" y="7581900"/>
                <a:ext cx="76200" cy="76200"/>
              </a:xfrm>
              <a:prstGeom prst="ellipse">
                <a:avLst/>
              </a:prstGeom>
              <a:solidFill>
                <a:srgbClr val="9C2B2B"/>
              </a:solidFill>
              <a:ln>
                <a:noFill/>
              </a:ln>
            </p:spPr>
          </p:sp>
          <p:sp>
            <p:nvSpPr>
              <p:cNvPr id="128" name="TextBox 128"/>
              <p:cNvSpPr txBox="1"/>
              <p:nvPr/>
            </p:nvSpPr>
            <p:spPr>
              <a:xfrm>
                <a:off x="7783297" y="7721441"/>
                <a:ext cx="1235507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9C2B2B"/>
                    </a:solidFill>
                    <a:latin typeface="Segoe UI"/>
                    <a:ea typeface="Microsoft YaHei"/>
                    <a:cs typeface="Segoe UI"/>
                  </a:rPr>
                  <a:t>TODAY · 2026-04-22</a:t>
                </a:r>
              </a:p>
            </p:txBody>
          </p:sp>
        </p:grpSp>
      </p:grpSp>
      <p:grpSp>
        <p:nvGrpSpPr>
          <p:cNvPr id="148" name="Group 148"/>
          <p:cNvGrpSpPr/>
          <p:nvPr/>
        </p:nvGrpSpPr>
        <p:grpSpPr>
          <a:xfrm>
            <a:off x="901065" y="8173402"/>
            <a:ext cx="12217432" cy="570548"/>
            <a:chOff x="901065" y="8173402"/>
            <a:chExt cx="12217432" cy="570548"/>
          </a:xfrm>
        </p:grpSpPr>
        <p:sp>
          <p:nvSpPr>
            <p:cNvPr id="131" name="TextBox 131"/>
            <p:cNvSpPr txBox="1"/>
            <p:nvPr/>
          </p:nvSpPr>
          <p:spPr>
            <a:xfrm>
              <a:off x="901065" y="8173402"/>
              <a:ext cx="34871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A1A1A"/>
                  </a:solidFill>
                  <a:latin typeface="Segoe UI"/>
                  <a:ea typeface="Microsoft YaHei"/>
                  <a:cs typeface="Segoe UI"/>
                </a:rPr>
                <a:t>图例</a:t>
              </a:r>
            </a:p>
          </p:txBody>
        </p:sp>
        <p:sp>
          <p:nvSpPr>
            <p:cNvPr id="132" name="Line 132"/>
            <p:cNvSpPr/>
            <p:nvPr/>
          </p:nvSpPr>
          <p:spPr>
            <a:xfrm>
              <a:off x="914400" y="838200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9525">
              <a:solidFill>
                <a:srgbClr val="1A1A1A"/>
              </a:solidFill>
            </a:ln>
          </p:spPr>
        </p:sp>
        <p:grpSp>
          <p:nvGrpSpPr>
            <p:cNvPr id="147" name="Group 147"/>
            <p:cNvGrpSpPr/>
            <p:nvPr/>
          </p:nvGrpSpPr>
          <p:grpSpPr>
            <a:xfrm>
              <a:off x="914400" y="8553450"/>
              <a:ext cx="12204097" cy="190500"/>
              <a:chOff x="914400" y="8553450"/>
              <a:chExt cx="12204097" cy="190500"/>
            </a:xfrm>
          </p:grpSpPr>
          <p:sp>
            <p:nvSpPr>
              <p:cNvPr id="133" name="Rectangle 133"/>
              <p:cNvSpPr/>
              <p:nvPr/>
            </p:nvSpPr>
            <p:spPr>
              <a:xfrm>
                <a:off x="914400" y="8553450"/>
                <a:ext cx="381000" cy="133350"/>
              </a:xfrm>
              <a:prstGeom prst="rect">
                <a:avLst/>
              </a:prstGeom>
              <a:solidFill>
                <a:srgbClr val="1A1A1A"/>
              </a:solidFill>
              <a:ln>
                <a:noFill/>
              </a:ln>
            </p:spPr>
          </p:sp>
          <p:sp>
            <p:nvSpPr>
              <p:cNvPr id="134" name="TextBox 134"/>
              <p:cNvSpPr txBox="1"/>
              <p:nvPr/>
            </p:nvSpPr>
            <p:spPr>
              <a:xfrm>
                <a:off x="1379220" y="8561070"/>
                <a:ext cx="41719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333333"/>
                    </a:solidFill>
                    <a:latin typeface="Segoe UI"/>
                    <a:ea typeface="Microsoft YaHei"/>
                    <a:cs typeface="Segoe UI"/>
                  </a:rPr>
                  <a:t>已完成</a:t>
                </a:r>
              </a:p>
            </p:txBody>
          </p:sp>
          <p:sp>
            <p:nvSpPr>
              <p:cNvPr id="135" name="Rectangle 135"/>
              <p:cNvSpPr/>
              <p:nvPr/>
            </p:nvSpPr>
            <p:spPr>
              <a:xfrm>
                <a:off x="2247900" y="8553450"/>
                <a:ext cx="381000" cy="133350"/>
              </a:xfrm>
              <a:prstGeom prst="rect">
                <a:avLst/>
              </a:prstGeom>
              <a:solidFill>
                <a:srgbClr val="1677FF"/>
              </a:solidFill>
              <a:ln>
                <a:noFill/>
              </a:ln>
            </p:spPr>
          </p:sp>
          <p:sp>
            <p:nvSpPr>
              <p:cNvPr id="136" name="TextBox 136"/>
              <p:cNvSpPr txBox="1"/>
              <p:nvPr/>
            </p:nvSpPr>
            <p:spPr>
              <a:xfrm>
                <a:off x="2712720" y="8561070"/>
                <a:ext cx="82467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333333"/>
                    </a:solidFill>
                    <a:latin typeface="Segoe UI"/>
                    <a:ea typeface="Microsoft YaHei"/>
                    <a:cs typeface="Segoe UI"/>
                  </a:rPr>
                  <a:t>进行中(核心)</a:t>
                </a:r>
              </a:p>
            </p:txBody>
          </p:sp>
          <p:sp>
            <p:nvSpPr>
              <p:cNvPr id="137" name="Rectangle 137"/>
              <p:cNvSpPr/>
              <p:nvPr/>
            </p:nvSpPr>
            <p:spPr>
              <a:xfrm>
                <a:off x="4152900" y="8553450"/>
                <a:ext cx="381000" cy="133350"/>
              </a:xfrm>
              <a:prstGeom prst="rect">
                <a:avLst/>
              </a:prstGeom>
              <a:solidFill>
                <a:srgbClr val="555555"/>
              </a:solidFill>
              <a:ln>
                <a:noFill/>
              </a:ln>
            </p:spPr>
          </p:sp>
          <p:sp>
            <p:nvSpPr>
              <p:cNvPr id="138" name="TextBox 138"/>
              <p:cNvSpPr txBox="1"/>
              <p:nvPr/>
            </p:nvSpPr>
            <p:spPr>
              <a:xfrm>
                <a:off x="4617720" y="8561070"/>
                <a:ext cx="41719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333333"/>
                    </a:solidFill>
                    <a:latin typeface="Segoe UI"/>
                    <a:ea typeface="Microsoft YaHei"/>
                    <a:cs typeface="Segoe UI"/>
                  </a:rPr>
                  <a:t>计划中</a:t>
                </a:r>
              </a:p>
            </p:txBody>
          </p:sp>
          <p:sp>
            <p:nvSpPr>
              <p:cNvPr id="139" name="Rectangle 139"/>
              <p:cNvSpPr/>
              <p:nvPr/>
            </p:nvSpPr>
            <p:spPr>
              <a:xfrm>
                <a:off x="5486400" y="8553450"/>
                <a:ext cx="381000" cy="133350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555555"/>
                </a:solidFill>
                <a:custDash>
                  <a:ds d="300000" sp="200000"/>
                </a:custDash>
              </a:ln>
            </p:spPr>
          </p:sp>
          <p:sp>
            <p:nvSpPr>
              <p:cNvPr id="140" name="TextBox 140"/>
              <p:cNvSpPr txBox="1"/>
              <p:nvPr/>
            </p:nvSpPr>
            <p:spPr>
              <a:xfrm>
                <a:off x="5951220" y="8561070"/>
                <a:ext cx="68008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333333"/>
                    </a:solidFill>
                    <a:latin typeface="Segoe UI"/>
                    <a:ea typeface="Microsoft YaHei"/>
                    <a:cs typeface="Segoe UI"/>
                  </a:rPr>
                  <a:t>支撑工作流</a:t>
                </a:r>
              </a:p>
            </p:txBody>
          </p:sp>
          <p:sp>
            <p:nvSpPr>
              <p:cNvPr id="141" name="Polygon 141"/>
              <p:cNvSpPr/>
              <p:nvPr/>
            </p:nvSpPr>
            <p:spPr>
              <a:xfrm>
                <a:off x="7486650" y="8553450"/>
                <a:ext cx="19050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33350">
                    <a:moveTo>
                      <a:pt x="95250" y="0"/>
                    </a:moveTo>
                    <a:lnTo>
                      <a:pt x="190500" y="66675"/>
                    </a:lnTo>
                    <a:lnTo>
                      <a:pt x="95250" y="133350"/>
                    </a:lnTo>
                    <a:lnTo>
                      <a:pt x="0" y="66675"/>
                    </a:lnTo>
                    <a:close/>
                  </a:path>
                </a:pathLst>
              </a:custGeom>
              <a:solidFill>
                <a:srgbClr val="1677FF"/>
              </a:solidFill>
              <a:ln>
                <a:noFill/>
              </a:ln>
            </p:spPr>
          </p:sp>
          <p:sp>
            <p:nvSpPr>
              <p:cNvPr id="142" name="TextBox 142"/>
              <p:cNvSpPr txBox="1"/>
              <p:nvPr/>
            </p:nvSpPr>
            <p:spPr>
              <a:xfrm>
                <a:off x="7760970" y="8561070"/>
                <a:ext cx="1278160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333333"/>
                    </a:solidFill>
                    <a:latin typeface="Segoe UI"/>
                    <a:ea typeface="Microsoft YaHei"/>
                    <a:cs typeface="Segoe UI"/>
                  </a:rPr>
                  <a:t>里程碑 · P0 不可延期</a:t>
                </a:r>
              </a:p>
            </p:txBody>
          </p:sp>
          <p:sp>
            <p:nvSpPr>
              <p:cNvPr id="143" name="Polygon 143"/>
              <p:cNvSpPr/>
              <p:nvPr/>
            </p:nvSpPr>
            <p:spPr>
              <a:xfrm>
                <a:off x="9582150" y="8553450"/>
                <a:ext cx="19050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33350">
                    <a:moveTo>
                      <a:pt x="95250" y="0"/>
                    </a:moveTo>
                    <a:lnTo>
                      <a:pt x="190500" y="66675"/>
                    </a:lnTo>
                    <a:lnTo>
                      <a:pt x="95250" y="133350"/>
                    </a:lnTo>
                    <a:lnTo>
                      <a:pt x="0" y="66675"/>
                    </a:lnTo>
                    <a:close/>
                  </a:path>
                </a:pathLst>
              </a:custGeom>
              <a:solidFill>
                <a:srgbClr val="1A1A1A"/>
              </a:solidFill>
              <a:ln>
                <a:noFill/>
              </a:ln>
            </p:spPr>
          </p:sp>
          <p:sp>
            <p:nvSpPr>
              <p:cNvPr id="144" name="TextBox 144"/>
              <p:cNvSpPr txBox="1"/>
              <p:nvPr/>
            </p:nvSpPr>
            <p:spPr>
              <a:xfrm>
                <a:off x="9856470" y="8561070"/>
                <a:ext cx="83124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333333"/>
                    </a:solidFill>
                    <a:latin typeface="Segoe UI"/>
                    <a:ea typeface="Microsoft YaHei"/>
                    <a:cs typeface="Segoe UI"/>
                  </a:rPr>
                  <a:t>里程碑 · 常规</a:t>
                </a:r>
              </a:p>
            </p:txBody>
          </p:sp>
          <p:sp>
            <p:nvSpPr>
              <p:cNvPr id="145" name="Polygon 145"/>
              <p:cNvSpPr/>
              <p:nvPr/>
            </p:nvSpPr>
            <p:spPr>
              <a:xfrm>
                <a:off x="11487150" y="8553450"/>
                <a:ext cx="190500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33350">
                    <a:moveTo>
                      <a:pt x="95250" y="0"/>
                    </a:moveTo>
                    <a:lnTo>
                      <a:pt x="190500" y="66675"/>
                    </a:lnTo>
                    <a:lnTo>
                      <a:pt x="95250" y="133350"/>
                    </a:lnTo>
                    <a:lnTo>
                      <a:pt x="0" y="66675"/>
                    </a:lnTo>
                    <a:close/>
                  </a:path>
                </a:pathLst>
              </a:custGeom>
              <a:solidFill>
                <a:srgbClr val="9C2B2B"/>
              </a:solidFill>
              <a:ln>
                <a:noFill/>
              </a:ln>
            </p:spPr>
          </p:sp>
          <p:sp>
            <p:nvSpPr>
              <p:cNvPr id="146" name="TextBox 146"/>
              <p:cNvSpPr txBox="1"/>
              <p:nvPr/>
            </p:nvSpPr>
            <p:spPr>
              <a:xfrm>
                <a:off x="11761470" y="8561070"/>
                <a:ext cx="1357027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333333"/>
                    </a:solidFill>
                    <a:latin typeface="Segoe UI"/>
                    <a:ea typeface="Microsoft YaHei"/>
                    <a:cs typeface="Segoe UI"/>
                  </a:rPr>
                  <a:t>紧急修复 / 高风险节点</a:t>
                </a:r>
              </a:p>
            </p:txBody>
          </p:sp>
        </p:grpSp>
      </p:grpSp>
      <p:sp>
        <p:nvSpPr>
          <p:cNvPr id="149" name="Line 149"/>
          <p:cNvSpPr/>
          <p:nvPr/>
        </p:nvSpPr>
        <p:spPr>
          <a:xfrm>
            <a:off x="914400" y="9525000"/>
            <a:ext cx="16459200" cy="9525"/>
          </a:xfrm>
          <a:custGeom>
            <a:avLst/>
            <a:gdLst/>
            <a:ahLst/>
            <a:cxnLst/>
            <a:rect l="l" t="t" r="r" b="b"/>
            <a:pathLst>
              <a:path w="16459200" h="9525">
                <a:moveTo>
                  <a:pt x="0" y="0"/>
                </a:moveTo>
                <a:lnTo>
                  <a:pt x="16459200" y="0"/>
                </a:lnTo>
              </a:path>
            </a:pathLst>
          </a:custGeom>
          <a:noFill/>
          <a:ln w="9525">
            <a:solidFill>
              <a:srgbClr val="E2E2E2"/>
            </a:solidFill>
          </a:ln>
        </p:spPr>
      </p:sp>
      <p:sp>
        <p:nvSpPr>
          <p:cNvPr id="150" name="TextBox 150"/>
          <p:cNvSpPr txBox="1"/>
          <p:nvPr/>
        </p:nvSpPr>
        <p:spPr>
          <a:xfrm>
            <a:off x="901065" y="9602152"/>
            <a:ext cx="3124390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AHAM · Internal Evaluation · CONFIDENTIAL</a:t>
            </a:r>
          </a:p>
        </p:txBody>
      </p:sp>
      <p:sp>
        <p:nvSpPr>
          <p:cNvPr id="151" name="TextBox 151"/>
          <p:cNvSpPr txBox="1"/>
          <p:nvPr/>
        </p:nvSpPr>
        <p:spPr>
          <a:xfrm>
            <a:off x="16923210" y="9602152"/>
            <a:ext cx="463725" cy="213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1050" dirty="0">
                <a:solidFill>
                  <a:srgbClr val="888888"/>
                </a:solidFill>
                <a:latin typeface="Segoe UI"/>
                <a:ea typeface="Microsoft YaHei"/>
                <a:cs typeface="Segoe U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